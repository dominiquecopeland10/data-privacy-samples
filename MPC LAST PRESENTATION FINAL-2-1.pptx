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Noto Serif Display ExtraCondensed Bold" charset="1" panose="02020806080505020204"/>
      <p:regular r:id="rId31"/>
    </p:embeddedFont>
    <p:embeddedFont>
      <p:font typeface="Open Sans" charset="1" panose="00000000000000000000"/>
      <p:regular r:id="rId32"/>
    </p:embeddedFont>
    <p:embeddedFont>
      <p:font typeface="Noto Serif Display ExtraCondensed" charset="1" panose="02020506080505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0451"/>
            <a:chOff x="0" y="0"/>
            <a:chExt cx="1712952" cy="802754"/>
          </a:xfrm>
        </p:grpSpPr>
        <p:sp>
          <p:nvSpPr>
            <p:cNvPr name="Freeform 3" id="3"/>
            <p:cNvSpPr/>
            <p:nvPr/>
          </p:nvSpPr>
          <p:spPr>
            <a:xfrm flipH="false" flipV="false" rot="0">
              <a:off x="0" y="0"/>
              <a:ext cx="1712952" cy="802754"/>
            </a:xfrm>
            <a:custGeom>
              <a:avLst/>
              <a:gdLst/>
              <a:ahLst/>
              <a:cxnLst/>
              <a:rect r="r" b="b" t="t" l="l"/>
              <a:pathLst>
                <a:path h="802754" w="1712952">
                  <a:moveTo>
                    <a:pt x="0" y="0"/>
                  </a:moveTo>
                  <a:lnTo>
                    <a:pt x="1712952" y="0"/>
                  </a:lnTo>
                  <a:lnTo>
                    <a:pt x="1712952" y="802754"/>
                  </a:lnTo>
                  <a:lnTo>
                    <a:pt x="0" y="802754"/>
                  </a:lnTo>
                  <a:close/>
                </a:path>
              </a:pathLst>
            </a:custGeom>
            <a:blipFill>
              <a:blip r:embed="rId2"/>
              <a:stretch>
                <a:fillRect l="0" t="-110138" r="0" b="-110138"/>
              </a:stretch>
            </a:blipFill>
          </p:spPr>
        </p:sp>
      </p:grpSp>
      <p:grpSp>
        <p:nvGrpSpPr>
          <p:cNvPr name="Group 4" id="4"/>
          <p:cNvGrpSpPr/>
          <p:nvPr/>
        </p:nvGrpSpPr>
        <p:grpSpPr>
          <a:xfrm rot="0">
            <a:off x="0" y="0"/>
            <a:ext cx="13799004" cy="8570451"/>
            <a:chOff x="0" y="0"/>
            <a:chExt cx="3634306" cy="2257238"/>
          </a:xfrm>
        </p:grpSpPr>
        <p:sp>
          <p:nvSpPr>
            <p:cNvPr name="Freeform 5" id="5"/>
            <p:cNvSpPr/>
            <p:nvPr/>
          </p:nvSpPr>
          <p:spPr>
            <a:xfrm flipH="false" flipV="false" rot="0">
              <a:off x="0" y="0"/>
              <a:ext cx="3634306" cy="2257238"/>
            </a:xfrm>
            <a:custGeom>
              <a:avLst/>
              <a:gdLst/>
              <a:ahLst/>
              <a:cxnLst/>
              <a:rect r="r" b="b" t="t" l="l"/>
              <a:pathLst>
                <a:path h="2257238" w="3634306">
                  <a:moveTo>
                    <a:pt x="0" y="0"/>
                  </a:moveTo>
                  <a:lnTo>
                    <a:pt x="3634306" y="0"/>
                  </a:lnTo>
                  <a:lnTo>
                    <a:pt x="3634306" y="2257238"/>
                  </a:lnTo>
                  <a:lnTo>
                    <a:pt x="0" y="2257238"/>
                  </a:lnTo>
                  <a:close/>
                </a:path>
              </a:pathLst>
            </a:custGeom>
            <a:gradFill rotWithShape="true">
              <a:gsLst>
                <a:gs pos="0">
                  <a:srgbClr val="140303">
                    <a:alpha val="100000"/>
                  </a:srgbClr>
                </a:gs>
                <a:gs pos="100000">
                  <a:srgbClr val="140606">
                    <a:alpha val="0"/>
                  </a:srgbClr>
                </a:gs>
              </a:gsLst>
              <a:lin ang="0"/>
            </a:gradFill>
          </p:spPr>
        </p:sp>
        <p:sp>
          <p:nvSpPr>
            <p:cNvPr name="TextBox 6" id="6"/>
            <p:cNvSpPr txBox="true"/>
            <p:nvPr/>
          </p:nvSpPr>
          <p:spPr>
            <a:xfrm>
              <a:off x="0" y="-104775"/>
              <a:ext cx="3634306" cy="2362013"/>
            </a:xfrm>
            <a:prstGeom prst="rect">
              <a:avLst/>
            </a:prstGeom>
          </p:spPr>
          <p:txBody>
            <a:bodyPr anchor="ctr" rtlCol="false" tIns="50800" lIns="50800" bIns="50800" rIns="50800"/>
            <a:lstStyle/>
            <a:p>
              <a:pPr algn="ctr">
                <a:lnSpc>
                  <a:spcPts val="3726"/>
                </a:lnSpc>
              </a:pPr>
            </a:p>
          </p:txBody>
        </p:sp>
      </p:grpSp>
      <p:sp>
        <p:nvSpPr>
          <p:cNvPr name="TextBox 7" id="7"/>
          <p:cNvSpPr txBox="true"/>
          <p:nvPr/>
        </p:nvSpPr>
        <p:spPr>
          <a:xfrm rot="0">
            <a:off x="1028700" y="1268976"/>
            <a:ext cx="9948078" cy="6394449"/>
          </a:xfrm>
          <a:prstGeom prst="rect">
            <a:avLst/>
          </a:prstGeom>
        </p:spPr>
        <p:txBody>
          <a:bodyPr anchor="t" rtlCol="false" tIns="0" lIns="0" bIns="0" rIns="0">
            <a:spAutoFit/>
          </a:bodyPr>
          <a:lstStyle/>
          <a:p>
            <a:pPr algn="l" marL="0" indent="0" lvl="0">
              <a:lnSpc>
                <a:spcPts val="8299"/>
              </a:lnSpc>
            </a:pPr>
            <a:r>
              <a:rPr lang="en-US" b="true" sz="9999">
                <a:solidFill>
                  <a:srgbClr val="C4A679"/>
                </a:solidFill>
                <a:latin typeface="Noto Serif Display ExtraCondensed Bold"/>
                <a:ea typeface="Noto Serif Display ExtraCondensed Bold"/>
                <a:cs typeface="Noto Serif Display ExtraCondensed Bold"/>
                <a:sym typeface="Noto Serif Display ExtraCondensed Bold"/>
              </a:rPr>
              <a:t>PRIVACY AND REGULATORY CONCERNS OF RECORD DIGITALIZATION FOR HR ENTITIES</a:t>
            </a:r>
          </a:p>
        </p:txBody>
      </p:sp>
      <p:sp>
        <p:nvSpPr>
          <p:cNvPr name="TextBox 8" id="8"/>
          <p:cNvSpPr txBox="true"/>
          <p:nvPr/>
        </p:nvSpPr>
        <p:spPr>
          <a:xfrm rot="0">
            <a:off x="1028700" y="7764854"/>
            <a:ext cx="12770304" cy="470955"/>
          </a:xfrm>
          <a:prstGeom prst="rect">
            <a:avLst/>
          </a:prstGeom>
        </p:spPr>
        <p:txBody>
          <a:bodyPr anchor="t" rtlCol="false" tIns="0" lIns="0" bIns="0" rIns="0">
            <a:spAutoFit/>
          </a:bodyPr>
          <a:lstStyle/>
          <a:p>
            <a:pPr algn="l">
              <a:lnSpc>
                <a:spcPts val="4086"/>
              </a:lnSpc>
            </a:pPr>
            <a:r>
              <a:rPr lang="en-US" sz="2403" spc="838">
                <a:solidFill>
                  <a:srgbClr val="FFFFFF"/>
                </a:solidFill>
                <a:latin typeface="Open Sans"/>
                <a:ea typeface="Open Sans"/>
                <a:cs typeface="Open Sans"/>
                <a:sym typeface="Open Sans"/>
              </a:rPr>
              <a:t>BY: DOMINIQUE COPELAND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640952" y="280416"/>
            <a:ext cx="9348372" cy="9726169"/>
            <a:chOff x="0" y="0"/>
            <a:chExt cx="2462123" cy="2561625"/>
          </a:xfrm>
        </p:grpSpPr>
        <p:sp>
          <p:nvSpPr>
            <p:cNvPr name="Freeform 3" id="3"/>
            <p:cNvSpPr/>
            <p:nvPr/>
          </p:nvSpPr>
          <p:spPr>
            <a:xfrm flipH="false" flipV="false" rot="0">
              <a:off x="0" y="0"/>
              <a:ext cx="2462123" cy="2561625"/>
            </a:xfrm>
            <a:custGeom>
              <a:avLst/>
              <a:gdLst/>
              <a:ahLst/>
              <a:cxnLst/>
              <a:rect r="r" b="b" t="t" l="l"/>
              <a:pathLst>
                <a:path h="2561625" w="2462123">
                  <a:moveTo>
                    <a:pt x="24845" y="0"/>
                  </a:moveTo>
                  <a:lnTo>
                    <a:pt x="2437278" y="0"/>
                  </a:lnTo>
                  <a:cubicBezTo>
                    <a:pt x="2443867" y="0"/>
                    <a:pt x="2450187" y="2618"/>
                    <a:pt x="2454846" y="7277"/>
                  </a:cubicBezTo>
                  <a:cubicBezTo>
                    <a:pt x="2459505" y="11936"/>
                    <a:pt x="2462123" y="18255"/>
                    <a:pt x="2462123" y="24845"/>
                  </a:cubicBezTo>
                  <a:lnTo>
                    <a:pt x="2462123" y="2536780"/>
                  </a:lnTo>
                  <a:cubicBezTo>
                    <a:pt x="2462123" y="2543369"/>
                    <a:pt x="2459505" y="2549689"/>
                    <a:pt x="2454846" y="2554348"/>
                  </a:cubicBezTo>
                  <a:cubicBezTo>
                    <a:pt x="2450187" y="2559007"/>
                    <a:pt x="2443867" y="2561625"/>
                    <a:pt x="2437278" y="2561625"/>
                  </a:cubicBezTo>
                  <a:lnTo>
                    <a:pt x="24845" y="2561625"/>
                  </a:lnTo>
                  <a:cubicBezTo>
                    <a:pt x="18255" y="2561625"/>
                    <a:pt x="11936" y="2559007"/>
                    <a:pt x="7277" y="2554348"/>
                  </a:cubicBezTo>
                  <a:cubicBezTo>
                    <a:pt x="2618" y="2549689"/>
                    <a:pt x="0" y="2543369"/>
                    <a:pt x="0" y="2536780"/>
                  </a:cubicBezTo>
                  <a:lnTo>
                    <a:pt x="0" y="24845"/>
                  </a:lnTo>
                  <a:cubicBezTo>
                    <a:pt x="0" y="18255"/>
                    <a:pt x="2618" y="11936"/>
                    <a:pt x="7277" y="7277"/>
                  </a:cubicBezTo>
                  <a:cubicBezTo>
                    <a:pt x="11936" y="2618"/>
                    <a:pt x="18255" y="0"/>
                    <a:pt x="24845" y="0"/>
                  </a:cubicBezTo>
                  <a:close/>
                </a:path>
              </a:pathLst>
            </a:custGeom>
            <a:solidFill>
              <a:srgbClr val="220F0F"/>
            </a:solidFill>
            <a:ln w="38100" cap="rnd">
              <a:solidFill>
                <a:srgbClr val="39270C"/>
              </a:solidFill>
              <a:prstDash val="solid"/>
              <a:round/>
            </a:ln>
          </p:spPr>
        </p:sp>
        <p:sp>
          <p:nvSpPr>
            <p:cNvPr name="TextBox 4" id="4"/>
            <p:cNvSpPr txBox="true"/>
            <p:nvPr/>
          </p:nvSpPr>
          <p:spPr>
            <a:xfrm>
              <a:off x="0" y="-114300"/>
              <a:ext cx="2462123" cy="2675925"/>
            </a:xfrm>
            <a:prstGeom prst="rect">
              <a:avLst/>
            </a:prstGeom>
          </p:spPr>
          <p:txBody>
            <a:bodyPr anchor="ctr" rtlCol="false" tIns="50800" lIns="50800" bIns="50800" rIns="50800"/>
            <a:lstStyle/>
            <a:p>
              <a:pPr algn="ctr">
                <a:lnSpc>
                  <a:spcPts val="3910"/>
                </a:lnSpc>
              </a:pPr>
            </a:p>
          </p:txBody>
        </p:sp>
      </p:grpSp>
      <p:grpSp>
        <p:nvGrpSpPr>
          <p:cNvPr name="Group 5" id="5"/>
          <p:cNvGrpSpPr/>
          <p:nvPr/>
        </p:nvGrpSpPr>
        <p:grpSpPr>
          <a:xfrm rot="0">
            <a:off x="9922532" y="3981292"/>
            <a:ext cx="178167" cy="178167"/>
            <a:chOff x="0" y="0"/>
            <a:chExt cx="46925" cy="46925"/>
          </a:xfrm>
        </p:grpSpPr>
        <p:sp>
          <p:nvSpPr>
            <p:cNvPr name="Freeform 6" id="6"/>
            <p:cNvSpPr/>
            <p:nvPr/>
          </p:nvSpPr>
          <p:spPr>
            <a:xfrm flipH="false" flipV="false" rot="0">
              <a:off x="0" y="0"/>
              <a:ext cx="46925" cy="46925"/>
            </a:xfrm>
            <a:custGeom>
              <a:avLst/>
              <a:gdLst/>
              <a:ahLst/>
              <a:cxnLst/>
              <a:rect r="r" b="b" t="t" l="l"/>
              <a:pathLst>
                <a:path h="46925" w="46925">
                  <a:moveTo>
                    <a:pt x="0" y="0"/>
                  </a:moveTo>
                  <a:lnTo>
                    <a:pt x="46925" y="0"/>
                  </a:lnTo>
                  <a:lnTo>
                    <a:pt x="46925" y="46925"/>
                  </a:lnTo>
                  <a:lnTo>
                    <a:pt x="0" y="46925"/>
                  </a:lnTo>
                  <a:close/>
                </a:path>
              </a:pathLst>
            </a:custGeom>
            <a:solidFill>
              <a:srgbClr val="FFE6BE"/>
            </a:solidFill>
          </p:spPr>
        </p:sp>
        <p:sp>
          <p:nvSpPr>
            <p:cNvPr name="TextBox 7" id="7"/>
            <p:cNvSpPr txBox="true"/>
            <p:nvPr/>
          </p:nvSpPr>
          <p:spPr>
            <a:xfrm>
              <a:off x="0" y="-114300"/>
              <a:ext cx="46925" cy="161225"/>
            </a:xfrm>
            <a:prstGeom prst="rect">
              <a:avLst/>
            </a:prstGeom>
          </p:spPr>
          <p:txBody>
            <a:bodyPr anchor="ctr" rtlCol="false" tIns="50800" lIns="50800" bIns="50800" rIns="50800"/>
            <a:lstStyle/>
            <a:p>
              <a:pPr algn="ctr">
                <a:lnSpc>
                  <a:spcPts val="3910"/>
                </a:lnSpc>
              </a:pPr>
            </a:p>
          </p:txBody>
        </p:sp>
      </p:grpSp>
      <p:grpSp>
        <p:nvGrpSpPr>
          <p:cNvPr name="Group 8" id="8"/>
          <p:cNvGrpSpPr/>
          <p:nvPr/>
        </p:nvGrpSpPr>
        <p:grpSpPr>
          <a:xfrm rot="0">
            <a:off x="177546" y="297454"/>
            <a:ext cx="8332466" cy="9769495"/>
            <a:chOff x="0" y="0"/>
            <a:chExt cx="458385" cy="537439"/>
          </a:xfrm>
        </p:grpSpPr>
        <p:sp>
          <p:nvSpPr>
            <p:cNvPr name="Freeform 9" id="9"/>
            <p:cNvSpPr/>
            <p:nvPr/>
          </p:nvSpPr>
          <p:spPr>
            <a:xfrm flipH="false" flipV="false" rot="0">
              <a:off x="0" y="0"/>
              <a:ext cx="458385" cy="537439"/>
            </a:xfrm>
            <a:custGeom>
              <a:avLst/>
              <a:gdLst/>
              <a:ahLst/>
              <a:cxnLst/>
              <a:rect r="r" b="b" t="t" l="l"/>
              <a:pathLst>
                <a:path h="537439" w="458385">
                  <a:moveTo>
                    <a:pt x="27874" y="0"/>
                  </a:moveTo>
                  <a:lnTo>
                    <a:pt x="430511" y="0"/>
                  </a:lnTo>
                  <a:cubicBezTo>
                    <a:pt x="445905" y="0"/>
                    <a:pt x="458385" y="12480"/>
                    <a:pt x="458385" y="27874"/>
                  </a:cubicBezTo>
                  <a:lnTo>
                    <a:pt x="458385" y="509565"/>
                  </a:lnTo>
                  <a:cubicBezTo>
                    <a:pt x="458385" y="524959"/>
                    <a:pt x="445905" y="537439"/>
                    <a:pt x="430511" y="537439"/>
                  </a:cubicBezTo>
                  <a:lnTo>
                    <a:pt x="27874" y="537439"/>
                  </a:lnTo>
                  <a:cubicBezTo>
                    <a:pt x="12480" y="537439"/>
                    <a:pt x="0" y="524959"/>
                    <a:pt x="0" y="509565"/>
                  </a:cubicBezTo>
                  <a:lnTo>
                    <a:pt x="0" y="27874"/>
                  </a:lnTo>
                  <a:cubicBezTo>
                    <a:pt x="0" y="12480"/>
                    <a:pt x="12480" y="0"/>
                    <a:pt x="27874" y="0"/>
                  </a:cubicBezTo>
                  <a:close/>
                </a:path>
              </a:pathLst>
            </a:custGeom>
            <a:blipFill>
              <a:blip r:embed="rId2"/>
              <a:stretch>
                <a:fillRect l="-55968" t="0" r="-19681" b="0"/>
              </a:stretch>
            </a:blipFill>
            <a:ln w="38100" cap="rnd">
              <a:solidFill>
                <a:srgbClr val="39270C"/>
              </a:solidFill>
              <a:prstDash val="solid"/>
              <a:round/>
            </a:ln>
          </p:spPr>
        </p:sp>
      </p:grpSp>
      <p:sp>
        <p:nvSpPr>
          <p:cNvPr name="TextBox 10" id="10"/>
          <p:cNvSpPr txBox="true"/>
          <p:nvPr/>
        </p:nvSpPr>
        <p:spPr>
          <a:xfrm rot="0">
            <a:off x="10460024" y="487954"/>
            <a:ext cx="4648963" cy="3036291"/>
          </a:xfrm>
          <a:prstGeom prst="rect">
            <a:avLst/>
          </a:prstGeom>
        </p:spPr>
        <p:txBody>
          <a:bodyPr anchor="t" rtlCol="false" tIns="0" lIns="0" bIns="0" rIns="0">
            <a:spAutoFit/>
          </a:bodyPr>
          <a:lstStyle/>
          <a:p>
            <a:pPr algn="l" marL="0" indent="0" lvl="0">
              <a:lnSpc>
                <a:spcPts val="7898"/>
              </a:lnSpc>
              <a:spcBef>
                <a:spcPct val="0"/>
              </a:spcBef>
            </a:pPr>
            <a:r>
              <a:rPr lang="en-US" sz="8227">
                <a:solidFill>
                  <a:srgbClr val="C4A679"/>
                </a:solidFill>
                <a:latin typeface="Noto Serif Display ExtraCondensed"/>
                <a:ea typeface="Noto Serif Display ExtraCondensed"/>
                <a:cs typeface="Noto Serif Display ExtraCondensed"/>
                <a:sym typeface="Noto Serif Display ExtraCondensed"/>
              </a:rPr>
              <a:t>General</a:t>
            </a:r>
            <a:r>
              <a:rPr lang="en-US" sz="8227">
                <a:solidFill>
                  <a:srgbClr val="C4A679"/>
                </a:solidFill>
                <a:latin typeface="Noto Serif Display ExtraCondensed"/>
                <a:ea typeface="Noto Serif Display ExtraCondensed"/>
                <a:cs typeface="Noto Serif Display ExtraCondensed"/>
                <a:sym typeface="Noto Serif Display ExtraCondensed"/>
              </a:rPr>
              <a:t> Privacy Concerns </a:t>
            </a:r>
          </a:p>
        </p:txBody>
      </p:sp>
      <p:sp>
        <p:nvSpPr>
          <p:cNvPr name="TextBox 11" id="11"/>
          <p:cNvSpPr txBox="true"/>
          <p:nvPr/>
        </p:nvSpPr>
        <p:spPr>
          <a:xfrm rot="0">
            <a:off x="9920778" y="4245577"/>
            <a:ext cx="7338522" cy="3838575"/>
          </a:xfrm>
          <a:prstGeom prst="rect">
            <a:avLst/>
          </a:prstGeom>
        </p:spPr>
        <p:txBody>
          <a:bodyPr anchor="t" rtlCol="false" tIns="0" lIns="0" bIns="0" rIns="0">
            <a:spAutoFit/>
          </a:bodyPr>
          <a:lstStyle/>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There is not a centralized law that addresses privacy in the workplace. </a:t>
            </a:r>
          </a:p>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Record digitalization must comply with the Age Discrimination in Employment Act, the Equal Pay Act, ADA, ERISA, FCRA, and FMLA.</a:t>
            </a:r>
          </a:p>
        </p:txBody>
      </p:sp>
      <p:sp>
        <p:nvSpPr>
          <p:cNvPr name="TextBox 12" id="12"/>
          <p:cNvSpPr txBox="true"/>
          <p:nvPr/>
        </p:nvSpPr>
        <p:spPr>
          <a:xfrm rot="0">
            <a:off x="10460024" y="3801839"/>
            <a:ext cx="5017714" cy="432297"/>
          </a:xfrm>
          <a:prstGeom prst="rect">
            <a:avLst/>
          </a:prstGeom>
        </p:spPr>
        <p:txBody>
          <a:bodyPr anchor="t" rtlCol="false" tIns="0" lIns="0" bIns="0" rIns="0">
            <a:spAutoFit/>
          </a:bodyPr>
          <a:lstStyle/>
          <a:p>
            <a:pPr algn="l" marL="0" indent="0" lvl="0">
              <a:lnSpc>
                <a:spcPts val="3726"/>
              </a:lnSpc>
              <a:spcBef>
                <a:spcPct val="0"/>
              </a:spcBef>
            </a:pPr>
            <a:r>
              <a:rPr lang="en-US" sz="2192" spc="477">
                <a:solidFill>
                  <a:srgbClr val="FFFFFF"/>
                </a:solidFill>
                <a:latin typeface="Open Sans"/>
                <a:ea typeface="Open Sans"/>
                <a:cs typeface="Open Sans"/>
                <a:sym typeface="Open Sans"/>
              </a:rPr>
              <a:t>PROTECTING DATA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640952" y="280416"/>
            <a:ext cx="9348372" cy="9726169"/>
            <a:chOff x="0" y="0"/>
            <a:chExt cx="2462123" cy="2561625"/>
          </a:xfrm>
        </p:grpSpPr>
        <p:sp>
          <p:nvSpPr>
            <p:cNvPr name="Freeform 3" id="3"/>
            <p:cNvSpPr/>
            <p:nvPr/>
          </p:nvSpPr>
          <p:spPr>
            <a:xfrm flipH="false" flipV="false" rot="0">
              <a:off x="0" y="0"/>
              <a:ext cx="2462123" cy="2561625"/>
            </a:xfrm>
            <a:custGeom>
              <a:avLst/>
              <a:gdLst/>
              <a:ahLst/>
              <a:cxnLst/>
              <a:rect r="r" b="b" t="t" l="l"/>
              <a:pathLst>
                <a:path h="2561625" w="2462123">
                  <a:moveTo>
                    <a:pt x="24845" y="0"/>
                  </a:moveTo>
                  <a:lnTo>
                    <a:pt x="2437278" y="0"/>
                  </a:lnTo>
                  <a:cubicBezTo>
                    <a:pt x="2443867" y="0"/>
                    <a:pt x="2450187" y="2618"/>
                    <a:pt x="2454846" y="7277"/>
                  </a:cubicBezTo>
                  <a:cubicBezTo>
                    <a:pt x="2459505" y="11936"/>
                    <a:pt x="2462123" y="18255"/>
                    <a:pt x="2462123" y="24845"/>
                  </a:cubicBezTo>
                  <a:lnTo>
                    <a:pt x="2462123" y="2536780"/>
                  </a:lnTo>
                  <a:cubicBezTo>
                    <a:pt x="2462123" y="2543369"/>
                    <a:pt x="2459505" y="2549689"/>
                    <a:pt x="2454846" y="2554348"/>
                  </a:cubicBezTo>
                  <a:cubicBezTo>
                    <a:pt x="2450187" y="2559007"/>
                    <a:pt x="2443867" y="2561625"/>
                    <a:pt x="2437278" y="2561625"/>
                  </a:cubicBezTo>
                  <a:lnTo>
                    <a:pt x="24845" y="2561625"/>
                  </a:lnTo>
                  <a:cubicBezTo>
                    <a:pt x="18255" y="2561625"/>
                    <a:pt x="11936" y="2559007"/>
                    <a:pt x="7277" y="2554348"/>
                  </a:cubicBezTo>
                  <a:cubicBezTo>
                    <a:pt x="2618" y="2549689"/>
                    <a:pt x="0" y="2543369"/>
                    <a:pt x="0" y="2536780"/>
                  </a:cubicBezTo>
                  <a:lnTo>
                    <a:pt x="0" y="24845"/>
                  </a:lnTo>
                  <a:cubicBezTo>
                    <a:pt x="0" y="18255"/>
                    <a:pt x="2618" y="11936"/>
                    <a:pt x="7277" y="7277"/>
                  </a:cubicBezTo>
                  <a:cubicBezTo>
                    <a:pt x="11936" y="2618"/>
                    <a:pt x="18255" y="0"/>
                    <a:pt x="24845" y="0"/>
                  </a:cubicBezTo>
                  <a:close/>
                </a:path>
              </a:pathLst>
            </a:custGeom>
            <a:solidFill>
              <a:srgbClr val="220F0F"/>
            </a:solidFill>
            <a:ln w="38100" cap="rnd">
              <a:solidFill>
                <a:srgbClr val="39270C"/>
              </a:solidFill>
              <a:prstDash val="solid"/>
              <a:round/>
            </a:ln>
          </p:spPr>
        </p:sp>
        <p:sp>
          <p:nvSpPr>
            <p:cNvPr name="TextBox 4" id="4"/>
            <p:cNvSpPr txBox="true"/>
            <p:nvPr/>
          </p:nvSpPr>
          <p:spPr>
            <a:xfrm>
              <a:off x="0" y="-114300"/>
              <a:ext cx="2462123" cy="2675925"/>
            </a:xfrm>
            <a:prstGeom prst="rect">
              <a:avLst/>
            </a:prstGeom>
          </p:spPr>
          <p:txBody>
            <a:bodyPr anchor="ctr" rtlCol="false" tIns="50800" lIns="50800" bIns="50800" rIns="50800"/>
            <a:lstStyle/>
            <a:p>
              <a:pPr algn="ctr">
                <a:lnSpc>
                  <a:spcPts val="3910"/>
                </a:lnSpc>
              </a:pPr>
            </a:p>
          </p:txBody>
        </p:sp>
      </p:grpSp>
      <p:grpSp>
        <p:nvGrpSpPr>
          <p:cNvPr name="Group 5" id="5"/>
          <p:cNvGrpSpPr/>
          <p:nvPr/>
        </p:nvGrpSpPr>
        <p:grpSpPr>
          <a:xfrm rot="0">
            <a:off x="9922532" y="3981292"/>
            <a:ext cx="178167" cy="178167"/>
            <a:chOff x="0" y="0"/>
            <a:chExt cx="46925" cy="46925"/>
          </a:xfrm>
        </p:grpSpPr>
        <p:sp>
          <p:nvSpPr>
            <p:cNvPr name="Freeform 6" id="6"/>
            <p:cNvSpPr/>
            <p:nvPr/>
          </p:nvSpPr>
          <p:spPr>
            <a:xfrm flipH="false" flipV="false" rot="0">
              <a:off x="0" y="0"/>
              <a:ext cx="46925" cy="46925"/>
            </a:xfrm>
            <a:custGeom>
              <a:avLst/>
              <a:gdLst/>
              <a:ahLst/>
              <a:cxnLst/>
              <a:rect r="r" b="b" t="t" l="l"/>
              <a:pathLst>
                <a:path h="46925" w="46925">
                  <a:moveTo>
                    <a:pt x="0" y="0"/>
                  </a:moveTo>
                  <a:lnTo>
                    <a:pt x="46925" y="0"/>
                  </a:lnTo>
                  <a:lnTo>
                    <a:pt x="46925" y="46925"/>
                  </a:lnTo>
                  <a:lnTo>
                    <a:pt x="0" y="46925"/>
                  </a:lnTo>
                  <a:close/>
                </a:path>
              </a:pathLst>
            </a:custGeom>
            <a:solidFill>
              <a:srgbClr val="FFE6BE"/>
            </a:solidFill>
          </p:spPr>
        </p:sp>
        <p:sp>
          <p:nvSpPr>
            <p:cNvPr name="TextBox 7" id="7"/>
            <p:cNvSpPr txBox="true"/>
            <p:nvPr/>
          </p:nvSpPr>
          <p:spPr>
            <a:xfrm>
              <a:off x="0" y="-114300"/>
              <a:ext cx="46925" cy="161225"/>
            </a:xfrm>
            <a:prstGeom prst="rect">
              <a:avLst/>
            </a:prstGeom>
          </p:spPr>
          <p:txBody>
            <a:bodyPr anchor="ctr" rtlCol="false" tIns="50800" lIns="50800" bIns="50800" rIns="50800"/>
            <a:lstStyle/>
            <a:p>
              <a:pPr algn="ctr">
                <a:lnSpc>
                  <a:spcPts val="3910"/>
                </a:lnSpc>
              </a:pPr>
            </a:p>
          </p:txBody>
        </p:sp>
      </p:grpSp>
      <p:grpSp>
        <p:nvGrpSpPr>
          <p:cNvPr name="Group 8" id="8"/>
          <p:cNvGrpSpPr/>
          <p:nvPr/>
        </p:nvGrpSpPr>
        <p:grpSpPr>
          <a:xfrm rot="0">
            <a:off x="177546" y="297454"/>
            <a:ext cx="8332466" cy="9769495"/>
            <a:chOff x="0" y="0"/>
            <a:chExt cx="458385" cy="537439"/>
          </a:xfrm>
        </p:grpSpPr>
        <p:sp>
          <p:nvSpPr>
            <p:cNvPr name="Freeform 9" id="9"/>
            <p:cNvSpPr/>
            <p:nvPr/>
          </p:nvSpPr>
          <p:spPr>
            <a:xfrm flipH="false" flipV="false" rot="0">
              <a:off x="0" y="0"/>
              <a:ext cx="458385" cy="537439"/>
            </a:xfrm>
            <a:custGeom>
              <a:avLst/>
              <a:gdLst/>
              <a:ahLst/>
              <a:cxnLst/>
              <a:rect r="r" b="b" t="t" l="l"/>
              <a:pathLst>
                <a:path h="537439" w="458385">
                  <a:moveTo>
                    <a:pt x="27874" y="0"/>
                  </a:moveTo>
                  <a:lnTo>
                    <a:pt x="430511" y="0"/>
                  </a:lnTo>
                  <a:cubicBezTo>
                    <a:pt x="445905" y="0"/>
                    <a:pt x="458385" y="12480"/>
                    <a:pt x="458385" y="27874"/>
                  </a:cubicBezTo>
                  <a:lnTo>
                    <a:pt x="458385" y="509565"/>
                  </a:lnTo>
                  <a:cubicBezTo>
                    <a:pt x="458385" y="524959"/>
                    <a:pt x="445905" y="537439"/>
                    <a:pt x="430511" y="537439"/>
                  </a:cubicBezTo>
                  <a:lnTo>
                    <a:pt x="27874" y="537439"/>
                  </a:lnTo>
                  <a:cubicBezTo>
                    <a:pt x="12480" y="537439"/>
                    <a:pt x="0" y="524959"/>
                    <a:pt x="0" y="509565"/>
                  </a:cubicBezTo>
                  <a:lnTo>
                    <a:pt x="0" y="27874"/>
                  </a:lnTo>
                  <a:cubicBezTo>
                    <a:pt x="0" y="12480"/>
                    <a:pt x="12480" y="0"/>
                    <a:pt x="27874" y="0"/>
                  </a:cubicBezTo>
                  <a:close/>
                </a:path>
              </a:pathLst>
            </a:custGeom>
            <a:blipFill>
              <a:blip r:embed="rId2"/>
              <a:stretch>
                <a:fillRect l="-55968" t="0" r="-19681" b="0"/>
              </a:stretch>
            </a:blipFill>
            <a:ln w="38100" cap="rnd">
              <a:solidFill>
                <a:srgbClr val="39270C"/>
              </a:solidFill>
              <a:prstDash val="solid"/>
              <a:round/>
            </a:ln>
          </p:spPr>
        </p:sp>
      </p:grpSp>
      <p:sp>
        <p:nvSpPr>
          <p:cNvPr name="TextBox 10" id="10"/>
          <p:cNvSpPr txBox="true"/>
          <p:nvPr/>
        </p:nvSpPr>
        <p:spPr>
          <a:xfrm rot="0">
            <a:off x="10460024" y="487954"/>
            <a:ext cx="5352348" cy="3036291"/>
          </a:xfrm>
          <a:prstGeom prst="rect">
            <a:avLst/>
          </a:prstGeom>
        </p:spPr>
        <p:txBody>
          <a:bodyPr anchor="t" rtlCol="false" tIns="0" lIns="0" bIns="0" rIns="0">
            <a:spAutoFit/>
          </a:bodyPr>
          <a:lstStyle/>
          <a:p>
            <a:pPr algn="l" marL="0" indent="0" lvl="0">
              <a:lnSpc>
                <a:spcPts val="7898"/>
              </a:lnSpc>
              <a:spcBef>
                <a:spcPct val="0"/>
              </a:spcBef>
            </a:pPr>
            <a:r>
              <a:rPr lang="en-US" sz="8227">
                <a:solidFill>
                  <a:srgbClr val="C4A679"/>
                </a:solidFill>
                <a:latin typeface="Noto Serif Display ExtraCondensed"/>
                <a:ea typeface="Noto Serif Display ExtraCondensed"/>
                <a:cs typeface="Noto Serif Display ExtraCondensed"/>
                <a:sym typeface="Noto Serif Display ExtraCondensed"/>
              </a:rPr>
              <a:t>General</a:t>
            </a:r>
            <a:r>
              <a:rPr lang="en-US" sz="8227">
                <a:solidFill>
                  <a:srgbClr val="C4A679"/>
                </a:solidFill>
                <a:latin typeface="Noto Serif Display ExtraCondensed"/>
                <a:ea typeface="Noto Serif Display ExtraCondensed"/>
                <a:cs typeface="Noto Serif Display ExtraCondensed"/>
                <a:sym typeface="Noto Serif Display ExtraCondensed"/>
              </a:rPr>
              <a:t> Regulatory Concerns </a:t>
            </a:r>
          </a:p>
        </p:txBody>
      </p:sp>
      <p:sp>
        <p:nvSpPr>
          <p:cNvPr name="TextBox 11" id="11"/>
          <p:cNvSpPr txBox="true"/>
          <p:nvPr/>
        </p:nvSpPr>
        <p:spPr>
          <a:xfrm rot="0">
            <a:off x="10460024" y="3801839"/>
            <a:ext cx="5017714" cy="432297"/>
          </a:xfrm>
          <a:prstGeom prst="rect">
            <a:avLst/>
          </a:prstGeom>
        </p:spPr>
        <p:txBody>
          <a:bodyPr anchor="t" rtlCol="false" tIns="0" lIns="0" bIns="0" rIns="0">
            <a:spAutoFit/>
          </a:bodyPr>
          <a:lstStyle/>
          <a:p>
            <a:pPr algn="l" marL="0" indent="0" lvl="0">
              <a:lnSpc>
                <a:spcPts val="3726"/>
              </a:lnSpc>
              <a:spcBef>
                <a:spcPct val="0"/>
              </a:spcBef>
            </a:pPr>
            <a:r>
              <a:rPr lang="en-US" sz="2192" spc="477">
                <a:solidFill>
                  <a:srgbClr val="FFFFFF"/>
                </a:solidFill>
                <a:latin typeface="Open Sans"/>
                <a:ea typeface="Open Sans"/>
                <a:cs typeface="Open Sans"/>
                <a:sym typeface="Open Sans"/>
              </a:rPr>
              <a:t>PROTECTING DATA</a:t>
            </a:r>
          </a:p>
        </p:txBody>
      </p:sp>
      <p:sp>
        <p:nvSpPr>
          <p:cNvPr name="TextBox 12" id="12"/>
          <p:cNvSpPr txBox="true"/>
          <p:nvPr/>
        </p:nvSpPr>
        <p:spPr>
          <a:xfrm rot="0">
            <a:off x="9920778" y="4245577"/>
            <a:ext cx="7338522" cy="3838575"/>
          </a:xfrm>
          <a:prstGeom prst="rect">
            <a:avLst/>
          </a:prstGeom>
        </p:spPr>
        <p:txBody>
          <a:bodyPr anchor="t" rtlCol="false" tIns="0" lIns="0" bIns="0" rIns="0">
            <a:spAutoFit/>
          </a:bodyPr>
          <a:lstStyle/>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There is not a centralized regulation that addresses privacy in the workplace. </a:t>
            </a:r>
          </a:p>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Record digitalization must comply with regulations provided by the EEOC, NLRB, and FTC.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1028700" y="1654576"/>
            <a:ext cx="18158610" cy="6977849"/>
            <a:chOff x="0" y="0"/>
            <a:chExt cx="4782515" cy="1837787"/>
          </a:xfrm>
        </p:grpSpPr>
        <p:sp>
          <p:nvSpPr>
            <p:cNvPr name="Freeform 4" id="4"/>
            <p:cNvSpPr/>
            <p:nvPr/>
          </p:nvSpPr>
          <p:spPr>
            <a:xfrm flipH="false" flipV="false" rot="0">
              <a:off x="0" y="0"/>
              <a:ext cx="4782515" cy="1837787"/>
            </a:xfrm>
            <a:custGeom>
              <a:avLst/>
              <a:gdLst/>
              <a:ahLst/>
              <a:cxnLst/>
              <a:rect r="r" b="b" t="t" l="l"/>
              <a:pathLst>
                <a:path h="1837787" w="4782515">
                  <a:moveTo>
                    <a:pt x="12790" y="0"/>
                  </a:moveTo>
                  <a:lnTo>
                    <a:pt x="4769724" y="0"/>
                  </a:lnTo>
                  <a:cubicBezTo>
                    <a:pt x="4776788" y="0"/>
                    <a:pt x="4782515" y="5726"/>
                    <a:pt x="4782515" y="12790"/>
                  </a:cubicBezTo>
                  <a:lnTo>
                    <a:pt x="4782515" y="1824997"/>
                  </a:lnTo>
                  <a:cubicBezTo>
                    <a:pt x="4782515" y="1828389"/>
                    <a:pt x="4781167" y="1831642"/>
                    <a:pt x="4778768" y="1834041"/>
                  </a:cubicBezTo>
                  <a:cubicBezTo>
                    <a:pt x="4776370" y="1836440"/>
                    <a:pt x="4773116" y="1837787"/>
                    <a:pt x="4769724" y="1837787"/>
                  </a:cubicBezTo>
                  <a:lnTo>
                    <a:pt x="12790" y="1837787"/>
                  </a:lnTo>
                  <a:cubicBezTo>
                    <a:pt x="5726" y="1837787"/>
                    <a:pt x="0" y="1832061"/>
                    <a:pt x="0" y="1824997"/>
                  </a:cubicBezTo>
                  <a:lnTo>
                    <a:pt x="0" y="12790"/>
                  </a:lnTo>
                  <a:cubicBezTo>
                    <a:pt x="0" y="5726"/>
                    <a:pt x="5726" y="0"/>
                    <a:pt x="12790" y="0"/>
                  </a:cubicBezTo>
                  <a:close/>
                </a:path>
              </a:pathLst>
            </a:custGeom>
            <a:solidFill>
              <a:srgbClr val="220F0F"/>
            </a:solidFill>
            <a:ln w="38100" cap="rnd">
              <a:solidFill>
                <a:srgbClr val="39270C"/>
              </a:solidFill>
              <a:prstDash val="solid"/>
              <a:round/>
            </a:ln>
          </p:spPr>
        </p:sp>
        <p:sp>
          <p:nvSpPr>
            <p:cNvPr name="TextBox 5" id="5"/>
            <p:cNvSpPr txBox="true"/>
            <p:nvPr/>
          </p:nvSpPr>
          <p:spPr>
            <a:xfrm>
              <a:off x="0" y="-114300"/>
              <a:ext cx="4782515" cy="1952087"/>
            </a:xfrm>
            <a:prstGeom prst="rect">
              <a:avLst/>
            </a:prstGeom>
          </p:spPr>
          <p:txBody>
            <a:bodyPr anchor="ctr" rtlCol="false" tIns="50800" lIns="50800" bIns="50800" rIns="50800"/>
            <a:lstStyle/>
            <a:p>
              <a:pPr algn="ctr">
                <a:lnSpc>
                  <a:spcPts val="3910"/>
                </a:lnSpc>
              </a:pPr>
            </a:p>
          </p:txBody>
        </p:sp>
      </p:grpSp>
      <p:grpSp>
        <p:nvGrpSpPr>
          <p:cNvPr name="Group 6" id="6"/>
          <p:cNvGrpSpPr/>
          <p:nvPr/>
        </p:nvGrpSpPr>
        <p:grpSpPr>
          <a:xfrm rot="0">
            <a:off x="1836298" y="3348698"/>
            <a:ext cx="178167" cy="178167"/>
            <a:chOff x="0" y="0"/>
            <a:chExt cx="46925" cy="46925"/>
          </a:xfrm>
        </p:grpSpPr>
        <p:sp>
          <p:nvSpPr>
            <p:cNvPr name="Freeform 7" id="7"/>
            <p:cNvSpPr/>
            <p:nvPr/>
          </p:nvSpPr>
          <p:spPr>
            <a:xfrm flipH="false" flipV="false" rot="0">
              <a:off x="0" y="0"/>
              <a:ext cx="46925" cy="46925"/>
            </a:xfrm>
            <a:custGeom>
              <a:avLst/>
              <a:gdLst/>
              <a:ahLst/>
              <a:cxnLst/>
              <a:rect r="r" b="b" t="t" l="l"/>
              <a:pathLst>
                <a:path h="46925" w="46925">
                  <a:moveTo>
                    <a:pt x="0" y="0"/>
                  </a:moveTo>
                  <a:lnTo>
                    <a:pt x="46925" y="0"/>
                  </a:lnTo>
                  <a:lnTo>
                    <a:pt x="46925" y="46925"/>
                  </a:lnTo>
                  <a:lnTo>
                    <a:pt x="0" y="46925"/>
                  </a:lnTo>
                  <a:close/>
                </a:path>
              </a:pathLst>
            </a:custGeom>
            <a:solidFill>
              <a:srgbClr val="FFE6BE"/>
            </a:solidFill>
          </p:spPr>
        </p:sp>
        <p:sp>
          <p:nvSpPr>
            <p:cNvPr name="TextBox 8" id="8"/>
            <p:cNvSpPr txBox="true"/>
            <p:nvPr/>
          </p:nvSpPr>
          <p:spPr>
            <a:xfrm>
              <a:off x="0" y="-114300"/>
              <a:ext cx="46925" cy="161225"/>
            </a:xfrm>
            <a:prstGeom prst="rect">
              <a:avLst/>
            </a:prstGeom>
          </p:spPr>
          <p:txBody>
            <a:bodyPr anchor="ctr" rtlCol="false" tIns="50800" lIns="50800" bIns="50800" rIns="50800"/>
            <a:lstStyle/>
            <a:p>
              <a:pPr algn="ctr">
                <a:lnSpc>
                  <a:spcPts val="3910"/>
                </a:lnSpc>
              </a:pPr>
            </a:p>
          </p:txBody>
        </p:sp>
      </p:grpSp>
      <p:grpSp>
        <p:nvGrpSpPr>
          <p:cNvPr name="Group 9" id="9"/>
          <p:cNvGrpSpPr/>
          <p:nvPr/>
        </p:nvGrpSpPr>
        <p:grpSpPr>
          <a:xfrm rot="0">
            <a:off x="9814207" y="3348698"/>
            <a:ext cx="178167" cy="178167"/>
            <a:chOff x="0" y="0"/>
            <a:chExt cx="46925" cy="46925"/>
          </a:xfrm>
        </p:grpSpPr>
        <p:sp>
          <p:nvSpPr>
            <p:cNvPr name="Freeform 10" id="10"/>
            <p:cNvSpPr/>
            <p:nvPr/>
          </p:nvSpPr>
          <p:spPr>
            <a:xfrm flipH="false" flipV="false" rot="0">
              <a:off x="0" y="0"/>
              <a:ext cx="46925" cy="46925"/>
            </a:xfrm>
            <a:custGeom>
              <a:avLst/>
              <a:gdLst/>
              <a:ahLst/>
              <a:cxnLst/>
              <a:rect r="r" b="b" t="t" l="l"/>
              <a:pathLst>
                <a:path h="46925" w="46925">
                  <a:moveTo>
                    <a:pt x="0" y="0"/>
                  </a:moveTo>
                  <a:lnTo>
                    <a:pt x="46925" y="0"/>
                  </a:lnTo>
                  <a:lnTo>
                    <a:pt x="46925" y="46925"/>
                  </a:lnTo>
                  <a:lnTo>
                    <a:pt x="0" y="46925"/>
                  </a:lnTo>
                  <a:close/>
                </a:path>
              </a:pathLst>
            </a:custGeom>
            <a:solidFill>
              <a:srgbClr val="FFE6BE"/>
            </a:solidFill>
          </p:spPr>
        </p:sp>
        <p:sp>
          <p:nvSpPr>
            <p:cNvPr name="TextBox 11" id="11"/>
            <p:cNvSpPr txBox="true"/>
            <p:nvPr/>
          </p:nvSpPr>
          <p:spPr>
            <a:xfrm>
              <a:off x="0" y="-114300"/>
              <a:ext cx="46925" cy="161225"/>
            </a:xfrm>
            <a:prstGeom prst="rect">
              <a:avLst/>
            </a:prstGeom>
          </p:spPr>
          <p:txBody>
            <a:bodyPr anchor="ctr" rtlCol="false" tIns="50800" lIns="50800" bIns="50800" rIns="50800"/>
            <a:lstStyle/>
            <a:p>
              <a:pPr algn="ctr">
                <a:lnSpc>
                  <a:spcPts val="3910"/>
                </a:lnSpc>
              </a:pPr>
            </a:p>
          </p:txBody>
        </p:sp>
      </p:grpSp>
      <p:sp>
        <p:nvSpPr>
          <p:cNvPr name="TextBox 12" id="12"/>
          <p:cNvSpPr txBox="true"/>
          <p:nvPr/>
        </p:nvSpPr>
        <p:spPr>
          <a:xfrm rot="0">
            <a:off x="1836298" y="3713032"/>
            <a:ext cx="7445093" cy="38354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LIABILITY FOR DIGITAL RECORDS NOT BEING ACCESSIBLE TO ALL EMPLOYEES OR CLIENTS DUE TO FORMAT (ADA  CONCERN)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LIABILITY FOR DIGITAL RECORDS DESCRIBING EMPLOYEE BENEFITS, PENSIONS, AND RETIREMENT PLANS NOT MEETING ERISA REQUIREMENTS (ERISA CONCERN)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LIABILITY FOR DIGITAL RECORDS FOR EMPLOYEES WHO HAVE USED FMLA NOT MEETING FMLA REQUIREMENTS (FMLA CONCERN)</a:t>
            </a:r>
          </a:p>
        </p:txBody>
      </p:sp>
      <p:sp>
        <p:nvSpPr>
          <p:cNvPr name="TextBox 13" id="13"/>
          <p:cNvSpPr txBox="true"/>
          <p:nvPr/>
        </p:nvSpPr>
        <p:spPr>
          <a:xfrm rot="0">
            <a:off x="1764825" y="2611914"/>
            <a:ext cx="12984732" cy="647700"/>
          </a:xfrm>
          <a:prstGeom prst="rect">
            <a:avLst/>
          </a:prstGeom>
        </p:spPr>
        <p:txBody>
          <a:bodyPr anchor="t" rtlCol="false" tIns="0" lIns="0" bIns="0" rIns="0">
            <a:spAutoFit/>
          </a:bodyPr>
          <a:lstStyle/>
          <a:p>
            <a:pPr algn="ctr" marL="0" indent="0" lvl="0">
              <a:lnSpc>
                <a:spcPts val="4800"/>
              </a:lnSpc>
              <a:spcBef>
                <a:spcPct val="0"/>
              </a:spcBef>
            </a:pPr>
            <a:r>
              <a:rPr lang="en-US" sz="5000">
                <a:solidFill>
                  <a:srgbClr val="C4A679"/>
                </a:solidFill>
                <a:latin typeface="Noto Serif Display ExtraCondensed"/>
                <a:ea typeface="Noto Serif Display ExtraCondensed"/>
                <a:cs typeface="Noto Serif Display ExtraCondensed"/>
                <a:sym typeface="Noto Serif Display ExtraCondensed"/>
              </a:rPr>
              <a:t>CONCERNS BY PERSPECTIVE</a:t>
            </a:r>
          </a:p>
        </p:txBody>
      </p:sp>
      <p:sp>
        <p:nvSpPr>
          <p:cNvPr name="TextBox 14" id="14"/>
          <p:cNvSpPr txBox="true"/>
          <p:nvPr/>
        </p:nvSpPr>
        <p:spPr>
          <a:xfrm rot="0">
            <a:off x="2129561" y="3169245"/>
            <a:ext cx="5452855" cy="432297"/>
          </a:xfrm>
          <a:prstGeom prst="rect">
            <a:avLst/>
          </a:prstGeom>
        </p:spPr>
        <p:txBody>
          <a:bodyPr anchor="t" rtlCol="false" tIns="0" lIns="0" bIns="0" rIns="0">
            <a:spAutoFit/>
          </a:bodyPr>
          <a:lstStyle/>
          <a:p>
            <a:pPr algn="l" marL="0" indent="0" lvl="0">
              <a:lnSpc>
                <a:spcPts val="3726"/>
              </a:lnSpc>
              <a:spcBef>
                <a:spcPct val="0"/>
              </a:spcBef>
            </a:pPr>
            <a:r>
              <a:rPr lang="en-US" sz="2192" spc="477">
                <a:solidFill>
                  <a:srgbClr val="FFFFFF"/>
                </a:solidFill>
                <a:latin typeface="Open Sans"/>
                <a:ea typeface="Open Sans"/>
                <a:cs typeface="Open Sans"/>
                <a:sym typeface="Open Sans"/>
              </a:rPr>
              <a:t>BOARD</a:t>
            </a:r>
            <a:r>
              <a:rPr lang="en-US" sz="2192" spc="477">
                <a:solidFill>
                  <a:srgbClr val="FFFFFF"/>
                </a:solidFill>
                <a:latin typeface="Open Sans"/>
                <a:ea typeface="Open Sans"/>
                <a:cs typeface="Open Sans"/>
                <a:sym typeface="Open Sans"/>
              </a:rPr>
              <a:t> CONCERNS </a:t>
            </a:r>
          </a:p>
        </p:txBody>
      </p:sp>
      <p:sp>
        <p:nvSpPr>
          <p:cNvPr name="TextBox 15" id="15"/>
          <p:cNvSpPr txBox="true"/>
          <p:nvPr/>
        </p:nvSpPr>
        <p:spPr>
          <a:xfrm rot="0">
            <a:off x="10237752" y="3169245"/>
            <a:ext cx="5452855" cy="432297"/>
          </a:xfrm>
          <a:prstGeom prst="rect">
            <a:avLst/>
          </a:prstGeom>
        </p:spPr>
        <p:txBody>
          <a:bodyPr anchor="t" rtlCol="false" tIns="0" lIns="0" bIns="0" rIns="0">
            <a:spAutoFit/>
          </a:bodyPr>
          <a:lstStyle/>
          <a:p>
            <a:pPr algn="l" marL="0" indent="0" lvl="0">
              <a:lnSpc>
                <a:spcPts val="3726"/>
              </a:lnSpc>
              <a:spcBef>
                <a:spcPct val="0"/>
              </a:spcBef>
            </a:pPr>
            <a:r>
              <a:rPr lang="en-US" sz="2192" spc="477">
                <a:solidFill>
                  <a:srgbClr val="FFFFFF"/>
                </a:solidFill>
                <a:latin typeface="Open Sans"/>
                <a:ea typeface="Open Sans"/>
                <a:cs typeface="Open Sans"/>
                <a:sym typeface="Open Sans"/>
              </a:rPr>
              <a:t>CLIENT</a:t>
            </a:r>
            <a:r>
              <a:rPr lang="en-US" sz="2192" spc="477">
                <a:solidFill>
                  <a:srgbClr val="FFFFFF"/>
                </a:solidFill>
                <a:latin typeface="Open Sans"/>
                <a:ea typeface="Open Sans"/>
                <a:cs typeface="Open Sans"/>
                <a:sym typeface="Open Sans"/>
              </a:rPr>
              <a:t> CONCERNS</a:t>
            </a:r>
          </a:p>
        </p:txBody>
      </p:sp>
      <p:sp>
        <p:nvSpPr>
          <p:cNvPr name="TextBox 16" id="16"/>
          <p:cNvSpPr txBox="true"/>
          <p:nvPr/>
        </p:nvSpPr>
        <p:spPr>
          <a:xfrm rot="0">
            <a:off x="9814207" y="3713032"/>
            <a:ext cx="7445093" cy="46926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DIGITALIZATION WILL MEET RIGHTS UNDER APPLICABLE LAW</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ORIGINAL COPIES OF DOCUMENTS WILL BE KEPT AND ABLE TO BE PROVIDED UPON REQUEST</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THERE IS AN INCIDENT RESPONSE PROTOCOL IN PLACE</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BREACH NOTIFICATION WILL BE MANDATORY</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THEY MAY OPT OUT OF THEIR RECORDS BEING DIGITALIZED</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WHETHER DIGITAL RECORD-KEEPING WILL INTRUDE INTO THE PRIVATE SPHERE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1028700" y="6230423"/>
            <a:ext cx="10659813" cy="2255520"/>
          </a:xfrm>
          <a:prstGeom prst="rect">
            <a:avLst/>
          </a:prstGeom>
        </p:spPr>
        <p:txBody>
          <a:bodyPr anchor="t" rtlCol="false" tIns="0" lIns="0" bIns="0" rIns="0">
            <a:spAutoFit/>
          </a:bodyPr>
          <a:lstStyle/>
          <a:p>
            <a:pPr algn="l">
              <a:lnSpc>
                <a:spcPts val="8640"/>
              </a:lnSpc>
            </a:pPr>
            <a:r>
              <a:rPr lang="en-US" sz="9000">
                <a:solidFill>
                  <a:srgbClr val="C4A679"/>
                </a:solidFill>
                <a:latin typeface="Noto Serif Display ExtraCondensed"/>
                <a:ea typeface="Noto Serif Display ExtraCondensed"/>
                <a:cs typeface="Noto Serif Display ExtraCondensed"/>
                <a:sym typeface="Noto Serif Display ExtraCondensed"/>
              </a:rPr>
              <a:t>KEY</a:t>
            </a:r>
            <a:r>
              <a:rPr lang="en-US" sz="9000">
                <a:solidFill>
                  <a:srgbClr val="C4A679"/>
                </a:solidFill>
                <a:latin typeface="Noto Serif Display ExtraCondensed"/>
                <a:ea typeface="Noto Serif Display ExtraCondensed"/>
                <a:cs typeface="Noto Serif Display ExtraCondensed"/>
                <a:sym typeface="Noto Serif Display ExtraCondensed"/>
              </a:rPr>
              <a:t> INTERNAL</a:t>
            </a:r>
          </a:p>
          <a:p>
            <a:pPr algn="l" marL="0" indent="0" lvl="0">
              <a:lnSpc>
                <a:spcPts val="8640"/>
              </a:lnSpc>
              <a:spcBef>
                <a:spcPct val="0"/>
              </a:spcBef>
            </a:pPr>
            <a:r>
              <a:rPr lang="en-US" sz="9000">
                <a:solidFill>
                  <a:srgbClr val="C4A679"/>
                </a:solidFill>
                <a:latin typeface="Noto Serif Display ExtraCondensed"/>
                <a:ea typeface="Noto Serif Display ExtraCondensed"/>
                <a:cs typeface="Noto Serif Display ExtraCondensed"/>
                <a:sym typeface="Noto Serif Display ExtraCondensed"/>
              </a:rPr>
              <a:t>STAKEHOLDERS</a:t>
            </a:r>
          </a:p>
        </p:txBody>
      </p:sp>
      <p:sp>
        <p:nvSpPr>
          <p:cNvPr name="TextBox 3" id="3"/>
          <p:cNvSpPr txBox="true"/>
          <p:nvPr/>
        </p:nvSpPr>
        <p:spPr>
          <a:xfrm rot="0">
            <a:off x="1028700" y="1803302"/>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01</a:t>
            </a:r>
          </a:p>
        </p:txBody>
      </p:sp>
      <p:sp>
        <p:nvSpPr>
          <p:cNvPr name="TextBox 4" id="4"/>
          <p:cNvSpPr txBox="true"/>
          <p:nvPr/>
        </p:nvSpPr>
        <p:spPr>
          <a:xfrm rot="0">
            <a:off x="9639300" y="1803302"/>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02</a:t>
            </a:r>
          </a:p>
        </p:txBody>
      </p:sp>
      <p:sp>
        <p:nvSpPr>
          <p:cNvPr name="TextBox 5" id="5"/>
          <p:cNvSpPr txBox="true"/>
          <p:nvPr/>
        </p:nvSpPr>
        <p:spPr>
          <a:xfrm rot="0">
            <a:off x="2919172" y="2293304"/>
            <a:ext cx="5731539" cy="1219201"/>
          </a:xfrm>
          <a:prstGeom prst="rect">
            <a:avLst/>
          </a:prstGeom>
        </p:spPr>
        <p:txBody>
          <a:bodyPr anchor="t" rtlCol="false" tIns="0" lIns="0" bIns="0" rIns="0">
            <a:spAutoFit/>
          </a:bodyPr>
          <a:lstStyle/>
          <a:p>
            <a:pPr algn="l">
              <a:lnSpc>
                <a:spcPts val="5099"/>
              </a:lnSpc>
            </a:pPr>
            <a:r>
              <a:rPr lang="en-US" sz="2999">
                <a:solidFill>
                  <a:srgbClr val="CBCBCB">
                    <a:alpha val="69804"/>
                  </a:srgbClr>
                </a:solidFill>
                <a:latin typeface="Open Sans"/>
                <a:ea typeface="Open Sans"/>
                <a:cs typeface="Open Sans"/>
                <a:sym typeface="Open Sans"/>
              </a:rPr>
              <a:t>EMPLOYEES</a:t>
            </a:r>
          </a:p>
          <a:p>
            <a:pPr algn="l">
              <a:lnSpc>
                <a:spcPts val="5099"/>
              </a:lnSpc>
              <a:spcBef>
                <a:spcPct val="0"/>
              </a:spcBef>
            </a:pPr>
          </a:p>
        </p:txBody>
      </p:sp>
      <p:sp>
        <p:nvSpPr>
          <p:cNvPr name="TextBox 6" id="6"/>
          <p:cNvSpPr txBox="true"/>
          <p:nvPr/>
        </p:nvSpPr>
        <p:spPr>
          <a:xfrm rot="0">
            <a:off x="11529772" y="2283779"/>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SUPERVISORS</a:t>
            </a:r>
          </a:p>
        </p:txBody>
      </p:sp>
      <p:sp>
        <p:nvSpPr>
          <p:cNvPr name="TextBox 7" id="7"/>
          <p:cNvSpPr txBox="true"/>
          <p:nvPr/>
        </p:nvSpPr>
        <p:spPr>
          <a:xfrm rot="0">
            <a:off x="1028700" y="4497946"/>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03</a:t>
            </a:r>
          </a:p>
        </p:txBody>
      </p:sp>
      <p:sp>
        <p:nvSpPr>
          <p:cNvPr name="TextBox 8" id="8"/>
          <p:cNvSpPr txBox="true"/>
          <p:nvPr/>
        </p:nvSpPr>
        <p:spPr>
          <a:xfrm rot="0">
            <a:off x="9639300" y="4497946"/>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04</a:t>
            </a:r>
          </a:p>
        </p:txBody>
      </p:sp>
      <p:sp>
        <p:nvSpPr>
          <p:cNvPr name="TextBox 9" id="9"/>
          <p:cNvSpPr txBox="true"/>
          <p:nvPr/>
        </p:nvSpPr>
        <p:spPr>
          <a:xfrm rot="0">
            <a:off x="2919172" y="5000625"/>
            <a:ext cx="5731539" cy="600075"/>
          </a:xfrm>
          <a:prstGeom prst="rect">
            <a:avLst/>
          </a:prstGeom>
        </p:spPr>
        <p:txBody>
          <a:bodyPr anchor="t" rtlCol="false" tIns="0" lIns="0" bIns="0" rIns="0">
            <a:spAutoFit/>
          </a:bodyPr>
          <a:lstStyle/>
          <a:p>
            <a:pPr algn="l">
              <a:lnSpc>
                <a:spcPts val="5100"/>
              </a:lnSpc>
            </a:pPr>
            <a:r>
              <a:rPr lang="en-US" sz="3000">
                <a:solidFill>
                  <a:srgbClr val="CBCBCB">
                    <a:alpha val="69804"/>
                  </a:srgbClr>
                </a:solidFill>
                <a:latin typeface="Open Sans"/>
                <a:ea typeface="Open Sans"/>
                <a:cs typeface="Open Sans"/>
                <a:sym typeface="Open Sans"/>
              </a:rPr>
              <a:t>C-SUITE</a:t>
            </a:r>
          </a:p>
        </p:txBody>
      </p:sp>
      <p:sp>
        <p:nvSpPr>
          <p:cNvPr name="TextBox 10" id="10"/>
          <p:cNvSpPr txBox="true"/>
          <p:nvPr/>
        </p:nvSpPr>
        <p:spPr>
          <a:xfrm rot="0">
            <a:off x="11529772" y="5000625"/>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HR PROFESSIONALS</a:t>
            </a:r>
          </a:p>
        </p:txBody>
      </p:sp>
      <p:sp>
        <p:nvSpPr>
          <p:cNvPr name="TextBox 11" id="11"/>
          <p:cNvSpPr txBox="true"/>
          <p:nvPr/>
        </p:nvSpPr>
        <p:spPr>
          <a:xfrm rot="0">
            <a:off x="9639300" y="5916098"/>
            <a:ext cx="5731539" cy="254952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What type of records?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What type of training?</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Which applicable law?</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What methodology of explaining digitalization?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Who monitors compliance? </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1028700" y="6230423"/>
            <a:ext cx="10659813" cy="2255520"/>
          </a:xfrm>
          <a:prstGeom prst="rect">
            <a:avLst/>
          </a:prstGeom>
        </p:spPr>
        <p:txBody>
          <a:bodyPr anchor="t" rtlCol="false" tIns="0" lIns="0" bIns="0" rIns="0">
            <a:spAutoFit/>
          </a:bodyPr>
          <a:lstStyle/>
          <a:p>
            <a:pPr algn="l">
              <a:lnSpc>
                <a:spcPts val="8640"/>
              </a:lnSpc>
            </a:pPr>
            <a:r>
              <a:rPr lang="en-US" sz="9000">
                <a:solidFill>
                  <a:srgbClr val="C4A679"/>
                </a:solidFill>
                <a:latin typeface="Noto Serif Display ExtraCondensed"/>
                <a:ea typeface="Noto Serif Display ExtraCondensed"/>
                <a:cs typeface="Noto Serif Display ExtraCondensed"/>
                <a:sym typeface="Noto Serif Display ExtraCondensed"/>
              </a:rPr>
              <a:t>KEY</a:t>
            </a:r>
            <a:r>
              <a:rPr lang="en-US" sz="9000">
                <a:solidFill>
                  <a:srgbClr val="C4A679"/>
                </a:solidFill>
                <a:latin typeface="Noto Serif Display ExtraCondensed"/>
                <a:ea typeface="Noto Serif Display ExtraCondensed"/>
                <a:cs typeface="Noto Serif Display ExtraCondensed"/>
                <a:sym typeface="Noto Serif Display ExtraCondensed"/>
              </a:rPr>
              <a:t> EXTERNAL</a:t>
            </a:r>
          </a:p>
          <a:p>
            <a:pPr algn="l" marL="0" indent="0" lvl="0">
              <a:lnSpc>
                <a:spcPts val="8640"/>
              </a:lnSpc>
              <a:spcBef>
                <a:spcPct val="0"/>
              </a:spcBef>
            </a:pPr>
            <a:r>
              <a:rPr lang="en-US" sz="9000">
                <a:solidFill>
                  <a:srgbClr val="C4A679"/>
                </a:solidFill>
                <a:latin typeface="Noto Serif Display ExtraCondensed"/>
                <a:ea typeface="Noto Serif Display ExtraCondensed"/>
                <a:cs typeface="Noto Serif Display ExtraCondensed"/>
                <a:sym typeface="Noto Serif Display ExtraCondensed"/>
              </a:rPr>
              <a:t>STAKEHOLDERS</a:t>
            </a:r>
          </a:p>
        </p:txBody>
      </p:sp>
      <p:sp>
        <p:nvSpPr>
          <p:cNvPr name="TextBox 3" id="3"/>
          <p:cNvSpPr txBox="true"/>
          <p:nvPr/>
        </p:nvSpPr>
        <p:spPr>
          <a:xfrm rot="0">
            <a:off x="1028700" y="1803302"/>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01</a:t>
            </a:r>
          </a:p>
        </p:txBody>
      </p:sp>
      <p:sp>
        <p:nvSpPr>
          <p:cNvPr name="TextBox 4" id="4"/>
          <p:cNvSpPr txBox="true"/>
          <p:nvPr/>
        </p:nvSpPr>
        <p:spPr>
          <a:xfrm rot="0">
            <a:off x="9639300" y="1803302"/>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02</a:t>
            </a:r>
          </a:p>
        </p:txBody>
      </p:sp>
      <p:sp>
        <p:nvSpPr>
          <p:cNvPr name="TextBox 5" id="5"/>
          <p:cNvSpPr txBox="true"/>
          <p:nvPr/>
        </p:nvSpPr>
        <p:spPr>
          <a:xfrm rot="0">
            <a:off x="2919172" y="2283779"/>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LABOR UNIONS</a:t>
            </a:r>
          </a:p>
        </p:txBody>
      </p:sp>
      <p:sp>
        <p:nvSpPr>
          <p:cNvPr name="TextBox 6" id="6"/>
          <p:cNvSpPr txBox="true"/>
          <p:nvPr/>
        </p:nvSpPr>
        <p:spPr>
          <a:xfrm rot="0">
            <a:off x="11529772" y="2283779"/>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THIRD PARTY VENDORS</a:t>
            </a:r>
          </a:p>
        </p:txBody>
      </p:sp>
      <p:sp>
        <p:nvSpPr>
          <p:cNvPr name="TextBox 7" id="7"/>
          <p:cNvSpPr txBox="true"/>
          <p:nvPr/>
        </p:nvSpPr>
        <p:spPr>
          <a:xfrm rot="0">
            <a:off x="1028700" y="4497946"/>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03</a:t>
            </a:r>
          </a:p>
        </p:txBody>
      </p:sp>
      <p:sp>
        <p:nvSpPr>
          <p:cNvPr name="TextBox 8" id="8"/>
          <p:cNvSpPr txBox="true"/>
          <p:nvPr/>
        </p:nvSpPr>
        <p:spPr>
          <a:xfrm rot="0">
            <a:off x="9639300" y="4497946"/>
            <a:ext cx="1890472" cy="1522927"/>
          </a:xfrm>
          <a:prstGeom prst="rect">
            <a:avLst/>
          </a:prstGeom>
        </p:spPr>
        <p:txBody>
          <a:bodyPr anchor="t" rtlCol="false" tIns="0" lIns="0" bIns="0" rIns="0">
            <a:spAutoFit/>
          </a:bodyPr>
          <a:lstStyle/>
          <a:p>
            <a:pPr algn="l" marL="0" indent="0" lvl="0">
              <a:lnSpc>
                <a:spcPts val="11366"/>
              </a:lnSpc>
              <a:spcBef>
                <a:spcPct val="0"/>
              </a:spcBef>
            </a:pPr>
            <a:r>
              <a:rPr lang="en-US" sz="11839">
                <a:solidFill>
                  <a:srgbClr val="C4A679"/>
                </a:solidFill>
                <a:latin typeface="Noto Serif Display ExtraCondensed"/>
                <a:ea typeface="Noto Serif Display ExtraCondensed"/>
                <a:cs typeface="Noto Serif Display ExtraCondensed"/>
                <a:sym typeface="Noto Serif Display ExtraCondensed"/>
              </a:rPr>
              <a:t>04</a:t>
            </a:r>
          </a:p>
        </p:txBody>
      </p:sp>
      <p:sp>
        <p:nvSpPr>
          <p:cNvPr name="TextBox 9" id="9"/>
          <p:cNvSpPr txBox="true"/>
          <p:nvPr/>
        </p:nvSpPr>
        <p:spPr>
          <a:xfrm rot="0">
            <a:off x="2919172" y="4849813"/>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EMPLOYEE ASSOCIATIONS</a:t>
            </a:r>
          </a:p>
        </p:txBody>
      </p:sp>
      <p:sp>
        <p:nvSpPr>
          <p:cNvPr name="TextBox 10" id="10"/>
          <p:cNvSpPr txBox="true"/>
          <p:nvPr/>
        </p:nvSpPr>
        <p:spPr>
          <a:xfrm rot="0">
            <a:off x="11529772" y="4827609"/>
            <a:ext cx="5731539" cy="600075"/>
          </a:xfrm>
          <a:prstGeom prst="rect">
            <a:avLst/>
          </a:prstGeom>
        </p:spPr>
        <p:txBody>
          <a:bodyPr anchor="t" rtlCol="false" tIns="0" lIns="0" bIns="0" rIns="0">
            <a:spAutoFit/>
          </a:bodyPr>
          <a:lstStyle/>
          <a:p>
            <a:pPr algn="l" marL="0" indent="0" lvl="0">
              <a:lnSpc>
                <a:spcPts val="5100"/>
              </a:lnSpc>
              <a:spcBef>
                <a:spcPct val="0"/>
              </a:spcBef>
            </a:pPr>
            <a:r>
              <a:rPr lang="en-US" sz="3000">
                <a:solidFill>
                  <a:srgbClr val="CBCBCB">
                    <a:alpha val="69804"/>
                  </a:srgbClr>
                </a:solidFill>
                <a:latin typeface="Open Sans"/>
                <a:ea typeface="Open Sans"/>
                <a:cs typeface="Open Sans"/>
                <a:sym typeface="Open Sans"/>
              </a:rPr>
              <a:t>INVESTORS</a:t>
            </a:r>
          </a:p>
        </p:txBody>
      </p:sp>
      <p:sp>
        <p:nvSpPr>
          <p:cNvPr name="TextBox 11" id="11"/>
          <p:cNvSpPr txBox="true"/>
          <p:nvPr/>
        </p:nvSpPr>
        <p:spPr>
          <a:xfrm rot="0">
            <a:off x="9639300" y="6140570"/>
            <a:ext cx="5731539" cy="21209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How will digitalization reduce costs?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What safety concerns will be mitigated? </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What are the benefits?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How will profit increase?</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How will the NLRB regulations be upheld?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1028700" y="1654576"/>
            <a:ext cx="18158610" cy="6977849"/>
            <a:chOff x="0" y="0"/>
            <a:chExt cx="4782515" cy="1837787"/>
          </a:xfrm>
        </p:grpSpPr>
        <p:sp>
          <p:nvSpPr>
            <p:cNvPr name="Freeform 4" id="4"/>
            <p:cNvSpPr/>
            <p:nvPr/>
          </p:nvSpPr>
          <p:spPr>
            <a:xfrm flipH="false" flipV="false" rot="0">
              <a:off x="0" y="0"/>
              <a:ext cx="4782515" cy="1837787"/>
            </a:xfrm>
            <a:custGeom>
              <a:avLst/>
              <a:gdLst/>
              <a:ahLst/>
              <a:cxnLst/>
              <a:rect r="r" b="b" t="t" l="l"/>
              <a:pathLst>
                <a:path h="1837787" w="4782515">
                  <a:moveTo>
                    <a:pt x="12790" y="0"/>
                  </a:moveTo>
                  <a:lnTo>
                    <a:pt x="4769724" y="0"/>
                  </a:lnTo>
                  <a:cubicBezTo>
                    <a:pt x="4776788" y="0"/>
                    <a:pt x="4782515" y="5726"/>
                    <a:pt x="4782515" y="12790"/>
                  </a:cubicBezTo>
                  <a:lnTo>
                    <a:pt x="4782515" y="1824997"/>
                  </a:lnTo>
                  <a:cubicBezTo>
                    <a:pt x="4782515" y="1828389"/>
                    <a:pt x="4781167" y="1831642"/>
                    <a:pt x="4778768" y="1834041"/>
                  </a:cubicBezTo>
                  <a:cubicBezTo>
                    <a:pt x="4776370" y="1836440"/>
                    <a:pt x="4773116" y="1837787"/>
                    <a:pt x="4769724" y="1837787"/>
                  </a:cubicBezTo>
                  <a:lnTo>
                    <a:pt x="12790" y="1837787"/>
                  </a:lnTo>
                  <a:cubicBezTo>
                    <a:pt x="5726" y="1837787"/>
                    <a:pt x="0" y="1832061"/>
                    <a:pt x="0" y="1824997"/>
                  </a:cubicBezTo>
                  <a:lnTo>
                    <a:pt x="0" y="12790"/>
                  </a:lnTo>
                  <a:cubicBezTo>
                    <a:pt x="0" y="5726"/>
                    <a:pt x="5726" y="0"/>
                    <a:pt x="12790" y="0"/>
                  </a:cubicBezTo>
                  <a:close/>
                </a:path>
              </a:pathLst>
            </a:custGeom>
            <a:solidFill>
              <a:srgbClr val="220F0F"/>
            </a:solidFill>
            <a:ln w="38100" cap="rnd">
              <a:solidFill>
                <a:srgbClr val="39270C"/>
              </a:solidFill>
              <a:prstDash val="solid"/>
              <a:round/>
            </a:ln>
          </p:spPr>
        </p:sp>
        <p:sp>
          <p:nvSpPr>
            <p:cNvPr name="TextBox 5" id="5"/>
            <p:cNvSpPr txBox="true"/>
            <p:nvPr/>
          </p:nvSpPr>
          <p:spPr>
            <a:xfrm>
              <a:off x="0" y="-114300"/>
              <a:ext cx="4782515" cy="1952087"/>
            </a:xfrm>
            <a:prstGeom prst="rect">
              <a:avLst/>
            </a:prstGeom>
          </p:spPr>
          <p:txBody>
            <a:bodyPr anchor="ctr" rtlCol="false" tIns="50800" lIns="50800" bIns="50800" rIns="50800"/>
            <a:lstStyle/>
            <a:p>
              <a:pPr algn="ctr">
                <a:lnSpc>
                  <a:spcPts val="3910"/>
                </a:lnSpc>
              </a:pPr>
            </a:p>
          </p:txBody>
        </p:sp>
      </p:grpSp>
      <p:sp>
        <p:nvSpPr>
          <p:cNvPr name="TextBox 6" id="6"/>
          <p:cNvSpPr txBox="true"/>
          <p:nvPr/>
        </p:nvSpPr>
        <p:spPr>
          <a:xfrm rot="0">
            <a:off x="5421454" y="2720031"/>
            <a:ext cx="7445093" cy="5295900"/>
          </a:xfrm>
          <a:prstGeom prst="rect">
            <a:avLst/>
          </a:prstGeom>
        </p:spPr>
        <p:txBody>
          <a:bodyPr anchor="t" rtlCol="false" tIns="0" lIns="0" bIns="0" rIns="0">
            <a:spAutoFit/>
          </a:bodyPr>
          <a:lstStyle/>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IMPROVES RECORD-KEEPING ABILITY AND TIMELINESS OF PROVIDING DOCUMENTS UPON REQUESTS</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PROVIDES A CENTRAL, UNIFORM SYSTEM THAT IS EASIER TO AUDIT</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LIMITS ACCESS POINTS TO DATA</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ENABLES ACCESS TO BE MONITORED</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REDUCES COSTS OF MAINTAINING PAPERWORK</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REDUCES NOTE-TAKING ERRORS</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DIGITALIZATION MUST MEET FEDERAL APPLICABLE LAW INCLUDING ERISA, FCRA, FMLA, ADEA, FLSA ETC. SO RECORDS SHOULD BE RETAINED FOR 7 YEARS</a:t>
            </a:r>
          </a:p>
          <a:p>
            <a:pPr algn="l" marL="388622" indent="-194311" lvl="1">
              <a:lnSpc>
                <a:spcPts val="3060"/>
              </a:lnSpc>
              <a:buFont typeface="Arial"/>
              <a:buChar char="•"/>
            </a:pPr>
            <a:r>
              <a:rPr lang="en-US" sz="1800">
                <a:solidFill>
                  <a:srgbClr val="CBCBCB">
                    <a:alpha val="69804"/>
                  </a:srgbClr>
                </a:solidFill>
                <a:latin typeface="Open Sans"/>
                <a:ea typeface="Open Sans"/>
                <a:cs typeface="Open Sans"/>
                <a:sym typeface="Open Sans"/>
              </a:rPr>
              <a:t>UNDER STATE PRIVACY LAWS EVEN COMPREHENSIVE ONES LIKE THE CCPA/CPRA EMPLOYMENT AND HR RECORDS ARE USUALLY EXEMPT</a:t>
            </a:r>
          </a:p>
        </p:txBody>
      </p:sp>
      <p:sp>
        <p:nvSpPr>
          <p:cNvPr name="TextBox 7" id="7"/>
          <p:cNvSpPr txBox="true"/>
          <p:nvPr/>
        </p:nvSpPr>
        <p:spPr>
          <a:xfrm rot="0">
            <a:off x="2651634" y="2148531"/>
            <a:ext cx="12984732" cy="647700"/>
          </a:xfrm>
          <a:prstGeom prst="rect">
            <a:avLst/>
          </a:prstGeom>
        </p:spPr>
        <p:txBody>
          <a:bodyPr anchor="t" rtlCol="false" tIns="0" lIns="0" bIns="0" rIns="0">
            <a:spAutoFit/>
          </a:bodyPr>
          <a:lstStyle/>
          <a:p>
            <a:pPr algn="ctr" marL="0" indent="0" lvl="0">
              <a:lnSpc>
                <a:spcPts val="4800"/>
              </a:lnSpc>
              <a:spcBef>
                <a:spcPct val="0"/>
              </a:spcBef>
            </a:pPr>
            <a:r>
              <a:rPr lang="en-US" sz="5000">
                <a:solidFill>
                  <a:srgbClr val="C4A679"/>
                </a:solidFill>
                <a:latin typeface="Noto Serif Display ExtraCondensed"/>
                <a:ea typeface="Noto Serif Display ExtraCondensed"/>
                <a:cs typeface="Noto Serif Display ExtraCondensed"/>
                <a:sym typeface="Noto Serif Display ExtraCondensed"/>
              </a:rPr>
              <a:t>POSITIVES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18954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FEDERAL LEGAL REQUIREMENTS</a:t>
            </a:r>
          </a:p>
        </p:txBody>
      </p:sp>
      <p:grpSp>
        <p:nvGrpSpPr>
          <p:cNvPr name="Group 3" id="3"/>
          <p:cNvGrpSpPr/>
          <p:nvPr/>
        </p:nvGrpSpPr>
        <p:grpSpPr>
          <a:xfrm rot="0">
            <a:off x="14198425" y="325805"/>
            <a:ext cx="3802645" cy="3983232"/>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61078" y="0"/>
                  </a:moveTo>
                  <a:lnTo>
                    <a:pt x="569174" y="0"/>
                  </a:lnTo>
                  <a:cubicBezTo>
                    <a:pt x="602907" y="0"/>
                    <a:pt x="630252" y="27346"/>
                    <a:pt x="630252" y="61078"/>
                  </a:cubicBezTo>
                  <a:lnTo>
                    <a:pt x="630252" y="599105"/>
                  </a:lnTo>
                  <a:cubicBezTo>
                    <a:pt x="630252" y="632837"/>
                    <a:pt x="602907" y="660183"/>
                    <a:pt x="569174" y="660183"/>
                  </a:cubicBezTo>
                  <a:lnTo>
                    <a:pt x="61078" y="660183"/>
                  </a:lnTo>
                  <a:cubicBezTo>
                    <a:pt x="27346" y="660183"/>
                    <a:pt x="0" y="632837"/>
                    <a:pt x="0" y="599105"/>
                  </a:cubicBezTo>
                  <a:lnTo>
                    <a:pt x="0" y="61078"/>
                  </a:lnTo>
                  <a:cubicBezTo>
                    <a:pt x="0" y="27346"/>
                    <a:pt x="27346" y="0"/>
                    <a:pt x="61078"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3666227" cy="3983232"/>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63351" y="0"/>
                  </a:moveTo>
                  <a:lnTo>
                    <a:pt x="544292" y="0"/>
                  </a:lnTo>
                  <a:cubicBezTo>
                    <a:pt x="561093" y="0"/>
                    <a:pt x="577207" y="6674"/>
                    <a:pt x="589087" y="18555"/>
                  </a:cubicBezTo>
                  <a:cubicBezTo>
                    <a:pt x="600968" y="30435"/>
                    <a:pt x="607642" y="46549"/>
                    <a:pt x="607642" y="63351"/>
                  </a:cubicBezTo>
                  <a:lnTo>
                    <a:pt x="607642" y="596832"/>
                  </a:lnTo>
                  <a:cubicBezTo>
                    <a:pt x="607642" y="613634"/>
                    <a:pt x="600968" y="629747"/>
                    <a:pt x="589087" y="641628"/>
                  </a:cubicBezTo>
                  <a:cubicBezTo>
                    <a:pt x="577207" y="653508"/>
                    <a:pt x="561093" y="660183"/>
                    <a:pt x="544292" y="660183"/>
                  </a:cubicBezTo>
                  <a:lnTo>
                    <a:pt x="63351" y="660183"/>
                  </a:lnTo>
                  <a:cubicBezTo>
                    <a:pt x="46549" y="660183"/>
                    <a:pt x="30435" y="653508"/>
                    <a:pt x="18555" y="641628"/>
                  </a:cubicBezTo>
                  <a:cubicBezTo>
                    <a:pt x="6674" y="629747"/>
                    <a:pt x="0" y="613634"/>
                    <a:pt x="0" y="596832"/>
                  </a:cubicBezTo>
                  <a:lnTo>
                    <a:pt x="0" y="63351"/>
                  </a:lnTo>
                  <a:cubicBezTo>
                    <a:pt x="0" y="46549"/>
                    <a:pt x="6674" y="30435"/>
                    <a:pt x="18555" y="18555"/>
                  </a:cubicBezTo>
                  <a:cubicBezTo>
                    <a:pt x="30435" y="6674"/>
                    <a:pt x="46549" y="0"/>
                    <a:pt x="63351"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07135" y="4639431"/>
            <a:ext cx="17606656" cy="5647569"/>
            <a:chOff x="0" y="0"/>
            <a:chExt cx="4637144" cy="1487426"/>
          </a:xfrm>
        </p:grpSpPr>
        <p:sp>
          <p:nvSpPr>
            <p:cNvPr name="Freeform 8" id="8"/>
            <p:cNvSpPr/>
            <p:nvPr/>
          </p:nvSpPr>
          <p:spPr>
            <a:xfrm flipH="false" flipV="false" rot="0">
              <a:off x="0" y="0"/>
              <a:ext cx="4637144" cy="1487426"/>
            </a:xfrm>
            <a:custGeom>
              <a:avLst/>
              <a:gdLst/>
              <a:ahLst/>
              <a:cxnLst/>
              <a:rect r="r" b="b" t="t" l="l"/>
              <a:pathLst>
                <a:path h="1487426" w="4637144">
                  <a:moveTo>
                    <a:pt x="13191" y="0"/>
                  </a:moveTo>
                  <a:lnTo>
                    <a:pt x="4623952" y="0"/>
                  </a:lnTo>
                  <a:cubicBezTo>
                    <a:pt x="4627451" y="0"/>
                    <a:pt x="4630806" y="1390"/>
                    <a:pt x="4633280" y="3864"/>
                  </a:cubicBezTo>
                  <a:cubicBezTo>
                    <a:pt x="4635754" y="6338"/>
                    <a:pt x="4637144" y="9693"/>
                    <a:pt x="4637144" y="13191"/>
                  </a:cubicBezTo>
                  <a:lnTo>
                    <a:pt x="4637144" y="1474234"/>
                  </a:lnTo>
                  <a:cubicBezTo>
                    <a:pt x="4637144" y="1477733"/>
                    <a:pt x="4635754" y="1481088"/>
                    <a:pt x="4633280" y="1483562"/>
                  </a:cubicBezTo>
                  <a:cubicBezTo>
                    <a:pt x="4630806" y="1486036"/>
                    <a:pt x="4627451" y="1487426"/>
                    <a:pt x="4623952" y="1487426"/>
                  </a:cubicBezTo>
                  <a:lnTo>
                    <a:pt x="13191" y="1487426"/>
                  </a:lnTo>
                  <a:cubicBezTo>
                    <a:pt x="9693" y="1487426"/>
                    <a:pt x="6338" y="1486036"/>
                    <a:pt x="3864" y="1483562"/>
                  </a:cubicBezTo>
                  <a:cubicBezTo>
                    <a:pt x="1390" y="1481088"/>
                    <a:pt x="0" y="1477733"/>
                    <a:pt x="0" y="1474234"/>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601726"/>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5119624"/>
            <a:ext cx="4073278" cy="763905"/>
          </a:xfrm>
          <a:prstGeom prst="rect">
            <a:avLst/>
          </a:prstGeom>
        </p:spPr>
        <p:txBody>
          <a:bodyPr anchor="t" rtlCol="false" tIns="0" lIns="0" bIns="0" rIns="0">
            <a:spAutoFit/>
          </a:bodyPr>
          <a:lstStyle/>
          <a:p>
            <a:pPr algn="l" marL="0" indent="0" lvl="0">
              <a:lnSpc>
                <a:spcPts val="5759"/>
              </a:lnSpc>
              <a:spcBef>
                <a:spcPct val="0"/>
              </a:spcBef>
            </a:pPr>
            <a:r>
              <a:rPr lang="en-US" sz="6000">
                <a:solidFill>
                  <a:srgbClr val="C4A679"/>
                </a:solidFill>
                <a:latin typeface="Noto Serif Display ExtraCondensed"/>
                <a:ea typeface="Noto Serif Display ExtraCondensed"/>
                <a:cs typeface="Noto Serif Display ExtraCondensed"/>
                <a:sym typeface="Noto Serif Display ExtraCondensed"/>
              </a:rPr>
              <a:t>01.</a:t>
            </a:r>
            <a:r>
              <a:rPr lang="en-US" sz="6000">
                <a:solidFill>
                  <a:srgbClr val="C4A679"/>
                </a:solidFill>
                <a:latin typeface="Noto Serif Display ExtraCondensed"/>
                <a:ea typeface="Noto Serif Display ExtraCondensed"/>
                <a:cs typeface="Noto Serif Display ExtraCondensed"/>
                <a:sym typeface="Noto Serif Display ExtraCondensed"/>
              </a:rPr>
              <a:t> EEOC</a:t>
            </a:r>
          </a:p>
        </p:txBody>
      </p:sp>
      <p:sp>
        <p:nvSpPr>
          <p:cNvPr name="TextBox 11" id="11"/>
          <p:cNvSpPr txBox="true"/>
          <p:nvPr/>
        </p:nvSpPr>
        <p:spPr>
          <a:xfrm rot="0">
            <a:off x="1381359" y="5778754"/>
            <a:ext cx="15458207" cy="38354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Required adherence to all applicable law</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All personnel or employment records must be kept for one year. </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If an employee is involuntarily terminated, their personnel records must be retained for one year from the date of termination.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E</a:t>
            </a:r>
            <a:r>
              <a:rPr lang="en-US" sz="2000">
                <a:solidFill>
                  <a:srgbClr val="CBCBCB">
                    <a:alpha val="69804"/>
                  </a:srgbClr>
                </a:solidFill>
                <a:latin typeface="Open Sans"/>
                <a:ea typeface="Open Sans"/>
                <a:cs typeface="Open Sans"/>
                <a:sym typeface="Open Sans"/>
              </a:rPr>
              <a:t>mployers must keep on file employee benefit plans, and written seniority or merit system documents for the full period the plan or system is in effect and for at least one year after its termination.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E</a:t>
            </a:r>
            <a:r>
              <a:rPr lang="en-US" sz="2000">
                <a:solidFill>
                  <a:srgbClr val="CBCBCB">
                    <a:alpha val="69804"/>
                  </a:srgbClr>
                </a:solidFill>
                <a:latin typeface="Open Sans"/>
                <a:ea typeface="Open Sans"/>
                <a:cs typeface="Open Sans"/>
                <a:sym typeface="Open Sans"/>
              </a:rPr>
              <a:t>mployers must keep payroll records for at least three years.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E</a:t>
            </a:r>
            <a:r>
              <a:rPr lang="en-US" sz="2000">
                <a:solidFill>
                  <a:srgbClr val="CBCBCB">
                    <a:alpha val="69804"/>
                  </a:srgbClr>
                </a:solidFill>
                <a:latin typeface="Open Sans"/>
                <a:ea typeface="Open Sans"/>
                <a:cs typeface="Open Sans"/>
                <a:sym typeface="Open Sans"/>
              </a:rPr>
              <a:t>mployers must keep records including wage rates, job evaluations, and collective bargaining agreements, and any other documents which explain the basis for paying different wages to employees of opposite sexes in the same establishment for at least two years.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18954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FEDERAL LEGAL REQUIREMENTS</a:t>
            </a:r>
          </a:p>
        </p:txBody>
      </p:sp>
      <p:grpSp>
        <p:nvGrpSpPr>
          <p:cNvPr name="Group 3" id="3"/>
          <p:cNvGrpSpPr/>
          <p:nvPr/>
        </p:nvGrpSpPr>
        <p:grpSpPr>
          <a:xfrm rot="0">
            <a:off x="14198425" y="325805"/>
            <a:ext cx="3802645" cy="3983232"/>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61078" y="0"/>
                  </a:moveTo>
                  <a:lnTo>
                    <a:pt x="569174" y="0"/>
                  </a:lnTo>
                  <a:cubicBezTo>
                    <a:pt x="602907" y="0"/>
                    <a:pt x="630252" y="27346"/>
                    <a:pt x="630252" y="61078"/>
                  </a:cubicBezTo>
                  <a:lnTo>
                    <a:pt x="630252" y="599105"/>
                  </a:lnTo>
                  <a:cubicBezTo>
                    <a:pt x="630252" y="632837"/>
                    <a:pt x="602907" y="660183"/>
                    <a:pt x="569174" y="660183"/>
                  </a:cubicBezTo>
                  <a:lnTo>
                    <a:pt x="61078" y="660183"/>
                  </a:lnTo>
                  <a:cubicBezTo>
                    <a:pt x="27346" y="660183"/>
                    <a:pt x="0" y="632837"/>
                    <a:pt x="0" y="599105"/>
                  </a:cubicBezTo>
                  <a:lnTo>
                    <a:pt x="0" y="61078"/>
                  </a:lnTo>
                  <a:cubicBezTo>
                    <a:pt x="0" y="27346"/>
                    <a:pt x="27346" y="0"/>
                    <a:pt x="61078"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3666227" cy="3983232"/>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63351" y="0"/>
                  </a:moveTo>
                  <a:lnTo>
                    <a:pt x="544292" y="0"/>
                  </a:lnTo>
                  <a:cubicBezTo>
                    <a:pt x="561093" y="0"/>
                    <a:pt x="577207" y="6674"/>
                    <a:pt x="589087" y="18555"/>
                  </a:cubicBezTo>
                  <a:cubicBezTo>
                    <a:pt x="600968" y="30435"/>
                    <a:pt x="607642" y="46549"/>
                    <a:pt x="607642" y="63351"/>
                  </a:cubicBezTo>
                  <a:lnTo>
                    <a:pt x="607642" y="596832"/>
                  </a:lnTo>
                  <a:cubicBezTo>
                    <a:pt x="607642" y="613634"/>
                    <a:pt x="600968" y="629747"/>
                    <a:pt x="589087" y="641628"/>
                  </a:cubicBezTo>
                  <a:cubicBezTo>
                    <a:pt x="577207" y="653508"/>
                    <a:pt x="561093" y="660183"/>
                    <a:pt x="544292" y="660183"/>
                  </a:cubicBezTo>
                  <a:lnTo>
                    <a:pt x="63351" y="660183"/>
                  </a:lnTo>
                  <a:cubicBezTo>
                    <a:pt x="46549" y="660183"/>
                    <a:pt x="30435" y="653508"/>
                    <a:pt x="18555" y="641628"/>
                  </a:cubicBezTo>
                  <a:cubicBezTo>
                    <a:pt x="6674" y="629747"/>
                    <a:pt x="0" y="613634"/>
                    <a:pt x="0" y="596832"/>
                  </a:cubicBezTo>
                  <a:lnTo>
                    <a:pt x="0" y="63351"/>
                  </a:lnTo>
                  <a:cubicBezTo>
                    <a:pt x="0" y="46549"/>
                    <a:pt x="6674" y="30435"/>
                    <a:pt x="18555" y="18555"/>
                  </a:cubicBezTo>
                  <a:cubicBezTo>
                    <a:pt x="30435" y="6674"/>
                    <a:pt x="46549" y="0"/>
                    <a:pt x="63351"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07135" y="4639431"/>
            <a:ext cx="17606656" cy="5647569"/>
            <a:chOff x="0" y="0"/>
            <a:chExt cx="4637144" cy="1487426"/>
          </a:xfrm>
        </p:grpSpPr>
        <p:sp>
          <p:nvSpPr>
            <p:cNvPr name="Freeform 8" id="8"/>
            <p:cNvSpPr/>
            <p:nvPr/>
          </p:nvSpPr>
          <p:spPr>
            <a:xfrm flipH="false" flipV="false" rot="0">
              <a:off x="0" y="0"/>
              <a:ext cx="4637144" cy="1487426"/>
            </a:xfrm>
            <a:custGeom>
              <a:avLst/>
              <a:gdLst/>
              <a:ahLst/>
              <a:cxnLst/>
              <a:rect r="r" b="b" t="t" l="l"/>
              <a:pathLst>
                <a:path h="1487426" w="4637144">
                  <a:moveTo>
                    <a:pt x="13191" y="0"/>
                  </a:moveTo>
                  <a:lnTo>
                    <a:pt x="4623952" y="0"/>
                  </a:lnTo>
                  <a:cubicBezTo>
                    <a:pt x="4627451" y="0"/>
                    <a:pt x="4630806" y="1390"/>
                    <a:pt x="4633280" y="3864"/>
                  </a:cubicBezTo>
                  <a:cubicBezTo>
                    <a:pt x="4635754" y="6338"/>
                    <a:pt x="4637144" y="9693"/>
                    <a:pt x="4637144" y="13191"/>
                  </a:cubicBezTo>
                  <a:lnTo>
                    <a:pt x="4637144" y="1474234"/>
                  </a:lnTo>
                  <a:cubicBezTo>
                    <a:pt x="4637144" y="1477733"/>
                    <a:pt x="4635754" y="1481088"/>
                    <a:pt x="4633280" y="1483562"/>
                  </a:cubicBezTo>
                  <a:cubicBezTo>
                    <a:pt x="4630806" y="1486036"/>
                    <a:pt x="4627451" y="1487426"/>
                    <a:pt x="4623952" y="1487426"/>
                  </a:cubicBezTo>
                  <a:lnTo>
                    <a:pt x="13191" y="1487426"/>
                  </a:lnTo>
                  <a:cubicBezTo>
                    <a:pt x="9693" y="1487426"/>
                    <a:pt x="6338" y="1486036"/>
                    <a:pt x="3864" y="1483562"/>
                  </a:cubicBezTo>
                  <a:cubicBezTo>
                    <a:pt x="1390" y="1481088"/>
                    <a:pt x="0" y="1477733"/>
                    <a:pt x="0" y="1474234"/>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601726"/>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5119624"/>
            <a:ext cx="4073278" cy="763905"/>
          </a:xfrm>
          <a:prstGeom prst="rect">
            <a:avLst/>
          </a:prstGeom>
        </p:spPr>
        <p:txBody>
          <a:bodyPr anchor="t" rtlCol="false" tIns="0" lIns="0" bIns="0" rIns="0">
            <a:spAutoFit/>
          </a:bodyPr>
          <a:lstStyle/>
          <a:p>
            <a:pPr algn="l" marL="0" indent="0" lvl="0">
              <a:lnSpc>
                <a:spcPts val="5759"/>
              </a:lnSpc>
              <a:spcBef>
                <a:spcPct val="0"/>
              </a:spcBef>
            </a:pPr>
            <a:r>
              <a:rPr lang="en-US" sz="6000">
                <a:solidFill>
                  <a:srgbClr val="C4A679"/>
                </a:solidFill>
                <a:latin typeface="Noto Serif Display ExtraCondensed"/>
                <a:ea typeface="Noto Serif Display ExtraCondensed"/>
                <a:cs typeface="Noto Serif Display ExtraCondensed"/>
                <a:sym typeface="Noto Serif Display ExtraCondensed"/>
              </a:rPr>
              <a:t>02.NLRB</a:t>
            </a:r>
            <a:r>
              <a:rPr lang="en-US" sz="6000">
                <a:solidFill>
                  <a:srgbClr val="C4A679"/>
                </a:solidFill>
                <a:latin typeface="Noto Serif Display ExtraCondensed"/>
                <a:ea typeface="Noto Serif Display ExtraCondensed"/>
                <a:cs typeface="Noto Serif Display ExtraCondensed"/>
                <a:sym typeface="Noto Serif Display ExtraCondensed"/>
              </a:rPr>
              <a:t> </a:t>
            </a:r>
          </a:p>
        </p:txBody>
      </p:sp>
      <p:sp>
        <p:nvSpPr>
          <p:cNvPr name="TextBox 11" id="11"/>
          <p:cNvSpPr txBox="true"/>
          <p:nvPr/>
        </p:nvSpPr>
        <p:spPr>
          <a:xfrm rot="0">
            <a:off x="1381359" y="5759704"/>
            <a:ext cx="15458207" cy="3165476"/>
          </a:xfrm>
          <a:prstGeom prst="rect">
            <a:avLst/>
          </a:prstGeom>
        </p:spPr>
        <p:txBody>
          <a:bodyPr anchor="t" rtlCol="false" tIns="0" lIns="0" bIns="0" rIns="0">
            <a:spAutoFit/>
          </a:bodyPr>
          <a:lstStyle/>
          <a:p>
            <a:pPr algn="l" marL="539748" indent="-269874" lvl="1">
              <a:lnSpc>
                <a:spcPts val="4249"/>
              </a:lnSpc>
              <a:buFont typeface="Arial"/>
              <a:buChar char="•"/>
            </a:pPr>
            <a:r>
              <a:rPr lang="en-US" sz="2499">
                <a:solidFill>
                  <a:srgbClr val="CBCBCB">
                    <a:alpha val="69804"/>
                  </a:srgbClr>
                </a:solidFill>
                <a:latin typeface="Open Sans"/>
                <a:ea typeface="Open Sans"/>
                <a:cs typeface="Open Sans"/>
                <a:sym typeface="Open Sans"/>
              </a:rPr>
              <a:t>Digitalization should not be used to induce an employee to join a union or to vote against a union. </a:t>
            </a:r>
          </a:p>
          <a:p>
            <a:pPr algn="l" marL="539748" indent="-269874" lvl="1">
              <a:lnSpc>
                <a:spcPts val="4249"/>
              </a:lnSpc>
              <a:buFont typeface="Arial"/>
              <a:buChar char="•"/>
            </a:pPr>
            <a:r>
              <a:rPr lang="en-US" sz="2499">
                <a:solidFill>
                  <a:srgbClr val="CBCBCB">
                    <a:alpha val="69804"/>
                  </a:srgbClr>
                </a:solidFill>
                <a:latin typeface="Open Sans"/>
                <a:ea typeface="Open Sans"/>
                <a:cs typeface="Open Sans"/>
                <a:sym typeface="Open Sans"/>
              </a:rPr>
              <a:t>Digitalization should not be used to question or to spy on employees union activities. </a:t>
            </a:r>
          </a:p>
          <a:p>
            <a:pPr algn="l" marL="539748" indent="-269874" lvl="1">
              <a:lnSpc>
                <a:spcPts val="4249"/>
              </a:lnSpc>
              <a:buFont typeface="Arial"/>
              <a:buChar char="•"/>
            </a:pPr>
            <a:r>
              <a:rPr lang="en-US" sz="2499">
                <a:solidFill>
                  <a:srgbClr val="CBCBCB">
                    <a:alpha val="69804"/>
                  </a:srgbClr>
                </a:solidFill>
                <a:latin typeface="Open Sans"/>
                <a:ea typeface="Open Sans"/>
                <a:cs typeface="Open Sans"/>
                <a:sym typeface="Open Sans"/>
              </a:rPr>
              <a:t>Digitalization should not be used to record-keep interviews that employers  complete in preparation to their defense in an unfair labor practice case, unless they provide certain assurances.</a:t>
            </a:r>
          </a:p>
          <a:p>
            <a:pPr algn="l" marL="539748" indent="-269874" lvl="1">
              <a:lnSpc>
                <a:spcPts val="4249"/>
              </a:lnSpc>
              <a:buFont typeface="Arial"/>
              <a:buChar char="•"/>
            </a:pPr>
            <a:r>
              <a:rPr lang="en-US" sz="2499">
                <a:solidFill>
                  <a:srgbClr val="CBCBCB">
                    <a:alpha val="69804"/>
                  </a:srgbClr>
                </a:solidFill>
                <a:latin typeface="Open Sans"/>
                <a:ea typeface="Open Sans"/>
                <a:cs typeface="Open Sans"/>
                <a:sym typeface="Open Sans"/>
              </a:rPr>
              <a:t>Pictorial digital record-keeping may violate these rights by instilling fear in employees which impedes them from further participation.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62640" y="1636073"/>
            <a:ext cx="6219635" cy="18954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FEDERAL LEGAL REQUIREMENTS</a:t>
            </a:r>
          </a:p>
        </p:txBody>
      </p:sp>
      <p:grpSp>
        <p:nvGrpSpPr>
          <p:cNvPr name="Group 3" id="3"/>
          <p:cNvGrpSpPr/>
          <p:nvPr/>
        </p:nvGrpSpPr>
        <p:grpSpPr>
          <a:xfrm rot="0">
            <a:off x="14198425" y="325805"/>
            <a:ext cx="3060405" cy="3205743"/>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75891" y="0"/>
                  </a:moveTo>
                  <a:lnTo>
                    <a:pt x="554361" y="0"/>
                  </a:lnTo>
                  <a:cubicBezTo>
                    <a:pt x="596275" y="0"/>
                    <a:pt x="630252" y="33978"/>
                    <a:pt x="630252" y="75891"/>
                  </a:cubicBezTo>
                  <a:lnTo>
                    <a:pt x="630252" y="584292"/>
                  </a:lnTo>
                  <a:cubicBezTo>
                    <a:pt x="630252" y="604419"/>
                    <a:pt x="622257" y="623722"/>
                    <a:pt x="608024" y="637955"/>
                  </a:cubicBezTo>
                  <a:cubicBezTo>
                    <a:pt x="593792" y="652187"/>
                    <a:pt x="574489" y="660183"/>
                    <a:pt x="554361" y="660183"/>
                  </a:cubicBezTo>
                  <a:lnTo>
                    <a:pt x="75891" y="660183"/>
                  </a:lnTo>
                  <a:cubicBezTo>
                    <a:pt x="33978" y="660183"/>
                    <a:pt x="0" y="626205"/>
                    <a:pt x="0" y="584292"/>
                  </a:cubicBezTo>
                  <a:lnTo>
                    <a:pt x="0" y="75891"/>
                  </a:lnTo>
                  <a:cubicBezTo>
                    <a:pt x="0" y="33978"/>
                    <a:pt x="33978" y="0"/>
                    <a:pt x="75891"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2950615" cy="3205743"/>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78715" y="0"/>
                  </a:moveTo>
                  <a:lnTo>
                    <a:pt x="528927" y="0"/>
                  </a:lnTo>
                  <a:cubicBezTo>
                    <a:pt x="549804" y="0"/>
                    <a:pt x="569825" y="8293"/>
                    <a:pt x="584587" y="23055"/>
                  </a:cubicBezTo>
                  <a:cubicBezTo>
                    <a:pt x="599349" y="37817"/>
                    <a:pt x="607642" y="57838"/>
                    <a:pt x="607642" y="78715"/>
                  </a:cubicBezTo>
                  <a:lnTo>
                    <a:pt x="607642" y="581468"/>
                  </a:lnTo>
                  <a:cubicBezTo>
                    <a:pt x="607642" y="602344"/>
                    <a:pt x="599349" y="622366"/>
                    <a:pt x="584587" y="637128"/>
                  </a:cubicBezTo>
                  <a:cubicBezTo>
                    <a:pt x="569825" y="651890"/>
                    <a:pt x="549804" y="660183"/>
                    <a:pt x="528927" y="660183"/>
                  </a:cubicBezTo>
                  <a:lnTo>
                    <a:pt x="78715" y="660183"/>
                  </a:lnTo>
                  <a:cubicBezTo>
                    <a:pt x="57838" y="660183"/>
                    <a:pt x="37817" y="651890"/>
                    <a:pt x="23055" y="637128"/>
                  </a:cubicBezTo>
                  <a:cubicBezTo>
                    <a:pt x="8293" y="622366"/>
                    <a:pt x="0" y="602344"/>
                    <a:pt x="0" y="581468"/>
                  </a:cubicBezTo>
                  <a:lnTo>
                    <a:pt x="0" y="78715"/>
                  </a:lnTo>
                  <a:cubicBezTo>
                    <a:pt x="0" y="57838"/>
                    <a:pt x="8293" y="37817"/>
                    <a:pt x="23055" y="23055"/>
                  </a:cubicBezTo>
                  <a:cubicBezTo>
                    <a:pt x="37817" y="8293"/>
                    <a:pt x="57838" y="0"/>
                    <a:pt x="78715"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3822710"/>
            <a:ext cx="17606656" cy="6263323"/>
            <a:chOff x="0" y="0"/>
            <a:chExt cx="4637144" cy="1649599"/>
          </a:xfrm>
        </p:grpSpPr>
        <p:sp>
          <p:nvSpPr>
            <p:cNvPr name="Freeform 8" id="8"/>
            <p:cNvSpPr/>
            <p:nvPr/>
          </p:nvSpPr>
          <p:spPr>
            <a:xfrm flipH="false" flipV="false" rot="0">
              <a:off x="0" y="0"/>
              <a:ext cx="4637144" cy="1649599"/>
            </a:xfrm>
            <a:custGeom>
              <a:avLst/>
              <a:gdLst/>
              <a:ahLst/>
              <a:cxnLst/>
              <a:rect r="r" b="b" t="t" l="l"/>
              <a:pathLst>
                <a:path h="1649599" w="4637144">
                  <a:moveTo>
                    <a:pt x="13191" y="0"/>
                  </a:moveTo>
                  <a:lnTo>
                    <a:pt x="4623952" y="0"/>
                  </a:lnTo>
                  <a:cubicBezTo>
                    <a:pt x="4627451" y="0"/>
                    <a:pt x="4630806" y="1390"/>
                    <a:pt x="4633280" y="3864"/>
                  </a:cubicBezTo>
                  <a:cubicBezTo>
                    <a:pt x="4635754" y="6338"/>
                    <a:pt x="4637144" y="9693"/>
                    <a:pt x="4637144" y="13191"/>
                  </a:cubicBezTo>
                  <a:lnTo>
                    <a:pt x="4637144" y="1636408"/>
                  </a:lnTo>
                  <a:cubicBezTo>
                    <a:pt x="4637144" y="1643693"/>
                    <a:pt x="4631238" y="1649599"/>
                    <a:pt x="4623952" y="1649599"/>
                  </a:cubicBezTo>
                  <a:lnTo>
                    <a:pt x="13191" y="1649599"/>
                  </a:lnTo>
                  <a:cubicBezTo>
                    <a:pt x="9693" y="1649599"/>
                    <a:pt x="6338" y="1648209"/>
                    <a:pt x="3864" y="1645736"/>
                  </a:cubicBezTo>
                  <a:cubicBezTo>
                    <a:pt x="1390" y="1643262"/>
                    <a:pt x="0" y="1639906"/>
                    <a:pt x="0" y="1636408"/>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763899"/>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028700" y="4379595"/>
            <a:ext cx="7729103" cy="763905"/>
          </a:xfrm>
          <a:prstGeom prst="rect">
            <a:avLst/>
          </a:prstGeom>
        </p:spPr>
        <p:txBody>
          <a:bodyPr anchor="t" rtlCol="false" tIns="0" lIns="0" bIns="0" rIns="0">
            <a:spAutoFit/>
          </a:bodyPr>
          <a:lstStyle/>
          <a:p>
            <a:pPr algn="l" marL="0" indent="0" lvl="0">
              <a:lnSpc>
                <a:spcPts val="5759"/>
              </a:lnSpc>
              <a:spcBef>
                <a:spcPct val="0"/>
              </a:spcBef>
            </a:pPr>
            <a:r>
              <a:rPr lang="en-US" sz="6000">
                <a:solidFill>
                  <a:srgbClr val="C4A679"/>
                </a:solidFill>
                <a:latin typeface="Noto Serif Display ExtraCondensed"/>
                <a:ea typeface="Noto Serif Display ExtraCondensed"/>
                <a:cs typeface="Noto Serif Display ExtraCondensed"/>
                <a:sym typeface="Noto Serif Display ExtraCondensed"/>
              </a:rPr>
              <a:t>03.FTC</a:t>
            </a:r>
            <a:r>
              <a:rPr lang="en-US" sz="6000">
                <a:solidFill>
                  <a:srgbClr val="C4A679"/>
                </a:solidFill>
                <a:latin typeface="Noto Serif Display ExtraCondensed"/>
                <a:ea typeface="Noto Serif Display ExtraCondensed"/>
                <a:cs typeface="Noto Serif Display ExtraCondensed"/>
                <a:sym typeface="Noto Serif Display ExtraCondensed"/>
              </a:rPr>
              <a:t> DISPOSAL RULE</a:t>
            </a:r>
          </a:p>
        </p:txBody>
      </p:sp>
      <p:sp>
        <p:nvSpPr>
          <p:cNvPr name="TextBox 11" id="11"/>
          <p:cNvSpPr txBox="true"/>
          <p:nvPr/>
        </p:nvSpPr>
        <p:spPr>
          <a:xfrm rot="0">
            <a:off x="1282232" y="5048250"/>
            <a:ext cx="15458207" cy="4479925"/>
          </a:xfrm>
          <a:prstGeom prst="rect">
            <a:avLst/>
          </a:prstGeom>
        </p:spPr>
        <p:txBody>
          <a:bodyPr anchor="t" rtlCol="false" tIns="0" lIns="0" bIns="0" rIns="0">
            <a:spAutoFit/>
          </a:bodyPr>
          <a:lstStyle/>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Covers consumer reports and information derived from consumer reports</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Covers big and small businesses</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Practices must be reasonable and appropriate to prevent unauthorized use.</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Employers can burn, pulverize, or shred papers containing consumer report information so that the information cannot be read or reconstructed.</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Employers can destroy or erase electronic files or media containing consumer report information so that the information cannot be read or reconstructed.</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Employers can conduct due diligence and hire a document destruction contractor to dispose of it.</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Due diligence can be met by reviewing an independent audit of a disposal company’s operations or its compliance with this rule.</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The disposal company’s ability can be measured by references, certification by a recognized trade association, or reviewing and evaluating their information security policies and procedures.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563836"/>
            <a:ext cx="14270824" cy="521970"/>
          </a:xfrm>
          <a:prstGeom prst="rect">
            <a:avLst/>
          </a:prstGeom>
        </p:spPr>
        <p:txBody>
          <a:bodyPr anchor="t" rtlCol="false" tIns="0" lIns="0" bIns="0" rIns="0">
            <a:spAutoFit/>
          </a:bodyPr>
          <a:lstStyle/>
          <a:p>
            <a:pPr algn="l" marL="0" indent="0" lvl="0">
              <a:lnSpc>
                <a:spcPts val="3839"/>
              </a:lnSpc>
              <a:spcBef>
                <a:spcPct val="0"/>
              </a:spcBef>
            </a:pPr>
            <a:r>
              <a:rPr lang="en-US" sz="3999">
                <a:solidFill>
                  <a:srgbClr val="C4A679"/>
                </a:solidFill>
                <a:latin typeface="Noto Serif Display ExtraCondensed"/>
                <a:ea typeface="Noto Serif Display ExtraCondensed"/>
                <a:cs typeface="Noto Serif Display ExtraCondensed"/>
                <a:sym typeface="Noto Serif Display ExtraCondensed"/>
              </a:rPr>
              <a:t>GENERAL SHIELD ACT (N.Y. Gen. Bus. Law §§ 899-aa, 899-bb)</a:t>
            </a:r>
          </a:p>
        </p:txBody>
      </p:sp>
      <p:sp>
        <p:nvSpPr>
          <p:cNvPr name="TextBox 11" id="11"/>
          <p:cNvSpPr txBox="true"/>
          <p:nvPr/>
        </p:nvSpPr>
        <p:spPr>
          <a:xfrm rot="0">
            <a:off x="1381359" y="7125810"/>
            <a:ext cx="10008819" cy="254952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Includes social security numbers, </a:t>
            </a:r>
            <a:r>
              <a:rPr lang="en-US" sz="2000">
                <a:solidFill>
                  <a:srgbClr val="CBCBCB">
                    <a:alpha val="69804"/>
                  </a:srgbClr>
                </a:solidFill>
                <a:latin typeface="Open Sans"/>
                <a:ea typeface="Open Sans"/>
                <a:cs typeface="Open Sans"/>
                <a:sym typeface="Open Sans"/>
              </a:rPr>
              <a:t>driver’s license numbers, account numbers, biometric information, usernames, email addresses, and password information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Requires companies to</a:t>
            </a:r>
            <a:r>
              <a:rPr lang="en-US" sz="2000">
                <a:solidFill>
                  <a:srgbClr val="CBCBCB">
                    <a:alpha val="69804"/>
                  </a:srgbClr>
                </a:solidFill>
                <a:latin typeface="Open Sans"/>
                <a:ea typeface="Open Sans"/>
                <a:cs typeface="Open Sans"/>
                <a:sym typeface="Open Sans"/>
              </a:rPr>
              <a:t> develop, implement, and maintain reasonable safeguards to protect the security, confidentiality, and integrity of private information</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Requires breach notification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563836"/>
            <a:ext cx="16015292" cy="440055"/>
          </a:xfrm>
          <a:prstGeom prst="rect">
            <a:avLst/>
          </a:prstGeom>
        </p:spPr>
        <p:txBody>
          <a:bodyPr anchor="t" rtlCol="false" tIns="0" lIns="0" bIns="0" rIns="0">
            <a:spAutoFit/>
          </a:bodyPr>
          <a:lstStyle/>
          <a:p>
            <a:pPr algn="l" marL="0" indent="0" lvl="0">
              <a:lnSpc>
                <a:spcPts val="3360"/>
              </a:lnSpc>
              <a:spcBef>
                <a:spcPct val="0"/>
              </a:spcBef>
            </a:pPr>
            <a:r>
              <a:rPr lang="en-US" sz="3500">
                <a:solidFill>
                  <a:srgbClr val="C4A679"/>
                </a:solidFill>
                <a:latin typeface="Noto Serif Display ExtraCondensed"/>
                <a:ea typeface="Noto Serif Display ExtraCondensed"/>
                <a:cs typeface="Noto Serif Display ExtraCondensed"/>
                <a:sym typeface="Noto Serif Display ExtraCondensed"/>
              </a:rPr>
              <a:t>SHIELD POTENTIAL ADMINISTRATIVE SAFEGUARDS (N.Y. Gen. Bus. Law §§ 899-aa, 899-bb)</a:t>
            </a:r>
          </a:p>
        </p:txBody>
      </p:sp>
      <p:sp>
        <p:nvSpPr>
          <p:cNvPr name="TextBox 11" id="11"/>
          <p:cNvSpPr txBox="true"/>
          <p:nvPr/>
        </p:nvSpPr>
        <p:spPr>
          <a:xfrm rot="0">
            <a:off x="1381359" y="7154385"/>
            <a:ext cx="11955029" cy="2628900"/>
          </a:xfrm>
          <a:prstGeom prst="rect">
            <a:avLst/>
          </a:prstGeom>
        </p:spPr>
        <p:txBody>
          <a:bodyPr anchor="t" rtlCol="false" tIns="0" lIns="0" bIns="0" rIns="0">
            <a:spAutoFit/>
          </a:bodyPr>
          <a:lstStyle/>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designate one or more employees to coordinate the security program.</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identify </a:t>
            </a:r>
            <a:r>
              <a:rPr lang="en-US" sz="1800">
                <a:solidFill>
                  <a:srgbClr val="CBCBCB">
                    <a:alpha val="69804"/>
                  </a:srgbClr>
                </a:solidFill>
                <a:latin typeface="Open Sans"/>
                <a:ea typeface="Open Sans"/>
                <a:cs typeface="Open Sans"/>
                <a:sym typeface="Open Sans"/>
              </a:rPr>
              <a:t>reasonably foreseeable internal and external risks.</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assess </a:t>
            </a:r>
            <a:r>
              <a:rPr lang="en-US" sz="1800">
                <a:solidFill>
                  <a:srgbClr val="CBCBCB">
                    <a:alpha val="69804"/>
                  </a:srgbClr>
                </a:solidFill>
                <a:latin typeface="Open Sans"/>
                <a:ea typeface="Open Sans"/>
                <a:cs typeface="Open Sans"/>
                <a:sym typeface="Open Sans"/>
              </a:rPr>
              <a:t>the sufficiency of safeguards in place to control the identified risks.</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t</a:t>
            </a:r>
            <a:r>
              <a:rPr lang="en-US" sz="1800">
                <a:solidFill>
                  <a:srgbClr val="CBCBCB">
                    <a:alpha val="69804"/>
                  </a:srgbClr>
                </a:solidFill>
                <a:latin typeface="Open Sans"/>
                <a:ea typeface="Open Sans"/>
                <a:cs typeface="Open Sans"/>
                <a:sym typeface="Open Sans"/>
              </a:rPr>
              <a:t>rain and manage employees in the security program's practices and procedures.</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s</a:t>
            </a:r>
            <a:r>
              <a:rPr lang="en-US" sz="1800">
                <a:solidFill>
                  <a:srgbClr val="CBCBCB">
                    <a:alpha val="69804"/>
                  </a:srgbClr>
                </a:solidFill>
                <a:latin typeface="Open Sans"/>
                <a:ea typeface="Open Sans"/>
                <a:cs typeface="Open Sans"/>
                <a:sym typeface="Open Sans"/>
              </a:rPr>
              <a:t>elect service providers capable of maintaining appropriate safeguards.</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r</a:t>
            </a:r>
            <a:r>
              <a:rPr lang="en-US" sz="1800">
                <a:solidFill>
                  <a:srgbClr val="CBCBCB">
                    <a:alpha val="69804"/>
                  </a:srgbClr>
                </a:solidFill>
                <a:latin typeface="Open Sans"/>
                <a:ea typeface="Open Sans"/>
                <a:cs typeface="Open Sans"/>
                <a:sym typeface="Open Sans"/>
              </a:rPr>
              <a:t>equire safeguards by contract.</a:t>
            </a:r>
          </a:p>
          <a:p>
            <a:pPr algn="l" marL="388620" indent="-194310" lvl="1">
              <a:lnSpc>
                <a:spcPts val="3060"/>
              </a:lnSpc>
              <a:buFont typeface="Arial"/>
              <a:buChar char="•"/>
            </a:pPr>
            <a:r>
              <a:rPr lang="en-US" sz="1800">
                <a:solidFill>
                  <a:srgbClr val="CBCBCB">
                    <a:alpha val="69804"/>
                  </a:srgbClr>
                </a:solidFill>
                <a:latin typeface="Open Sans"/>
                <a:ea typeface="Open Sans"/>
                <a:cs typeface="Open Sans"/>
                <a:sym typeface="Open Sans"/>
              </a:rPr>
              <a:t>Entities can adjust </a:t>
            </a:r>
            <a:r>
              <a:rPr lang="en-US" sz="1800">
                <a:solidFill>
                  <a:srgbClr val="CBCBCB">
                    <a:alpha val="69804"/>
                  </a:srgbClr>
                </a:solidFill>
                <a:latin typeface="Open Sans"/>
                <a:ea typeface="Open Sans"/>
                <a:cs typeface="Open Sans"/>
                <a:sym typeface="Open Sans"/>
              </a:rPr>
              <a:t>the security program as necessary to reflect business changes or new circumstances.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563836"/>
            <a:ext cx="16565968" cy="521970"/>
          </a:xfrm>
          <a:prstGeom prst="rect">
            <a:avLst/>
          </a:prstGeom>
        </p:spPr>
        <p:txBody>
          <a:bodyPr anchor="t" rtlCol="false" tIns="0" lIns="0" bIns="0" rIns="0">
            <a:spAutoFit/>
          </a:bodyPr>
          <a:lstStyle/>
          <a:p>
            <a:pPr algn="l" marL="0" indent="0" lvl="0">
              <a:lnSpc>
                <a:spcPts val="3839"/>
              </a:lnSpc>
              <a:spcBef>
                <a:spcPct val="0"/>
              </a:spcBef>
            </a:pPr>
            <a:r>
              <a:rPr lang="en-US" sz="3999">
                <a:solidFill>
                  <a:srgbClr val="C4A679"/>
                </a:solidFill>
                <a:latin typeface="Noto Serif Display ExtraCondensed"/>
                <a:ea typeface="Noto Serif Display ExtraCondensed"/>
                <a:cs typeface="Noto Serif Display ExtraCondensed"/>
                <a:sym typeface="Noto Serif Display ExtraCondensed"/>
              </a:rPr>
              <a:t>SHIELD </a:t>
            </a:r>
            <a:r>
              <a:rPr lang="en-US" sz="3999">
                <a:solidFill>
                  <a:srgbClr val="C4A679"/>
                </a:solidFill>
                <a:latin typeface="Noto Serif Display ExtraCondensed"/>
                <a:ea typeface="Noto Serif Display ExtraCondensed"/>
                <a:cs typeface="Noto Serif Display ExtraCondensed"/>
                <a:sym typeface="Noto Serif Display ExtraCondensed"/>
              </a:rPr>
              <a:t>POTENTIAL TECHNICAL SAFEGUARDS (N.Y. Gen. Bus. Law §§ 899-aa, 899-bb)</a:t>
            </a:r>
          </a:p>
        </p:txBody>
      </p:sp>
      <p:sp>
        <p:nvSpPr>
          <p:cNvPr name="TextBox 11" id="11"/>
          <p:cNvSpPr txBox="true"/>
          <p:nvPr/>
        </p:nvSpPr>
        <p:spPr>
          <a:xfrm rot="0">
            <a:off x="1381359" y="7135335"/>
            <a:ext cx="10305385" cy="2111375"/>
          </a:xfrm>
          <a:prstGeom prst="rect">
            <a:avLst/>
          </a:prstGeom>
        </p:spPr>
        <p:txBody>
          <a:bodyPr anchor="t" rtlCol="false" tIns="0" lIns="0" bIns="0" rIns="0">
            <a:spAutoFit/>
          </a:bodyPr>
          <a:lstStyle/>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Entities can measure</a:t>
            </a:r>
            <a:r>
              <a:rPr lang="en-US" sz="1999">
                <a:solidFill>
                  <a:srgbClr val="CBCBCB">
                    <a:alpha val="69804"/>
                  </a:srgbClr>
                </a:solidFill>
                <a:latin typeface="Open Sans"/>
                <a:ea typeface="Open Sans"/>
                <a:cs typeface="Open Sans"/>
                <a:sym typeface="Open Sans"/>
              </a:rPr>
              <a:t> risks in network and </a:t>
            </a:r>
            <a:r>
              <a:rPr lang="en-US" sz="1999">
                <a:solidFill>
                  <a:srgbClr val="CBCBCB">
                    <a:alpha val="69804"/>
                  </a:srgbClr>
                </a:solidFill>
                <a:latin typeface="Open Sans"/>
                <a:ea typeface="Open Sans"/>
                <a:cs typeface="Open Sans"/>
                <a:sym typeface="Open Sans"/>
              </a:rPr>
              <a:t>software design.</a:t>
            </a:r>
          </a:p>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Entities can measure r</a:t>
            </a:r>
            <a:r>
              <a:rPr lang="en-US" sz="1999">
                <a:solidFill>
                  <a:srgbClr val="CBCBCB">
                    <a:alpha val="69804"/>
                  </a:srgbClr>
                </a:solidFill>
                <a:latin typeface="Open Sans"/>
                <a:ea typeface="Open Sans"/>
                <a:cs typeface="Open Sans"/>
                <a:sym typeface="Open Sans"/>
              </a:rPr>
              <a:t>isks in information processing, transmission, and storage.</a:t>
            </a:r>
          </a:p>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Entities can d</a:t>
            </a:r>
            <a:r>
              <a:rPr lang="en-US" sz="1999">
                <a:solidFill>
                  <a:srgbClr val="CBCBCB">
                    <a:alpha val="69804"/>
                  </a:srgbClr>
                </a:solidFill>
                <a:latin typeface="Open Sans"/>
                <a:ea typeface="Open Sans"/>
                <a:cs typeface="Open Sans"/>
                <a:sym typeface="Open Sans"/>
              </a:rPr>
              <a:t>etect, prevent, and respon</a:t>
            </a:r>
            <a:r>
              <a:rPr lang="en-US" sz="1999">
                <a:solidFill>
                  <a:srgbClr val="CBCBCB">
                    <a:alpha val="69804"/>
                  </a:srgbClr>
                </a:solidFill>
                <a:latin typeface="Open Sans"/>
                <a:ea typeface="Open Sans"/>
                <a:cs typeface="Open Sans"/>
                <a:sym typeface="Open Sans"/>
              </a:rPr>
              <a:t>d</a:t>
            </a:r>
            <a:r>
              <a:rPr lang="en-US" sz="1999">
                <a:solidFill>
                  <a:srgbClr val="CBCBCB">
                    <a:alpha val="69804"/>
                  </a:srgbClr>
                </a:solidFill>
                <a:latin typeface="Open Sans"/>
                <a:ea typeface="Open Sans"/>
                <a:cs typeface="Open Sans"/>
                <a:sym typeface="Open Sans"/>
              </a:rPr>
              <a:t> to attacks or system failures.</a:t>
            </a:r>
          </a:p>
          <a:p>
            <a:pPr algn="l" marL="431799" indent="-215899" lvl="1">
              <a:lnSpc>
                <a:spcPts val="3399"/>
              </a:lnSpc>
              <a:buFont typeface="Arial"/>
              <a:buChar char="•"/>
            </a:pPr>
            <a:r>
              <a:rPr lang="en-US" sz="1999" strike="noStrike" u="none">
                <a:solidFill>
                  <a:srgbClr val="CBCBCB">
                    <a:alpha val="69804"/>
                  </a:srgbClr>
                </a:solidFill>
                <a:latin typeface="Open Sans"/>
                <a:ea typeface="Open Sans"/>
                <a:cs typeface="Open Sans"/>
                <a:sym typeface="Open Sans"/>
              </a:rPr>
              <a:t>Entities can regularly test and monitor the effectiveness of key controls, systems, and procedures.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563836"/>
            <a:ext cx="16070898" cy="521970"/>
          </a:xfrm>
          <a:prstGeom prst="rect">
            <a:avLst/>
          </a:prstGeom>
        </p:spPr>
        <p:txBody>
          <a:bodyPr anchor="t" rtlCol="false" tIns="0" lIns="0" bIns="0" rIns="0">
            <a:spAutoFit/>
          </a:bodyPr>
          <a:lstStyle/>
          <a:p>
            <a:pPr algn="l" marL="0" indent="0" lvl="0">
              <a:lnSpc>
                <a:spcPts val="3839"/>
              </a:lnSpc>
              <a:spcBef>
                <a:spcPct val="0"/>
              </a:spcBef>
            </a:pPr>
            <a:r>
              <a:rPr lang="en-US" sz="3999">
                <a:solidFill>
                  <a:srgbClr val="C4A679"/>
                </a:solidFill>
                <a:latin typeface="Noto Serif Display ExtraCondensed"/>
                <a:ea typeface="Noto Serif Display ExtraCondensed"/>
                <a:cs typeface="Noto Serif Display ExtraCondensed"/>
                <a:sym typeface="Noto Serif Display ExtraCondensed"/>
              </a:rPr>
              <a:t>SHIELD </a:t>
            </a:r>
            <a:r>
              <a:rPr lang="en-US" sz="3999">
                <a:solidFill>
                  <a:srgbClr val="C4A679"/>
                </a:solidFill>
                <a:latin typeface="Noto Serif Display ExtraCondensed"/>
                <a:ea typeface="Noto Serif Display ExtraCondensed"/>
                <a:cs typeface="Noto Serif Display ExtraCondensed"/>
                <a:sym typeface="Noto Serif Display ExtraCondensed"/>
              </a:rPr>
              <a:t>POTENTIAL PHYSICAL SAFEGUARDS (N.Y. Gen. Bus. Law §§ 899-aa, 899-bb)</a:t>
            </a:r>
          </a:p>
        </p:txBody>
      </p:sp>
      <p:sp>
        <p:nvSpPr>
          <p:cNvPr name="TextBox 11" id="11"/>
          <p:cNvSpPr txBox="true"/>
          <p:nvPr/>
        </p:nvSpPr>
        <p:spPr>
          <a:xfrm rot="0">
            <a:off x="1381359" y="7135335"/>
            <a:ext cx="11381459" cy="2111375"/>
          </a:xfrm>
          <a:prstGeom prst="rect">
            <a:avLst/>
          </a:prstGeom>
        </p:spPr>
        <p:txBody>
          <a:bodyPr anchor="t" rtlCol="false" tIns="0" lIns="0" bIns="0" rIns="0">
            <a:spAutoFit/>
          </a:bodyPr>
          <a:lstStyle/>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Entities can protect </a:t>
            </a:r>
            <a:r>
              <a:rPr lang="en-US" sz="1999">
                <a:solidFill>
                  <a:srgbClr val="CBCBCB">
                    <a:alpha val="69804"/>
                  </a:srgbClr>
                </a:solidFill>
                <a:latin typeface="Open Sans"/>
                <a:ea typeface="Open Sans"/>
                <a:cs typeface="Open Sans"/>
                <a:sym typeface="Open Sans"/>
              </a:rPr>
              <a:t>against unauthorized access or use of private information, du</a:t>
            </a:r>
            <a:r>
              <a:rPr lang="en-US" sz="1999">
                <a:solidFill>
                  <a:srgbClr val="CBCBCB">
                    <a:alpha val="69804"/>
                  </a:srgbClr>
                </a:solidFill>
                <a:latin typeface="Open Sans"/>
                <a:ea typeface="Open Sans"/>
                <a:cs typeface="Open Sans"/>
                <a:sym typeface="Open Sans"/>
              </a:rPr>
              <a:t>ring or after, the collection, transportation, and destruction or disposal of information.</a:t>
            </a:r>
          </a:p>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Entities can dispose o</a:t>
            </a:r>
            <a:r>
              <a:rPr lang="en-US" sz="1999">
                <a:solidFill>
                  <a:srgbClr val="CBCBCB">
                    <a:alpha val="69804"/>
                  </a:srgbClr>
                </a:solidFill>
                <a:latin typeface="Open Sans"/>
                <a:ea typeface="Open Sans"/>
                <a:cs typeface="Open Sans"/>
                <a:sym typeface="Open Sans"/>
              </a:rPr>
              <a:t>f private information within a reasonable amount of time after it is no longer needed for business purposes by erasing electronic media so tha</a:t>
            </a:r>
            <a:r>
              <a:rPr lang="en-US" sz="1999">
                <a:solidFill>
                  <a:srgbClr val="CBCBCB">
                    <a:alpha val="69804"/>
                  </a:srgbClr>
                </a:solidFill>
                <a:latin typeface="Open Sans"/>
                <a:ea typeface="Open Sans"/>
                <a:cs typeface="Open Sans"/>
                <a:sym typeface="Open Sans"/>
              </a:rPr>
              <a:t>t </a:t>
            </a:r>
            <a:r>
              <a:rPr lang="en-US" sz="1999">
                <a:solidFill>
                  <a:srgbClr val="CBCBCB">
                    <a:alpha val="69804"/>
                  </a:srgbClr>
                </a:solidFill>
                <a:latin typeface="Open Sans"/>
                <a:ea typeface="Open Sans"/>
                <a:cs typeface="Open Sans"/>
                <a:sym typeface="Open Sans"/>
              </a:rPr>
              <a:t>the information cannot be read or reconstructed.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374770"/>
            <a:ext cx="13401810" cy="1623060"/>
          </a:xfrm>
          <a:prstGeom prst="rect">
            <a:avLst/>
          </a:prstGeom>
        </p:spPr>
        <p:txBody>
          <a:bodyPr anchor="t" rtlCol="false" tIns="0" lIns="0" bIns="0" rIns="0">
            <a:spAutoFit/>
          </a:bodyPr>
          <a:lstStyle/>
          <a:p>
            <a:pPr algn="l">
              <a:lnSpc>
                <a:spcPts val="3839"/>
              </a:lnSpc>
            </a:pPr>
            <a:r>
              <a:rPr lang="en-US" sz="3999">
                <a:solidFill>
                  <a:srgbClr val="C4A679"/>
                </a:solidFill>
                <a:latin typeface="Noto Serif Display ExtraCondensed"/>
                <a:ea typeface="Noto Serif Display ExtraCondensed"/>
                <a:cs typeface="Noto Serif Display ExtraCondensed"/>
                <a:sym typeface="Noto Serif Display ExtraCondensed"/>
              </a:rPr>
              <a:t>ELECTRONIC SIGNATURES AND RECORDS ACT (N.Y. State Tech. Law §§ 301–309)</a:t>
            </a:r>
          </a:p>
          <a:p>
            <a:pPr algn="l" marL="0" indent="0" lvl="0">
              <a:lnSpc>
                <a:spcPts val="4799"/>
              </a:lnSpc>
              <a:spcBef>
                <a:spcPct val="0"/>
              </a:spcBef>
            </a:pPr>
          </a:p>
        </p:txBody>
      </p:sp>
      <p:sp>
        <p:nvSpPr>
          <p:cNvPr name="TextBox 11" id="11"/>
          <p:cNvSpPr txBox="true"/>
          <p:nvPr/>
        </p:nvSpPr>
        <p:spPr>
          <a:xfrm rot="0">
            <a:off x="1381359" y="7246547"/>
            <a:ext cx="12344271" cy="2540000"/>
          </a:xfrm>
          <a:prstGeom prst="rect">
            <a:avLst/>
          </a:prstGeom>
        </p:spPr>
        <p:txBody>
          <a:bodyPr anchor="t" rtlCol="false" tIns="0" lIns="0" bIns="0" rIns="0">
            <a:spAutoFit/>
          </a:bodyPr>
          <a:lstStyle/>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Considering new </a:t>
            </a:r>
            <a:r>
              <a:rPr lang="en-US" sz="1999">
                <a:solidFill>
                  <a:srgbClr val="CBCBCB">
                    <a:alpha val="69804"/>
                  </a:srgbClr>
                </a:solidFill>
                <a:latin typeface="Open Sans"/>
                <a:ea typeface="Open Sans"/>
                <a:cs typeface="Open Sans"/>
                <a:sym typeface="Open Sans"/>
              </a:rPr>
              <a:t>technologies are frequently being introduced, the Office of Information Technology Services </a:t>
            </a:r>
            <a:r>
              <a:rPr lang="en-US" sz="1999">
                <a:solidFill>
                  <a:srgbClr val="CBCBCB">
                    <a:alpha val="69804"/>
                  </a:srgbClr>
                </a:solidFill>
                <a:latin typeface="Open Sans"/>
                <a:ea typeface="Open Sans"/>
                <a:cs typeface="Open Sans"/>
                <a:sym typeface="Open Sans"/>
              </a:rPr>
              <a:t>shall conduct periodic rev</a:t>
            </a:r>
            <a:r>
              <a:rPr lang="en-US" sz="1999">
                <a:solidFill>
                  <a:srgbClr val="CBCBCB">
                    <a:alpha val="69804"/>
                  </a:srgbClr>
                </a:solidFill>
                <a:latin typeface="Open Sans"/>
                <a:ea typeface="Open Sans"/>
                <a:cs typeface="Open Sans"/>
                <a:sym typeface="Open Sans"/>
              </a:rPr>
              <a:t>iews o</a:t>
            </a:r>
            <a:r>
              <a:rPr lang="en-US" sz="1999">
                <a:solidFill>
                  <a:srgbClr val="CBCBCB">
                    <a:alpha val="69804"/>
                  </a:srgbClr>
                </a:solidFill>
                <a:latin typeface="Open Sans"/>
                <a:ea typeface="Open Sans"/>
                <a:cs typeface="Open Sans"/>
                <a:sym typeface="Open Sans"/>
              </a:rPr>
              <a:t>f the regulations to ensure that the regulations facilitate and promote the use of technological advancements and address privacy and confidentiality issues, so entities who utilize digitalization should monitor for updates. </a:t>
            </a:r>
          </a:p>
          <a:p>
            <a:pPr algn="l" marL="431799" indent="-215899" lvl="1">
              <a:lnSpc>
                <a:spcPts val="3399"/>
              </a:lnSpc>
              <a:buFont typeface="Arial"/>
              <a:buChar char="•"/>
            </a:pPr>
            <a:r>
              <a:rPr lang="en-US" sz="1999">
                <a:solidFill>
                  <a:srgbClr val="CBCBCB">
                    <a:alpha val="69804"/>
                  </a:srgbClr>
                </a:solidFill>
                <a:latin typeface="Open Sans"/>
                <a:ea typeface="Open Sans"/>
                <a:cs typeface="Open Sans"/>
                <a:sym typeface="Open Sans"/>
              </a:rPr>
              <a:t>Electronic records used by a person have the same force and effect as records not electronically produced.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sp>
        <p:nvSpPr>
          <p:cNvPr name="TextBox 2" id="2"/>
          <p:cNvSpPr txBox="true"/>
          <p:nvPr/>
        </p:nvSpPr>
        <p:spPr>
          <a:xfrm rot="0">
            <a:off x="887761" y="1927235"/>
            <a:ext cx="6219635" cy="2809875"/>
          </a:xfrm>
          <a:prstGeom prst="rect">
            <a:avLst/>
          </a:prstGeom>
        </p:spPr>
        <p:txBody>
          <a:bodyPr anchor="t" rtlCol="false" tIns="0" lIns="0" bIns="0" rIns="0">
            <a:spAutoFit/>
          </a:bodyPr>
          <a:lstStyle/>
          <a:p>
            <a:pPr algn="l" marL="0" indent="0" lvl="0">
              <a:lnSpc>
                <a:spcPts val="7200"/>
              </a:lnSpc>
              <a:spcBef>
                <a:spcPct val="0"/>
              </a:spcBef>
            </a:pPr>
            <a:r>
              <a:rPr lang="en-US" sz="7500">
                <a:solidFill>
                  <a:srgbClr val="C4A679"/>
                </a:solidFill>
                <a:latin typeface="Noto Serif Display ExtraCondensed"/>
                <a:ea typeface="Noto Serif Display ExtraCondensed"/>
                <a:cs typeface="Noto Serif Display ExtraCondensed"/>
                <a:sym typeface="Noto Serif Display ExtraCondensed"/>
              </a:rPr>
              <a:t>NEW YORK (HQ)</a:t>
            </a:r>
            <a:r>
              <a:rPr lang="en-US" sz="7500">
                <a:solidFill>
                  <a:srgbClr val="C4A679"/>
                </a:solidFill>
                <a:latin typeface="Noto Serif Display ExtraCondensed"/>
                <a:ea typeface="Noto Serif Display ExtraCondensed"/>
                <a:cs typeface="Noto Serif Display ExtraCondensed"/>
                <a:sym typeface="Noto Serif Display ExtraCondensed"/>
              </a:rPr>
              <a:t> </a:t>
            </a:r>
            <a:r>
              <a:rPr lang="en-US" sz="7500">
                <a:solidFill>
                  <a:srgbClr val="C4A679"/>
                </a:solidFill>
                <a:latin typeface="Noto Serif Display ExtraCondensed"/>
                <a:ea typeface="Noto Serif Display ExtraCondensed"/>
                <a:cs typeface="Noto Serif Display ExtraCondensed"/>
                <a:sym typeface="Noto Serif Display ExtraCondensed"/>
              </a:rPr>
              <a:t>LEGAL REQUIREMENTS</a:t>
            </a:r>
          </a:p>
        </p:txBody>
      </p:sp>
      <p:grpSp>
        <p:nvGrpSpPr>
          <p:cNvPr name="Group 3" id="3"/>
          <p:cNvGrpSpPr/>
          <p:nvPr/>
        </p:nvGrpSpPr>
        <p:grpSpPr>
          <a:xfrm rot="0">
            <a:off x="12762818" y="325805"/>
            <a:ext cx="5238251" cy="5487015"/>
            <a:chOff x="0" y="0"/>
            <a:chExt cx="630252" cy="660183"/>
          </a:xfrm>
        </p:grpSpPr>
        <p:sp>
          <p:nvSpPr>
            <p:cNvPr name="Freeform 4" id="4"/>
            <p:cNvSpPr/>
            <p:nvPr/>
          </p:nvSpPr>
          <p:spPr>
            <a:xfrm flipH="false" flipV="false" rot="0">
              <a:off x="0" y="0"/>
              <a:ext cx="630252" cy="660183"/>
            </a:xfrm>
            <a:custGeom>
              <a:avLst/>
              <a:gdLst/>
              <a:ahLst/>
              <a:cxnLst/>
              <a:rect r="r" b="b" t="t" l="l"/>
              <a:pathLst>
                <a:path h="660183" w="630252">
                  <a:moveTo>
                    <a:pt x="44339" y="0"/>
                  </a:moveTo>
                  <a:lnTo>
                    <a:pt x="585914" y="0"/>
                  </a:lnTo>
                  <a:cubicBezTo>
                    <a:pt x="610401" y="0"/>
                    <a:pt x="630252" y="19851"/>
                    <a:pt x="630252" y="44339"/>
                  </a:cubicBezTo>
                  <a:lnTo>
                    <a:pt x="630252" y="615844"/>
                  </a:lnTo>
                  <a:cubicBezTo>
                    <a:pt x="630252" y="627603"/>
                    <a:pt x="625581" y="638881"/>
                    <a:pt x="617266" y="647196"/>
                  </a:cubicBezTo>
                  <a:cubicBezTo>
                    <a:pt x="608951" y="655511"/>
                    <a:pt x="597673" y="660183"/>
                    <a:pt x="585914" y="660183"/>
                  </a:cubicBezTo>
                  <a:lnTo>
                    <a:pt x="44339" y="660183"/>
                  </a:lnTo>
                  <a:cubicBezTo>
                    <a:pt x="32579" y="660183"/>
                    <a:pt x="21302" y="655511"/>
                    <a:pt x="12987" y="647196"/>
                  </a:cubicBezTo>
                  <a:cubicBezTo>
                    <a:pt x="4671" y="638881"/>
                    <a:pt x="0" y="627603"/>
                    <a:pt x="0" y="615844"/>
                  </a:cubicBezTo>
                  <a:lnTo>
                    <a:pt x="0" y="44339"/>
                  </a:lnTo>
                  <a:cubicBezTo>
                    <a:pt x="0" y="32579"/>
                    <a:pt x="4671" y="21302"/>
                    <a:pt x="12987" y="12987"/>
                  </a:cubicBezTo>
                  <a:cubicBezTo>
                    <a:pt x="21302" y="4671"/>
                    <a:pt x="32579" y="0"/>
                    <a:pt x="44339" y="0"/>
                  </a:cubicBezTo>
                  <a:close/>
                </a:path>
              </a:pathLst>
            </a:custGeom>
            <a:blipFill>
              <a:blip r:embed="rId2"/>
              <a:stretch>
                <a:fillRect l="-42561" t="-7059" r="-37394" b="-7400"/>
              </a:stretch>
            </a:blipFill>
            <a:ln w="38100" cap="rnd">
              <a:solidFill>
                <a:srgbClr val="39270C"/>
              </a:solidFill>
              <a:prstDash val="solid"/>
              <a:round/>
            </a:ln>
          </p:spPr>
        </p:sp>
      </p:grpSp>
      <p:grpSp>
        <p:nvGrpSpPr>
          <p:cNvPr name="Group 5" id="5"/>
          <p:cNvGrpSpPr/>
          <p:nvPr/>
        </p:nvGrpSpPr>
        <p:grpSpPr>
          <a:xfrm rot="0">
            <a:off x="7536028" y="325805"/>
            <a:ext cx="5050332" cy="5487015"/>
            <a:chOff x="0" y="0"/>
            <a:chExt cx="607642" cy="660183"/>
          </a:xfrm>
        </p:grpSpPr>
        <p:sp>
          <p:nvSpPr>
            <p:cNvPr name="Freeform 6" id="6"/>
            <p:cNvSpPr/>
            <p:nvPr/>
          </p:nvSpPr>
          <p:spPr>
            <a:xfrm flipH="false" flipV="false" rot="0">
              <a:off x="0" y="0"/>
              <a:ext cx="607642" cy="660183"/>
            </a:xfrm>
            <a:custGeom>
              <a:avLst/>
              <a:gdLst/>
              <a:ahLst/>
              <a:cxnLst/>
              <a:rect r="r" b="b" t="t" l="l"/>
              <a:pathLst>
                <a:path h="660183" w="607642">
                  <a:moveTo>
                    <a:pt x="45989" y="0"/>
                  </a:moveTo>
                  <a:lnTo>
                    <a:pt x="561654" y="0"/>
                  </a:lnTo>
                  <a:cubicBezTo>
                    <a:pt x="587053" y="0"/>
                    <a:pt x="607642" y="20590"/>
                    <a:pt x="607642" y="45989"/>
                  </a:cubicBezTo>
                  <a:lnTo>
                    <a:pt x="607642" y="614194"/>
                  </a:lnTo>
                  <a:cubicBezTo>
                    <a:pt x="607642" y="639593"/>
                    <a:pt x="587053" y="660183"/>
                    <a:pt x="561654" y="660183"/>
                  </a:cubicBezTo>
                  <a:lnTo>
                    <a:pt x="45989" y="660183"/>
                  </a:lnTo>
                  <a:cubicBezTo>
                    <a:pt x="20590" y="660183"/>
                    <a:pt x="0" y="639593"/>
                    <a:pt x="0" y="614194"/>
                  </a:cubicBezTo>
                  <a:lnTo>
                    <a:pt x="0" y="45989"/>
                  </a:lnTo>
                  <a:cubicBezTo>
                    <a:pt x="0" y="20590"/>
                    <a:pt x="20590" y="0"/>
                    <a:pt x="45989" y="0"/>
                  </a:cubicBezTo>
                  <a:close/>
                </a:path>
              </a:pathLst>
            </a:custGeom>
            <a:blipFill>
              <a:blip r:embed="rId3"/>
              <a:stretch>
                <a:fillRect l="-40332" t="-53524" r="0" b="-40342"/>
              </a:stretch>
            </a:blipFill>
            <a:ln w="38100" cap="rnd">
              <a:solidFill>
                <a:srgbClr val="39270C"/>
              </a:solidFill>
              <a:prstDash val="solid"/>
              <a:round/>
            </a:ln>
          </p:spPr>
        </p:sp>
      </p:grpSp>
      <p:grpSp>
        <p:nvGrpSpPr>
          <p:cNvPr name="Group 7" id="7"/>
          <p:cNvGrpSpPr/>
          <p:nvPr/>
        </p:nvGrpSpPr>
        <p:grpSpPr>
          <a:xfrm rot="0">
            <a:off x="340672" y="6029580"/>
            <a:ext cx="17606656" cy="3936499"/>
            <a:chOff x="0" y="0"/>
            <a:chExt cx="4637144" cy="1036773"/>
          </a:xfrm>
        </p:grpSpPr>
        <p:sp>
          <p:nvSpPr>
            <p:cNvPr name="Freeform 8" id="8"/>
            <p:cNvSpPr/>
            <p:nvPr/>
          </p:nvSpPr>
          <p:spPr>
            <a:xfrm flipH="false" flipV="false" rot="0">
              <a:off x="0" y="0"/>
              <a:ext cx="4637144" cy="1036773"/>
            </a:xfrm>
            <a:custGeom>
              <a:avLst/>
              <a:gdLst/>
              <a:ahLst/>
              <a:cxnLst/>
              <a:rect r="r" b="b" t="t" l="l"/>
              <a:pathLst>
                <a:path h="1036773" w="4637144">
                  <a:moveTo>
                    <a:pt x="13191" y="0"/>
                  </a:moveTo>
                  <a:lnTo>
                    <a:pt x="4623952" y="0"/>
                  </a:lnTo>
                  <a:cubicBezTo>
                    <a:pt x="4627451" y="0"/>
                    <a:pt x="4630806" y="1390"/>
                    <a:pt x="4633280" y="3864"/>
                  </a:cubicBezTo>
                  <a:cubicBezTo>
                    <a:pt x="4635754" y="6338"/>
                    <a:pt x="4637144" y="9693"/>
                    <a:pt x="4637144" y="13191"/>
                  </a:cubicBezTo>
                  <a:lnTo>
                    <a:pt x="4637144" y="1023582"/>
                  </a:lnTo>
                  <a:cubicBezTo>
                    <a:pt x="4637144" y="1027081"/>
                    <a:pt x="4635754" y="1030436"/>
                    <a:pt x="4633280" y="1032910"/>
                  </a:cubicBezTo>
                  <a:cubicBezTo>
                    <a:pt x="4630806" y="1035384"/>
                    <a:pt x="4627451" y="1036773"/>
                    <a:pt x="4623952" y="1036773"/>
                  </a:cubicBezTo>
                  <a:lnTo>
                    <a:pt x="13191" y="1036773"/>
                  </a:lnTo>
                  <a:cubicBezTo>
                    <a:pt x="9693" y="1036773"/>
                    <a:pt x="6338" y="1035384"/>
                    <a:pt x="3864" y="1032910"/>
                  </a:cubicBezTo>
                  <a:cubicBezTo>
                    <a:pt x="1390" y="1030436"/>
                    <a:pt x="0" y="1027081"/>
                    <a:pt x="0" y="1023582"/>
                  </a:cubicBezTo>
                  <a:lnTo>
                    <a:pt x="0" y="13191"/>
                  </a:lnTo>
                  <a:cubicBezTo>
                    <a:pt x="0" y="9693"/>
                    <a:pt x="1390" y="6338"/>
                    <a:pt x="3864" y="3864"/>
                  </a:cubicBezTo>
                  <a:cubicBezTo>
                    <a:pt x="6338" y="1390"/>
                    <a:pt x="9693" y="0"/>
                    <a:pt x="13191" y="0"/>
                  </a:cubicBezTo>
                  <a:close/>
                </a:path>
              </a:pathLst>
            </a:custGeom>
            <a:solidFill>
              <a:srgbClr val="220F0F"/>
            </a:solidFill>
            <a:ln w="38100" cap="rnd">
              <a:solidFill>
                <a:srgbClr val="39270C"/>
              </a:solidFill>
              <a:prstDash val="solid"/>
              <a:round/>
            </a:ln>
          </p:spPr>
        </p:sp>
        <p:sp>
          <p:nvSpPr>
            <p:cNvPr name="TextBox 9" id="9"/>
            <p:cNvSpPr txBox="true"/>
            <p:nvPr/>
          </p:nvSpPr>
          <p:spPr>
            <a:xfrm>
              <a:off x="0" y="-114300"/>
              <a:ext cx="4637144" cy="1151073"/>
            </a:xfrm>
            <a:prstGeom prst="rect">
              <a:avLst/>
            </a:prstGeom>
          </p:spPr>
          <p:txBody>
            <a:bodyPr anchor="ctr" rtlCol="false" tIns="50800" lIns="50800" bIns="50800" rIns="50800"/>
            <a:lstStyle/>
            <a:p>
              <a:pPr algn="ctr">
                <a:lnSpc>
                  <a:spcPts val="3910"/>
                </a:lnSpc>
              </a:pPr>
            </a:p>
          </p:txBody>
        </p:sp>
      </p:grpSp>
      <p:sp>
        <p:nvSpPr>
          <p:cNvPr name="TextBox 10" id="10"/>
          <p:cNvSpPr txBox="true"/>
          <p:nvPr/>
        </p:nvSpPr>
        <p:spPr>
          <a:xfrm rot="0">
            <a:off x="1381359" y="6563836"/>
            <a:ext cx="15329484" cy="1137285"/>
          </a:xfrm>
          <a:prstGeom prst="rect">
            <a:avLst/>
          </a:prstGeom>
        </p:spPr>
        <p:txBody>
          <a:bodyPr anchor="t" rtlCol="false" tIns="0" lIns="0" bIns="0" rIns="0">
            <a:spAutoFit/>
          </a:bodyPr>
          <a:lstStyle/>
          <a:p>
            <a:pPr algn="l">
              <a:lnSpc>
                <a:spcPts val="3839"/>
              </a:lnSpc>
            </a:pPr>
            <a:r>
              <a:rPr lang="en-US" sz="3999">
                <a:solidFill>
                  <a:srgbClr val="C4A679"/>
                </a:solidFill>
                <a:latin typeface="Noto Serif Display ExtraCondensed"/>
                <a:ea typeface="Noto Serif Display ExtraCondensed"/>
                <a:cs typeface="Noto Serif Display ExtraCondensed"/>
                <a:sym typeface="Noto Serif Display ExtraCondensed"/>
              </a:rPr>
              <a:t>PERSONAL PRIVACY PROTECTION LAW (</a:t>
            </a:r>
            <a:r>
              <a:rPr lang="en-US" sz="3999">
                <a:solidFill>
                  <a:srgbClr val="C4A679"/>
                </a:solidFill>
                <a:latin typeface="Noto Serif Display ExtraCondensed"/>
                <a:ea typeface="Noto Serif Display ExtraCondensed"/>
                <a:cs typeface="Noto Serif Display ExtraCondensed"/>
                <a:sym typeface="Noto Serif Display ExtraCondensed"/>
              </a:rPr>
              <a:t>CHAPTER 47, ARTICLE 6-A § 94)</a:t>
            </a:r>
          </a:p>
          <a:p>
            <a:pPr algn="l" marL="0" indent="0" lvl="0">
              <a:lnSpc>
                <a:spcPts val="4799"/>
              </a:lnSpc>
              <a:spcBef>
                <a:spcPct val="0"/>
              </a:spcBef>
            </a:pPr>
          </a:p>
        </p:txBody>
      </p:sp>
      <p:sp>
        <p:nvSpPr>
          <p:cNvPr name="TextBox 11" id="11"/>
          <p:cNvSpPr txBox="true"/>
          <p:nvPr/>
        </p:nvSpPr>
        <p:spPr>
          <a:xfrm rot="0">
            <a:off x="1381359" y="7154385"/>
            <a:ext cx="15877941" cy="2863850"/>
          </a:xfrm>
          <a:prstGeom prst="rect">
            <a:avLst/>
          </a:prstGeom>
        </p:spPr>
        <p:txBody>
          <a:bodyPr anchor="t" rtlCol="false" tIns="0" lIns="0" bIns="0" rIns="0">
            <a:spAutoFit/>
          </a:bodyPr>
          <a:lstStyle/>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Only applicable to public officers, but useful for guidance </a:t>
            </a:r>
          </a:p>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Agencies should e</a:t>
            </a:r>
            <a:r>
              <a:rPr lang="en-US" sz="1700">
                <a:solidFill>
                  <a:srgbClr val="CBCBCB">
                    <a:alpha val="69804"/>
                  </a:srgbClr>
                </a:solidFill>
                <a:latin typeface="Open Sans"/>
                <a:ea typeface="Open Sans"/>
                <a:cs typeface="Open Sans"/>
                <a:sym typeface="Open Sans"/>
              </a:rPr>
              <a:t>stablish written policies in accordance with the law governing the responsibilities of persons who design, develop, operate or maintain </a:t>
            </a:r>
            <a:r>
              <a:rPr lang="en-US" sz="1700">
                <a:solidFill>
                  <a:srgbClr val="CBCBCB">
                    <a:alpha val="69804"/>
                  </a:srgbClr>
                </a:solidFill>
                <a:latin typeface="Open Sans"/>
                <a:ea typeface="Open Sans"/>
                <a:cs typeface="Open Sans"/>
                <a:sym typeface="Open Sans"/>
              </a:rPr>
              <a:t>systems of records.</a:t>
            </a:r>
          </a:p>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Agencies should i</a:t>
            </a:r>
            <a:r>
              <a:rPr lang="en-US" sz="1700">
                <a:solidFill>
                  <a:srgbClr val="CBCBCB">
                    <a:alpha val="69804"/>
                  </a:srgbClr>
                </a:solidFill>
                <a:latin typeface="Open Sans"/>
                <a:ea typeface="Open Sans"/>
                <a:cs typeface="Open Sans"/>
                <a:sym typeface="Open Sans"/>
              </a:rPr>
              <a:t>nstruct individuals involved with record systems to respect the polic</a:t>
            </a:r>
            <a:r>
              <a:rPr lang="en-US" sz="1700">
                <a:solidFill>
                  <a:srgbClr val="CBCBCB">
                    <a:alpha val="69804"/>
                  </a:srgbClr>
                </a:solidFill>
                <a:latin typeface="Open Sans"/>
                <a:ea typeface="Open Sans"/>
                <a:cs typeface="Open Sans"/>
                <a:sym typeface="Open Sans"/>
              </a:rPr>
              <a:t>ies and</a:t>
            </a:r>
            <a:r>
              <a:rPr lang="en-US" sz="1700">
                <a:solidFill>
                  <a:srgbClr val="CBCBCB">
                    <a:alpha val="69804"/>
                  </a:srgbClr>
                </a:solidFill>
                <a:latin typeface="Open Sans"/>
                <a:ea typeface="Open Sans"/>
                <a:cs typeface="Open Sans"/>
                <a:sym typeface="Open Sans"/>
              </a:rPr>
              <a:t> requirements of § 94.</a:t>
            </a:r>
          </a:p>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Agencies should es</a:t>
            </a:r>
            <a:r>
              <a:rPr lang="en-US" sz="1700">
                <a:solidFill>
                  <a:srgbClr val="CBCBCB">
                    <a:alpha val="69804"/>
                  </a:srgbClr>
                </a:solidFill>
                <a:latin typeface="Open Sans"/>
                <a:ea typeface="Open Sans"/>
                <a:cs typeface="Open Sans"/>
                <a:sym typeface="Open Sans"/>
              </a:rPr>
              <a:t>tablish appropriate administrative, technical, and physical safeguards to ensure the security of records.</a:t>
            </a:r>
          </a:p>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Agencies should e</a:t>
            </a:r>
            <a:r>
              <a:rPr lang="en-US" sz="1700">
                <a:solidFill>
                  <a:srgbClr val="CBCBCB">
                    <a:alpha val="69804"/>
                  </a:srgbClr>
                </a:solidFill>
                <a:latin typeface="Open Sans"/>
                <a:ea typeface="Open Sans"/>
                <a:cs typeface="Open Sans"/>
                <a:sym typeface="Open Sans"/>
              </a:rPr>
              <a:t>stablish rules governing retention and timely disposal of records. </a:t>
            </a:r>
          </a:p>
          <a:p>
            <a:pPr algn="l" marL="367031" indent="-183515" lvl="1">
              <a:lnSpc>
                <a:spcPts val="2890"/>
              </a:lnSpc>
              <a:buFont typeface="Arial"/>
              <a:buChar char="•"/>
            </a:pPr>
            <a:r>
              <a:rPr lang="en-US" sz="1700">
                <a:solidFill>
                  <a:srgbClr val="CBCBCB">
                    <a:alpha val="69804"/>
                  </a:srgbClr>
                </a:solidFill>
                <a:latin typeface="Open Sans"/>
                <a:ea typeface="Open Sans"/>
                <a:cs typeface="Open Sans"/>
                <a:sym typeface="Open Sans"/>
              </a:rPr>
              <a:t>Agencies should d</a:t>
            </a:r>
            <a:r>
              <a:rPr lang="en-US" sz="1700">
                <a:solidFill>
                  <a:srgbClr val="CBCBCB">
                    <a:alpha val="69804"/>
                  </a:srgbClr>
                </a:solidFill>
                <a:latin typeface="Open Sans"/>
                <a:ea typeface="Open Sans"/>
                <a:cs typeface="Open Sans"/>
                <a:sym typeface="Open Sans"/>
              </a:rPr>
              <a:t>esignate an ag</a:t>
            </a:r>
            <a:r>
              <a:rPr lang="en-US" sz="1700">
                <a:solidFill>
                  <a:srgbClr val="CBCBCB">
                    <a:alpha val="69804"/>
                  </a:srgbClr>
                </a:solidFill>
                <a:latin typeface="Open Sans"/>
                <a:ea typeface="Open Sans"/>
                <a:cs typeface="Open Sans"/>
                <a:sym typeface="Open Sans"/>
              </a:rPr>
              <a:t>ency employee to be responsible for ensuring that the agency complies with all of the provisions of this article § 94.</a:t>
            </a:r>
          </a:p>
          <a:p>
            <a:pPr algn="l">
              <a:lnSpc>
                <a:spcPts val="289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04611" y="1727902"/>
            <a:ext cx="8797544" cy="9150521"/>
            <a:chOff x="0" y="0"/>
            <a:chExt cx="822437" cy="855435"/>
          </a:xfrm>
        </p:grpSpPr>
        <p:sp>
          <p:nvSpPr>
            <p:cNvPr name="Freeform 3" id="3"/>
            <p:cNvSpPr/>
            <p:nvPr/>
          </p:nvSpPr>
          <p:spPr>
            <a:xfrm flipH="false" flipV="false" rot="0">
              <a:off x="0" y="0"/>
              <a:ext cx="822437" cy="855435"/>
            </a:xfrm>
            <a:custGeom>
              <a:avLst/>
              <a:gdLst/>
              <a:ahLst/>
              <a:cxnLst/>
              <a:rect r="r" b="b" t="t" l="l"/>
              <a:pathLst>
                <a:path h="855435" w="822437">
                  <a:moveTo>
                    <a:pt x="26400" y="0"/>
                  </a:moveTo>
                  <a:lnTo>
                    <a:pt x="796037" y="0"/>
                  </a:lnTo>
                  <a:cubicBezTo>
                    <a:pt x="810617" y="0"/>
                    <a:pt x="822437" y="11820"/>
                    <a:pt x="822437" y="26400"/>
                  </a:cubicBezTo>
                  <a:lnTo>
                    <a:pt x="822437" y="829035"/>
                  </a:lnTo>
                  <a:cubicBezTo>
                    <a:pt x="822437" y="843615"/>
                    <a:pt x="810617" y="855435"/>
                    <a:pt x="796037" y="855435"/>
                  </a:cubicBezTo>
                  <a:lnTo>
                    <a:pt x="26400" y="855435"/>
                  </a:lnTo>
                  <a:cubicBezTo>
                    <a:pt x="19398" y="855435"/>
                    <a:pt x="12683" y="852653"/>
                    <a:pt x="7732" y="847702"/>
                  </a:cubicBezTo>
                  <a:cubicBezTo>
                    <a:pt x="2781" y="842751"/>
                    <a:pt x="0" y="836036"/>
                    <a:pt x="0" y="829035"/>
                  </a:cubicBezTo>
                  <a:lnTo>
                    <a:pt x="0" y="26400"/>
                  </a:lnTo>
                  <a:cubicBezTo>
                    <a:pt x="0" y="11820"/>
                    <a:pt x="11820" y="0"/>
                    <a:pt x="26400" y="0"/>
                  </a:cubicBezTo>
                  <a:close/>
                </a:path>
              </a:pathLst>
            </a:custGeom>
            <a:blipFill>
              <a:blip r:embed="rId2"/>
              <a:stretch>
                <a:fillRect l="-19341" t="0" r="-19341" b="0"/>
              </a:stretch>
            </a:blipFill>
            <a:ln w="38100" cap="rnd">
              <a:solidFill>
                <a:srgbClr val="39270C"/>
              </a:solidFill>
              <a:prstDash val="solid"/>
              <a:round/>
            </a:ln>
          </p:spPr>
        </p:sp>
      </p:grpSp>
      <p:grpSp>
        <p:nvGrpSpPr>
          <p:cNvPr name="Group 4" id="4"/>
          <p:cNvGrpSpPr/>
          <p:nvPr/>
        </p:nvGrpSpPr>
        <p:grpSpPr>
          <a:xfrm rot="0">
            <a:off x="4965959" y="322648"/>
            <a:ext cx="16783034" cy="9641704"/>
            <a:chOff x="0" y="0"/>
            <a:chExt cx="4420223" cy="2539379"/>
          </a:xfrm>
        </p:grpSpPr>
        <p:sp>
          <p:nvSpPr>
            <p:cNvPr name="Freeform 5" id="5"/>
            <p:cNvSpPr/>
            <p:nvPr/>
          </p:nvSpPr>
          <p:spPr>
            <a:xfrm flipH="false" flipV="false" rot="0">
              <a:off x="0" y="0"/>
              <a:ext cx="4420223" cy="2539379"/>
            </a:xfrm>
            <a:custGeom>
              <a:avLst/>
              <a:gdLst/>
              <a:ahLst/>
              <a:cxnLst/>
              <a:rect r="r" b="b" t="t" l="l"/>
              <a:pathLst>
                <a:path h="2539379" w="4420223">
                  <a:moveTo>
                    <a:pt x="13839" y="0"/>
                  </a:moveTo>
                  <a:lnTo>
                    <a:pt x="4406384" y="0"/>
                  </a:lnTo>
                  <a:cubicBezTo>
                    <a:pt x="4410054" y="0"/>
                    <a:pt x="4413574" y="1458"/>
                    <a:pt x="4416170" y="4053"/>
                  </a:cubicBezTo>
                  <a:cubicBezTo>
                    <a:pt x="4418765" y="6649"/>
                    <a:pt x="4420223" y="10169"/>
                    <a:pt x="4420223" y="13839"/>
                  </a:cubicBezTo>
                  <a:lnTo>
                    <a:pt x="4420223" y="2525540"/>
                  </a:lnTo>
                  <a:cubicBezTo>
                    <a:pt x="4420223" y="2533183"/>
                    <a:pt x="4414027" y="2539379"/>
                    <a:pt x="4406384" y="2539379"/>
                  </a:cubicBezTo>
                  <a:lnTo>
                    <a:pt x="13839" y="2539379"/>
                  </a:lnTo>
                  <a:cubicBezTo>
                    <a:pt x="10169" y="2539379"/>
                    <a:pt x="6649" y="2537921"/>
                    <a:pt x="4053" y="2535326"/>
                  </a:cubicBezTo>
                  <a:cubicBezTo>
                    <a:pt x="1458" y="2532730"/>
                    <a:pt x="0" y="2529210"/>
                    <a:pt x="0" y="2525540"/>
                  </a:cubicBezTo>
                  <a:lnTo>
                    <a:pt x="0" y="13839"/>
                  </a:lnTo>
                  <a:cubicBezTo>
                    <a:pt x="0" y="10169"/>
                    <a:pt x="1458" y="6649"/>
                    <a:pt x="4053" y="4053"/>
                  </a:cubicBezTo>
                  <a:cubicBezTo>
                    <a:pt x="6649" y="1458"/>
                    <a:pt x="10169" y="0"/>
                    <a:pt x="13839" y="0"/>
                  </a:cubicBezTo>
                  <a:close/>
                </a:path>
              </a:pathLst>
            </a:custGeom>
            <a:solidFill>
              <a:srgbClr val="220F0F"/>
            </a:solidFill>
            <a:ln w="38100" cap="rnd">
              <a:solidFill>
                <a:srgbClr val="39270C"/>
              </a:solidFill>
              <a:prstDash val="solid"/>
              <a:round/>
            </a:ln>
          </p:spPr>
        </p:sp>
        <p:sp>
          <p:nvSpPr>
            <p:cNvPr name="TextBox 6" id="6"/>
            <p:cNvSpPr txBox="true"/>
            <p:nvPr/>
          </p:nvSpPr>
          <p:spPr>
            <a:xfrm>
              <a:off x="0" y="-114300"/>
              <a:ext cx="4420223" cy="2653679"/>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5854114" y="3822003"/>
            <a:ext cx="3702030" cy="2804920"/>
          </a:xfrm>
          <a:prstGeom prst="rect">
            <a:avLst/>
          </a:prstGeom>
        </p:spPr>
        <p:txBody>
          <a:bodyPr anchor="t" rtlCol="false" tIns="0" lIns="0" bIns="0" rIns="0">
            <a:spAutoFit/>
          </a:bodyPr>
          <a:lstStyle/>
          <a:p>
            <a:pPr algn="l" marL="0" indent="0" lvl="0">
              <a:lnSpc>
                <a:spcPts val="7212"/>
              </a:lnSpc>
              <a:spcBef>
                <a:spcPct val="0"/>
              </a:spcBef>
            </a:pPr>
            <a:r>
              <a:rPr lang="en-US" sz="7512">
                <a:solidFill>
                  <a:srgbClr val="C4A679"/>
                </a:solidFill>
                <a:latin typeface="Noto Serif Display ExtraCondensed"/>
                <a:ea typeface="Noto Serif Display ExtraCondensed"/>
                <a:cs typeface="Noto Serif Display ExtraCondensed"/>
                <a:sym typeface="Noto Serif Display ExtraCondensed"/>
              </a:rPr>
              <a:t>L</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e</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vi</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 St</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ra</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u</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s</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s</a:t>
            </a:r>
            <a:r>
              <a:rPr lang="en-US" sz="7512" strike="noStrike" u="none">
                <a:solidFill>
                  <a:srgbClr val="C4A679"/>
                </a:solidFill>
                <a:latin typeface="Noto Serif Display ExtraCondensed"/>
                <a:ea typeface="Noto Serif Display ExtraCondensed"/>
                <a:cs typeface="Noto Serif Display ExtraCondensed"/>
                <a:sym typeface="Noto Serif Display ExtraCondensed"/>
              </a:rPr>
              <a:t> &amp; Co. </a:t>
            </a:r>
          </a:p>
        </p:txBody>
      </p:sp>
      <p:sp>
        <p:nvSpPr>
          <p:cNvPr name="TextBox 8" id="8"/>
          <p:cNvSpPr txBox="true"/>
          <p:nvPr/>
        </p:nvSpPr>
        <p:spPr>
          <a:xfrm rot="0">
            <a:off x="9920778" y="815975"/>
            <a:ext cx="7338522" cy="769302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A cybersecurity incident in which an unauthorized third party gained </a:t>
            </a:r>
            <a:r>
              <a:rPr lang="en-US" sz="2000">
                <a:solidFill>
                  <a:srgbClr val="CBCBCB">
                    <a:alpha val="69804"/>
                  </a:srgbClr>
                </a:solidFill>
                <a:latin typeface="Open Sans"/>
                <a:ea typeface="Open Sans"/>
                <a:cs typeface="Open Sans"/>
                <a:sym typeface="Open Sans"/>
              </a:rPr>
              <a:t>access to company files.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 </a:t>
            </a:r>
            <a:r>
              <a:rPr lang="en-US" sz="2000">
                <a:solidFill>
                  <a:srgbClr val="CBCBCB">
                    <a:alpha val="69804"/>
                  </a:srgbClr>
                </a:solidFill>
                <a:latin typeface="Open Sans"/>
                <a:ea typeface="Open Sans"/>
                <a:cs typeface="Open Sans"/>
                <a:sym typeface="Open Sans"/>
              </a:rPr>
              <a:t>initiated response protocols, implemented containment measures, launched an investigation, and engaged the services of third-party cybersecurity experts.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a:t>
            </a:r>
            <a:r>
              <a:rPr lang="en-US" sz="2000">
                <a:solidFill>
                  <a:srgbClr val="CBCBCB">
                    <a:alpha val="69804"/>
                  </a:srgbClr>
                </a:solidFill>
                <a:latin typeface="Open Sans"/>
                <a:ea typeface="Open Sans"/>
                <a:cs typeface="Open Sans"/>
                <a:sym typeface="Open Sans"/>
              </a:rPr>
              <a:t> believes that certain corporate information was accessed and exfiltrated as a result of the incident. </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a:t>
            </a:r>
            <a:r>
              <a:rPr lang="en-US" sz="2000">
                <a:solidFill>
                  <a:srgbClr val="CBCBCB">
                    <a:alpha val="69804"/>
                  </a:srgbClr>
                </a:solidFill>
                <a:latin typeface="Open Sans"/>
                <a:ea typeface="Open Sans"/>
                <a:cs typeface="Open Sans"/>
                <a:sym typeface="Open Sans"/>
              </a:rPr>
              <a:t> believes that its rapid response efforts successfully contained and terminated the unauthorized access, and that no consumer data was impacted. </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a:t>
            </a:r>
            <a:r>
              <a:rPr lang="en-US" sz="2000">
                <a:solidFill>
                  <a:srgbClr val="CBCBCB">
                    <a:alpha val="69804"/>
                  </a:srgbClr>
                </a:solidFill>
                <a:latin typeface="Open Sans"/>
                <a:ea typeface="Open Sans"/>
                <a:cs typeface="Open Sans"/>
                <a:sym typeface="Open Sans"/>
              </a:rPr>
              <a:t> did not experience any interruption in business operations as a result of the incident.</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 </a:t>
            </a:r>
            <a:r>
              <a:rPr lang="en-US" sz="2000">
                <a:solidFill>
                  <a:srgbClr val="CBCBCB">
                    <a:alpha val="69804"/>
                  </a:srgbClr>
                </a:solidFill>
                <a:latin typeface="Open Sans"/>
                <a:ea typeface="Open Sans"/>
                <a:cs typeface="Open Sans"/>
                <a:sym typeface="Open Sans"/>
              </a:rPr>
              <a:t>does not believe there was a material impact on their business strategy, operations, financial condition, or results of operations.</a:t>
            </a:r>
          </a:p>
          <a:p>
            <a:pPr algn="l" marL="431801" indent="-215900" lvl="1">
              <a:lnSpc>
                <a:spcPts val="3400"/>
              </a:lnSpc>
              <a:buFont typeface="Arial"/>
              <a:buChar char="•"/>
            </a:pPr>
            <a:r>
              <a:rPr lang="en-US" sz="2000">
                <a:solidFill>
                  <a:srgbClr val="CBCBCB">
                    <a:alpha val="69804"/>
                  </a:srgbClr>
                </a:solidFill>
                <a:latin typeface="Open Sans"/>
                <a:ea typeface="Open Sans"/>
                <a:cs typeface="Open Sans"/>
                <a:sym typeface="Open Sans"/>
              </a:rPr>
              <a:t>Levi </a:t>
            </a:r>
            <a:r>
              <a:rPr lang="en-US" sz="2000">
                <a:solidFill>
                  <a:srgbClr val="CBCBCB">
                    <a:alpha val="69804"/>
                  </a:srgbClr>
                </a:solidFill>
                <a:latin typeface="Open Sans"/>
                <a:ea typeface="Open Sans"/>
                <a:cs typeface="Open Sans"/>
                <a:sym typeface="Open Sans"/>
              </a:rPr>
              <a:t>provided notifications to affected parties and applicable regulators as appropriate and in accordance with applicable law.</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04611" y="1727902"/>
            <a:ext cx="8797544" cy="9150521"/>
            <a:chOff x="0" y="0"/>
            <a:chExt cx="822437" cy="855435"/>
          </a:xfrm>
        </p:grpSpPr>
        <p:sp>
          <p:nvSpPr>
            <p:cNvPr name="Freeform 3" id="3"/>
            <p:cNvSpPr/>
            <p:nvPr/>
          </p:nvSpPr>
          <p:spPr>
            <a:xfrm flipH="false" flipV="false" rot="0">
              <a:off x="0" y="0"/>
              <a:ext cx="822437" cy="855435"/>
            </a:xfrm>
            <a:custGeom>
              <a:avLst/>
              <a:gdLst/>
              <a:ahLst/>
              <a:cxnLst/>
              <a:rect r="r" b="b" t="t" l="l"/>
              <a:pathLst>
                <a:path h="855435" w="822437">
                  <a:moveTo>
                    <a:pt x="26400" y="0"/>
                  </a:moveTo>
                  <a:lnTo>
                    <a:pt x="796037" y="0"/>
                  </a:lnTo>
                  <a:cubicBezTo>
                    <a:pt x="810617" y="0"/>
                    <a:pt x="822437" y="11820"/>
                    <a:pt x="822437" y="26400"/>
                  </a:cubicBezTo>
                  <a:lnTo>
                    <a:pt x="822437" y="829035"/>
                  </a:lnTo>
                  <a:cubicBezTo>
                    <a:pt x="822437" y="843615"/>
                    <a:pt x="810617" y="855435"/>
                    <a:pt x="796037" y="855435"/>
                  </a:cubicBezTo>
                  <a:lnTo>
                    <a:pt x="26400" y="855435"/>
                  </a:lnTo>
                  <a:cubicBezTo>
                    <a:pt x="19398" y="855435"/>
                    <a:pt x="12683" y="852653"/>
                    <a:pt x="7732" y="847702"/>
                  </a:cubicBezTo>
                  <a:cubicBezTo>
                    <a:pt x="2781" y="842751"/>
                    <a:pt x="0" y="836036"/>
                    <a:pt x="0" y="829035"/>
                  </a:cubicBezTo>
                  <a:lnTo>
                    <a:pt x="0" y="26400"/>
                  </a:lnTo>
                  <a:cubicBezTo>
                    <a:pt x="0" y="11820"/>
                    <a:pt x="11820" y="0"/>
                    <a:pt x="26400" y="0"/>
                  </a:cubicBezTo>
                  <a:close/>
                </a:path>
              </a:pathLst>
            </a:custGeom>
            <a:blipFill>
              <a:blip r:embed="rId2"/>
              <a:stretch>
                <a:fillRect l="-19341" t="0" r="-19341" b="0"/>
              </a:stretch>
            </a:blipFill>
            <a:ln w="38100" cap="rnd">
              <a:solidFill>
                <a:srgbClr val="39270C"/>
              </a:solidFill>
              <a:prstDash val="solid"/>
              <a:round/>
            </a:ln>
          </p:spPr>
        </p:sp>
      </p:grpSp>
      <p:grpSp>
        <p:nvGrpSpPr>
          <p:cNvPr name="Group 4" id="4"/>
          <p:cNvGrpSpPr/>
          <p:nvPr/>
        </p:nvGrpSpPr>
        <p:grpSpPr>
          <a:xfrm rot="0">
            <a:off x="4965959" y="322648"/>
            <a:ext cx="16783034" cy="9641704"/>
            <a:chOff x="0" y="0"/>
            <a:chExt cx="4420223" cy="2539379"/>
          </a:xfrm>
        </p:grpSpPr>
        <p:sp>
          <p:nvSpPr>
            <p:cNvPr name="Freeform 5" id="5"/>
            <p:cNvSpPr/>
            <p:nvPr/>
          </p:nvSpPr>
          <p:spPr>
            <a:xfrm flipH="false" flipV="false" rot="0">
              <a:off x="0" y="0"/>
              <a:ext cx="4420223" cy="2539379"/>
            </a:xfrm>
            <a:custGeom>
              <a:avLst/>
              <a:gdLst/>
              <a:ahLst/>
              <a:cxnLst/>
              <a:rect r="r" b="b" t="t" l="l"/>
              <a:pathLst>
                <a:path h="2539379" w="4420223">
                  <a:moveTo>
                    <a:pt x="13839" y="0"/>
                  </a:moveTo>
                  <a:lnTo>
                    <a:pt x="4406384" y="0"/>
                  </a:lnTo>
                  <a:cubicBezTo>
                    <a:pt x="4410054" y="0"/>
                    <a:pt x="4413574" y="1458"/>
                    <a:pt x="4416170" y="4053"/>
                  </a:cubicBezTo>
                  <a:cubicBezTo>
                    <a:pt x="4418765" y="6649"/>
                    <a:pt x="4420223" y="10169"/>
                    <a:pt x="4420223" y="13839"/>
                  </a:cubicBezTo>
                  <a:lnTo>
                    <a:pt x="4420223" y="2525540"/>
                  </a:lnTo>
                  <a:cubicBezTo>
                    <a:pt x="4420223" y="2533183"/>
                    <a:pt x="4414027" y="2539379"/>
                    <a:pt x="4406384" y="2539379"/>
                  </a:cubicBezTo>
                  <a:lnTo>
                    <a:pt x="13839" y="2539379"/>
                  </a:lnTo>
                  <a:cubicBezTo>
                    <a:pt x="10169" y="2539379"/>
                    <a:pt x="6649" y="2537921"/>
                    <a:pt x="4053" y="2535326"/>
                  </a:cubicBezTo>
                  <a:cubicBezTo>
                    <a:pt x="1458" y="2532730"/>
                    <a:pt x="0" y="2529210"/>
                    <a:pt x="0" y="2525540"/>
                  </a:cubicBezTo>
                  <a:lnTo>
                    <a:pt x="0" y="13839"/>
                  </a:lnTo>
                  <a:cubicBezTo>
                    <a:pt x="0" y="10169"/>
                    <a:pt x="1458" y="6649"/>
                    <a:pt x="4053" y="4053"/>
                  </a:cubicBezTo>
                  <a:cubicBezTo>
                    <a:pt x="6649" y="1458"/>
                    <a:pt x="10169" y="0"/>
                    <a:pt x="13839" y="0"/>
                  </a:cubicBezTo>
                  <a:close/>
                </a:path>
              </a:pathLst>
            </a:custGeom>
            <a:solidFill>
              <a:srgbClr val="220F0F"/>
            </a:solidFill>
            <a:ln w="38100" cap="rnd">
              <a:solidFill>
                <a:srgbClr val="39270C"/>
              </a:solidFill>
              <a:prstDash val="solid"/>
              <a:round/>
            </a:ln>
          </p:spPr>
        </p:sp>
        <p:sp>
          <p:nvSpPr>
            <p:cNvPr name="TextBox 6" id="6"/>
            <p:cNvSpPr txBox="true"/>
            <p:nvPr/>
          </p:nvSpPr>
          <p:spPr>
            <a:xfrm>
              <a:off x="0" y="-114300"/>
              <a:ext cx="4420223" cy="2653679"/>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5798508" y="3936495"/>
            <a:ext cx="3702030" cy="1892300"/>
          </a:xfrm>
          <a:prstGeom prst="rect">
            <a:avLst/>
          </a:prstGeom>
        </p:spPr>
        <p:txBody>
          <a:bodyPr anchor="t" rtlCol="false" tIns="0" lIns="0" bIns="0" rIns="0">
            <a:spAutoFit/>
          </a:bodyPr>
          <a:lstStyle/>
          <a:p>
            <a:pPr algn="l" marL="0" indent="0" lvl="0">
              <a:lnSpc>
                <a:spcPts val="7212"/>
              </a:lnSpc>
              <a:spcBef>
                <a:spcPct val="0"/>
              </a:spcBef>
            </a:pPr>
            <a:r>
              <a:rPr lang="en-US" sz="7512">
                <a:solidFill>
                  <a:srgbClr val="C4A679"/>
                </a:solidFill>
                <a:latin typeface="Noto Serif Display ExtraCondensed"/>
                <a:ea typeface="Noto Serif Display ExtraCondensed"/>
                <a:cs typeface="Noto Serif Display ExtraCondensed"/>
                <a:sym typeface="Noto Serif Display ExtraCondensed"/>
              </a:rPr>
              <a:t>EEOC</a:t>
            </a:r>
            <a:r>
              <a:rPr lang="en-US" sz="7512">
                <a:solidFill>
                  <a:srgbClr val="C4A679"/>
                </a:solidFill>
                <a:latin typeface="Noto Serif Display ExtraCondensed"/>
                <a:ea typeface="Noto Serif Display ExtraCondensed"/>
                <a:cs typeface="Noto Serif Display ExtraCondensed"/>
                <a:sym typeface="Noto Serif Display ExtraCondensed"/>
              </a:rPr>
              <a:t> &amp; TARGET</a:t>
            </a:r>
          </a:p>
        </p:txBody>
      </p:sp>
      <p:sp>
        <p:nvSpPr>
          <p:cNvPr name="TextBox 8" id="8"/>
          <p:cNvSpPr txBox="true"/>
          <p:nvPr/>
        </p:nvSpPr>
        <p:spPr>
          <a:xfrm rot="0">
            <a:off x="9688215" y="2163258"/>
            <a:ext cx="7338522" cy="5133975"/>
          </a:xfrm>
          <a:prstGeom prst="rect">
            <a:avLst/>
          </a:prstGeom>
        </p:spPr>
        <p:txBody>
          <a:bodyPr anchor="t" rtlCol="false" tIns="0" lIns="0" bIns="0" rIns="0">
            <a:spAutoFit/>
          </a:bodyPr>
          <a:lstStyle/>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EEO</a:t>
            </a:r>
            <a:r>
              <a:rPr lang="en-US" sz="3000">
                <a:solidFill>
                  <a:srgbClr val="CBCBCB">
                    <a:alpha val="69804"/>
                  </a:srgbClr>
                </a:solidFill>
                <a:latin typeface="Open Sans"/>
                <a:ea typeface="Open Sans"/>
                <a:cs typeface="Open Sans"/>
                <a:sym typeface="Open Sans"/>
              </a:rPr>
              <a:t>C found that Target committed record-keeping violations by failing to maintain records sufficient to assess the impact of its hiring procedures. </a:t>
            </a:r>
          </a:p>
          <a:p>
            <a:pPr algn="l" marL="647700" indent="-323850" lvl="1">
              <a:lnSpc>
                <a:spcPts val="5100"/>
              </a:lnSpc>
              <a:buFont typeface="Arial"/>
              <a:buChar char="•"/>
            </a:pPr>
            <a:r>
              <a:rPr lang="en-US" sz="3000">
                <a:solidFill>
                  <a:srgbClr val="CBCBCB">
                    <a:alpha val="69804"/>
                  </a:srgbClr>
                </a:solidFill>
                <a:latin typeface="Open Sans"/>
                <a:ea typeface="Open Sans"/>
                <a:cs typeface="Open Sans"/>
                <a:sym typeface="Open Sans"/>
              </a:rPr>
              <a:t> Target made changes to its applicant tracking systems to ensure that the collection of data is sufficient to assess adverse impact.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04611" y="1727902"/>
            <a:ext cx="8797544" cy="9150521"/>
            <a:chOff x="0" y="0"/>
            <a:chExt cx="822437" cy="855435"/>
          </a:xfrm>
        </p:grpSpPr>
        <p:sp>
          <p:nvSpPr>
            <p:cNvPr name="Freeform 3" id="3"/>
            <p:cNvSpPr/>
            <p:nvPr/>
          </p:nvSpPr>
          <p:spPr>
            <a:xfrm flipH="false" flipV="false" rot="0">
              <a:off x="0" y="0"/>
              <a:ext cx="822437" cy="855435"/>
            </a:xfrm>
            <a:custGeom>
              <a:avLst/>
              <a:gdLst/>
              <a:ahLst/>
              <a:cxnLst/>
              <a:rect r="r" b="b" t="t" l="l"/>
              <a:pathLst>
                <a:path h="855435" w="822437">
                  <a:moveTo>
                    <a:pt x="26400" y="0"/>
                  </a:moveTo>
                  <a:lnTo>
                    <a:pt x="796037" y="0"/>
                  </a:lnTo>
                  <a:cubicBezTo>
                    <a:pt x="810617" y="0"/>
                    <a:pt x="822437" y="11820"/>
                    <a:pt x="822437" y="26400"/>
                  </a:cubicBezTo>
                  <a:lnTo>
                    <a:pt x="822437" y="829035"/>
                  </a:lnTo>
                  <a:cubicBezTo>
                    <a:pt x="822437" y="843615"/>
                    <a:pt x="810617" y="855435"/>
                    <a:pt x="796037" y="855435"/>
                  </a:cubicBezTo>
                  <a:lnTo>
                    <a:pt x="26400" y="855435"/>
                  </a:lnTo>
                  <a:cubicBezTo>
                    <a:pt x="19398" y="855435"/>
                    <a:pt x="12683" y="852653"/>
                    <a:pt x="7732" y="847702"/>
                  </a:cubicBezTo>
                  <a:cubicBezTo>
                    <a:pt x="2781" y="842751"/>
                    <a:pt x="0" y="836036"/>
                    <a:pt x="0" y="829035"/>
                  </a:cubicBezTo>
                  <a:lnTo>
                    <a:pt x="0" y="26400"/>
                  </a:lnTo>
                  <a:cubicBezTo>
                    <a:pt x="0" y="11820"/>
                    <a:pt x="11820" y="0"/>
                    <a:pt x="26400" y="0"/>
                  </a:cubicBezTo>
                  <a:close/>
                </a:path>
              </a:pathLst>
            </a:custGeom>
            <a:blipFill>
              <a:blip r:embed="rId2"/>
              <a:stretch>
                <a:fillRect l="-19341" t="0" r="-19341" b="0"/>
              </a:stretch>
            </a:blipFill>
            <a:ln w="38100" cap="rnd">
              <a:solidFill>
                <a:srgbClr val="39270C"/>
              </a:solidFill>
              <a:prstDash val="solid"/>
              <a:round/>
            </a:ln>
          </p:spPr>
        </p:sp>
      </p:grpSp>
      <p:grpSp>
        <p:nvGrpSpPr>
          <p:cNvPr name="Group 4" id="4"/>
          <p:cNvGrpSpPr/>
          <p:nvPr/>
        </p:nvGrpSpPr>
        <p:grpSpPr>
          <a:xfrm rot="0">
            <a:off x="4965959" y="322648"/>
            <a:ext cx="16783034" cy="9641704"/>
            <a:chOff x="0" y="0"/>
            <a:chExt cx="4420223" cy="2539379"/>
          </a:xfrm>
        </p:grpSpPr>
        <p:sp>
          <p:nvSpPr>
            <p:cNvPr name="Freeform 5" id="5"/>
            <p:cNvSpPr/>
            <p:nvPr/>
          </p:nvSpPr>
          <p:spPr>
            <a:xfrm flipH="false" flipV="false" rot="0">
              <a:off x="0" y="0"/>
              <a:ext cx="4420223" cy="2539379"/>
            </a:xfrm>
            <a:custGeom>
              <a:avLst/>
              <a:gdLst/>
              <a:ahLst/>
              <a:cxnLst/>
              <a:rect r="r" b="b" t="t" l="l"/>
              <a:pathLst>
                <a:path h="2539379" w="4420223">
                  <a:moveTo>
                    <a:pt x="13839" y="0"/>
                  </a:moveTo>
                  <a:lnTo>
                    <a:pt x="4406384" y="0"/>
                  </a:lnTo>
                  <a:cubicBezTo>
                    <a:pt x="4410054" y="0"/>
                    <a:pt x="4413574" y="1458"/>
                    <a:pt x="4416170" y="4053"/>
                  </a:cubicBezTo>
                  <a:cubicBezTo>
                    <a:pt x="4418765" y="6649"/>
                    <a:pt x="4420223" y="10169"/>
                    <a:pt x="4420223" y="13839"/>
                  </a:cubicBezTo>
                  <a:lnTo>
                    <a:pt x="4420223" y="2525540"/>
                  </a:lnTo>
                  <a:cubicBezTo>
                    <a:pt x="4420223" y="2533183"/>
                    <a:pt x="4414027" y="2539379"/>
                    <a:pt x="4406384" y="2539379"/>
                  </a:cubicBezTo>
                  <a:lnTo>
                    <a:pt x="13839" y="2539379"/>
                  </a:lnTo>
                  <a:cubicBezTo>
                    <a:pt x="10169" y="2539379"/>
                    <a:pt x="6649" y="2537921"/>
                    <a:pt x="4053" y="2535326"/>
                  </a:cubicBezTo>
                  <a:cubicBezTo>
                    <a:pt x="1458" y="2532730"/>
                    <a:pt x="0" y="2529210"/>
                    <a:pt x="0" y="2525540"/>
                  </a:cubicBezTo>
                  <a:lnTo>
                    <a:pt x="0" y="13839"/>
                  </a:lnTo>
                  <a:cubicBezTo>
                    <a:pt x="0" y="10169"/>
                    <a:pt x="1458" y="6649"/>
                    <a:pt x="4053" y="4053"/>
                  </a:cubicBezTo>
                  <a:cubicBezTo>
                    <a:pt x="6649" y="1458"/>
                    <a:pt x="10169" y="0"/>
                    <a:pt x="13839" y="0"/>
                  </a:cubicBezTo>
                  <a:close/>
                </a:path>
              </a:pathLst>
            </a:custGeom>
            <a:solidFill>
              <a:srgbClr val="220F0F"/>
            </a:solidFill>
            <a:ln w="38100" cap="rnd">
              <a:solidFill>
                <a:srgbClr val="39270C"/>
              </a:solidFill>
              <a:prstDash val="solid"/>
              <a:round/>
            </a:ln>
          </p:spPr>
        </p:sp>
        <p:sp>
          <p:nvSpPr>
            <p:cNvPr name="TextBox 6" id="6"/>
            <p:cNvSpPr txBox="true"/>
            <p:nvPr/>
          </p:nvSpPr>
          <p:spPr>
            <a:xfrm>
              <a:off x="0" y="-114300"/>
              <a:ext cx="4420223" cy="2653679"/>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5779973" y="4278313"/>
            <a:ext cx="3702030" cy="1892300"/>
          </a:xfrm>
          <a:prstGeom prst="rect">
            <a:avLst/>
          </a:prstGeom>
        </p:spPr>
        <p:txBody>
          <a:bodyPr anchor="t" rtlCol="false" tIns="0" lIns="0" bIns="0" rIns="0">
            <a:spAutoFit/>
          </a:bodyPr>
          <a:lstStyle/>
          <a:p>
            <a:pPr algn="l" marL="0" indent="0" lvl="0">
              <a:lnSpc>
                <a:spcPts val="7212"/>
              </a:lnSpc>
              <a:spcBef>
                <a:spcPct val="0"/>
              </a:spcBef>
            </a:pPr>
            <a:r>
              <a:rPr lang="en-US" sz="7512">
                <a:solidFill>
                  <a:srgbClr val="C4A679"/>
                </a:solidFill>
                <a:latin typeface="Noto Serif Display ExtraCondensed"/>
                <a:ea typeface="Noto Serif Display ExtraCondensed"/>
                <a:cs typeface="Noto Serif Display ExtraCondensed"/>
                <a:sym typeface="Noto Serif Display ExtraCondensed"/>
              </a:rPr>
              <a:t>FTC &amp; AMAZON</a:t>
            </a:r>
          </a:p>
        </p:txBody>
      </p:sp>
      <p:sp>
        <p:nvSpPr>
          <p:cNvPr name="TextBox 8" id="8"/>
          <p:cNvSpPr txBox="true"/>
          <p:nvPr/>
        </p:nvSpPr>
        <p:spPr>
          <a:xfrm rot="0">
            <a:off x="9920778" y="396875"/>
            <a:ext cx="7338522" cy="8166100"/>
          </a:xfrm>
          <a:prstGeom prst="rect">
            <a:avLst/>
          </a:prstGeom>
        </p:spPr>
        <p:txBody>
          <a:bodyPr anchor="t" rtlCol="false" tIns="0" lIns="0" bIns="0" rIns="0">
            <a:spAutoFit/>
          </a:bodyPr>
          <a:lstStyle/>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Amazon was ordered to pay  $2.25 million in civil penalties to settle FTC allegations that they knowingly violated the FCRA by refusing to provide transaction records to consumers whose personal information was used by identity thieves to commit fraud.</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Amazon.com Inc. failed to comply with Section 609(e) of the FCRA, which requires companies to, within 30 days of a consumer’s request, provide victims of identity theft with application and business transaction records about fraudulent transactions made in their names.</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Amazon refused to provide application and business transaction records to law enforcement agencies who had been authorized to, and who did, submit requests to Amazon on behalf of consumers who were victims of identity theft.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In addition to the penalty, the order requires Amazon to provide the records lawfully requested by identity theft victims and law enforcement agencies acting on their behalf.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The order also requires Amazon to provide notice to consumers about how identity theft victims can request records under the FCRA.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04611" y="1727902"/>
            <a:ext cx="8797544" cy="9150521"/>
            <a:chOff x="0" y="0"/>
            <a:chExt cx="822437" cy="855435"/>
          </a:xfrm>
        </p:grpSpPr>
        <p:sp>
          <p:nvSpPr>
            <p:cNvPr name="Freeform 3" id="3"/>
            <p:cNvSpPr/>
            <p:nvPr/>
          </p:nvSpPr>
          <p:spPr>
            <a:xfrm flipH="false" flipV="false" rot="0">
              <a:off x="0" y="0"/>
              <a:ext cx="822437" cy="855435"/>
            </a:xfrm>
            <a:custGeom>
              <a:avLst/>
              <a:gdLst/>
              <a:ahLst/>
              <a:cxnLst/>
              <a:rect r="r" b="b" t="t" l="l"/>
              <a:pathLst>
                <a:path h="855435" w="822437">
                  <a:moveTo>
                    <a:pt x="26400" y="0"/>
                  </a:moveTo>
                  <a:lnTo>
                    <a:pt x="796037" y="0"/>
                  </a:lnTo>
                  <a:cubicBezTo>
                    <a:pt x="810617" y="0"/>
                    <a:pt x="822437" y="11820"/>
                    <a:pt x="822437" y="26400"/>
                  </a:cubicBezTo>
                  <a:lnTo>
                    <a:pt x="822437" y="829035"/>
                  </a:lnTo>
                  <a:cubicBezTo>
                    <a:pt x="822437" y="843615"/>
                    <a:pt x="810617" y="855435"/>
                    <a:pt x="796037" y="855435"/>
                  </a:cubicBezTo>
                  <a:lnTo>
                    <a:pt x="26400" y="855435"/>
                  </a:lnTo>
                  <a:cubicBezTo>
                    <a:pt x="19398" y="855435"/>
                    <a:pt x="12683" y="852653"/>
                    <a:pt x="7732" y="847702"/>
                  </a:cubicBezTo>
                  <a:cubicBezTo>
                    <a:pt x="2781" y="842751"/>
                    <a:pt x="0" y="836036"/>
                    <a:pt x="0" y="829035"/>
                  </a:cubicBezTo>
                  <a:lnTo>
                    <a:pt x="0" y="26400"/>
                  </a:lnTo>
                  <a:cubicBezTo>
                    <a:pt x="0" y="11820"/>
                    <a:pt x="11820" y="0"/>
                    <a:pt x="26400" y="0"/>
                  </a:cubicBezTo>
                  <a:close/>
                </a:path>
              </a:pathLst>
            </a:custGeom>
            <a:blipFill>
              <a:blip r:embed="rId2"/>
              <a:stretch>
                <a:fillRect l="-19341" t="0" r="-19341" b="0"/>
              </a:stretch>
            </a:blipFill>
            <a:ln w="38100" cap="rnd">
              <a:solidFill>
                <a:srgbClr val="39270C"/>
              </a:solidFill>
              <a:prstDash val="solid"/>
              <a:round/>
            </a:ln>
          </p:spPr>
        </p:sp>
      </p:grpSp>
      <p:grpSp>
        <p:nvGrpSpPr>
          <p:cNvPr name="Group 4" id="4"/>
          <p:cNvGrpSpPr/>
          <p:nvPr/>
        </p:nvGrpSpPr>
        <p:grpSpPr>
          <a:xfrm rot="0">
            <a:off x="4965959" y="322648"/>
            <a:ext cx="16783034" cy="9641704"/>
            <a:chOff x="0" y="0"/>
            <a:chExt cx="4420223" cy="2539379"/>
          </a:xfrm>
        </p:grpSpPr>
        <p:sp>
          <p:nvSpPr>
            <p:cNvPr name="Freeform 5" id="5"/>
            <p:cNvSpPr/>
            <p:nvPr/>
          </p:nvSpPr>
          <p:spPr>
            <a:xfrm flipH="false" flipV="false" rot="0">
              <a:off x="0" y="0"/>
              <a:ext cx="4420223" cy="2539379"/>
            </a:xfrm>
            <a:custGeom>
              <a:avLst/>
              <a:gdLst/>
              <a:ahLst/>
              <a:cxnLst/>
              <a:rect r="r" b="b" t="t" l="l"/>
              <a:pathLst>
                <a:path h="2539379" w="4420223">
                  <a:moveTo>
                    <a:pt x="13839" y="0"/>
                  </a:moveTo>
                  <a:lnTo>
                    <a:pt x="4406384" y="0"/>
                  </a:lnTo>
                  <a:cubicBezTo>
                    <a:pt x="4410054" y="0"/>
                    <a:pt x="4413574" y="1458"/>
                    <a:pt x="4416170" y="4053"/>
                  </a:cubicBezTo>
                  <a:cubicBezTo>
                    <a:pt x="4418765" y="6649"/>
                    <a:pt x="4420223" y="10169"/>
                    <a:pt x="4420223" y="13839"/>
                  </a:cubicBezTo>
                  <a:lnTo>
                    <a:pt x="4420223" y="2525540"/>
                  </a:lnTo>
                  <a:cubicBezTo>
                    <a:pt x="4420223" y="2533183"/>
                    <a:pt x="4414027" y="2539379"/>
                    <a:pt x="4406384" y="2539379"/>
                  </a:cubicBezTo>
                  <a:lnTo>
                    <a:pt x="13839" y="2539379"/>
                  </a:lnTo>
                  <a:cubicBezTo>
                    <a:pt x="10169" y="2539379"/>
                    <a:pt x="6649" y="2537921"/>
                    <a:pt x="4053" y="2535326"/>
                  </a:cubicBezTo>
                  <a:cubicBezTo>
                    <a:pt x="1458" y="2532730"/>
                    <a:pt x="0" y="2529210"/>
                    <a:pt x="0" y="2525540"/>
                  </a:cubicBezTo>
                  <a:lnTo>
                    <a:pt x="0" y="13839"/>
                  </a:lnTo>
                  <a:cubicBezTo>
                    <a:pt x="0" y="10169"/>
                    <a:pt x="1458" y="6649"/>
                    <a:pt x="4053" y="4053"/>
                  </a:cubicBezTo>
                  <a:cubicBezTo>
                    <a:pt x="6649" y="1458"/>
                    <a:pt x="10169" y="0"/>
                    <a:pt x="13839" y="0"/>
                  </a:cubicBezTo>
                  <a:close/>
                </a:path>
              </a:pathLst>
            </a:custGeom>
            <a:solidFill>
              <a:srgbClr val="220F0F"/>
            </a:solidFill>
            <a:ln w="38100" cap="rnd">
              <a:solidFill>
                <a:srgbClr val="39270C"/>
              </a:solidFill>
              <a:prstDash val="solid"/>
              <a:round/>
            </a:ln>
          </p:spPr>
        </p:sp>
        <p:sp>
          <p:nvSpPr>
            <p:cNvPr name="TextBox 6" id="6"/>
            <p:cNvSpPr txBox="true"/>
            <p:nvPr/>
          </p:nvSpPr>
          <p:spPr>
            <a:xfrm>
              <a:off x="0" y="-114300"/>
              <a:ext cx="4420223" cy="2653679"/>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5817044" y="3527981"/>
            <a:ext cx="4103735" cy="2604135"/>
          </a:xfrm>
          <a:prstGeom prst="rect">
            <a:avLst/>
          </a:prstGeom>
        </p:spPr>
        <p:txBody>
          <a:bodyPr anchor="t" rtlCol="false" tIns="0" lIns="0" bIns="0" rIns="0">
            <a:spAutoFit/>
          </a:bodyPr>
          <a:lstStyle/>
          <a:p>
            <a:pPr algn="l" marL="0" indent="0" lvl="0">
              <a:lnSpc>
                <a:spcPts val="6719"/>
              </a:lnSpc>
              <a:spcBef>
                <a:spcPct val="0"/>
              </a:spcBef>
            </a:pPr>
            <a:r>
              <a:rPr lang="en-US" sz="6999">
                <a:solidFill>
                  <a:srgbClr val="C4A679"/>
                </a:solidFill>
                <a:latin typeface="Noto Serif Display ExtraCondensed"/>
                <a:ea typeface="Noto Serif Display ExtraCondensed"/>
                <a:cs typeface="Noto Serif Display ExtraCondensed"/>
                <a:sym typeface="Noto Serif Display ExtraCondensed"/>
              </a:rPr>
              <a:t>FTC  &amp; PLS Financial Services</a:t>
            </a:r>
          </a:p>
        </p:txBody>
      </p:sp>
      <p:sp>
        <p:nvSpPr>
          <p:cNvPr name="TextBox 8" id="8"/>
          <p:cNvSpPr txBox="true"/>
          <p:nvPr/>
        </p:nvSpPr>
        <p:spPr>
          <a:xfrm rot="0">
            <a:off x="9920778" y="1012825"/>
            <a:ext cx="7338522" cy="8166100"/>
          </a:xfrm>
          <a:prstGeom prst="rect">
            <a:avLst/>
          </a:prstGeom>
        </p:spPr>
        <p:txBody>
          <a:bodyPr anchor="t" rtlCol="false" tIns="0" lIns="0" bIns="0" rIns="0">
            <a:spAutoFit/>
          </a:bodyPr>
          <a:lstStyle/>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 I</a:t>
            </a:r>
            <a:r>
              <a:rPr lang="en-US" sz="1900">
                <a:solidFill>
                  <a:srgbClr val="CBCBCB">
                    <a:alpha val="69804"/>
                  </a:srgbClr>
                </a:solidFill>
                <a:latin typeface="Open Sans"/>
                <a:ea typeface="Open Sans"/>
                <a:cs typeface="Open Sans"/>
                <a:sym typeface="Open Sans"/>
              </a:rPr>
              <a:t>n April 2010, law enforcement officers retrieved boxes of intact consumer documents, including credit reports, from trash cans and dumpsters near four PLS Financial Services stores in the Chicago area.</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Allegations include </a:t>
            </a:r>
            <a:r>
              <a:rPr lang="en-US" sz="1900">
                <a:solidFill>
                  <a:srgbClr val="CBCBCB">
                    <a:alpha val="69804"/>
                  </a:srgbClr>
                </a:solidFill>
                <a:latin typeface="Open Sans"/>
                <a:ea typeface="Open Sans"/>
                <a:cs typeface="Open Sans"/>
                <a:sym typeface="Open Sans"/>
              </a:rPr>
              <a:t>violating the Federal Trade Commission Act, the Disposal Rule, the Safeguards Rule, and the Privacy Rule by improperly disposing of sensitive financial documents, failing to develop reasonable safeguards to protect sensitive consumer information, failing to provide privacy notices to consumers, and misleading consumers about its privacy policies.</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Judge Joan Gottschall of the U.S. District Court for the Northern District of Illinois entered a final judgment that requires the defendants to pay a civil penalty of $101,500 for its violations of the Disposal Rule.</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The order requires the defendants to maintain a comprehensive information security program that meets the standards of the Safeguards Rule, and to obtain third-party biennial assessments of their information security procedures for a twenty-year period.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04611" y="1727902"/>
            <a:ext cx="8797544" cy="9150521"/>
            <a:chOff x="0" y="0"/>
            <a:chExt cx="822437" cy="855435"/>
          </a:xfrm>
        </p:grpSpPr>
        <p:sp>
          <p:nvSpPr>
            <p:cNvPr name="Freeform 3" id="3"/>
            <p:cNvSpPr/>
            <p:nvPr/>
          </p:nvSpPr>
          <p:spPr>
            <a:xfrm flipH="false" flipV="false" rot="0">
              <a:off x="0" y="0"/>
              <a:ext cx="822437" cy="855435"/>
            </a:xfrm>
            <a:custGeom>
              <a:avLst/>
              <a:gdLst/>
              <a:ahLst/>
              <a:cxnLst/>
              <a:rect r="r" b="b" t="t" l="l"/>
              <a:pathLst>
                <a:path h="855435" w="822437">
                  <a:moveTo>
                    <a:pt x="26400" y="0"/>
                  </a:moveTo>
                  <a:lnTo>
                    <a:pt x="796037" y="0"/>
                  </a:lnTo>
                  <a:cubicBezTo>
                    <a:pt x="810617" y="0"/>
                    <a:pt x="822437" y="11820"/>
                    <a:pt x="822437" y="26400"/>
                  </a:cubicBezTo>
                  <a:lnTo>
                    <a:pt x="822437" y="829035"/>
                  </a:lnTo>
                  <a:cubicBezTo>
                    <a:pt x="822437" y="843615"/>
                    <a:pt x="810617" y="855435"/>
                    <a:pt x="796037" y="855435"/>
                  </a:cubicBezTo>
                  <a:lnTo>
                    <a:pt x="26400" y="855435"/>
                  </a:lnTo>
                  <a:cubicBezTo>
                    <a:pt x="19398" y="855435"/>
                    <a:pt x="12683" y="852653"/>
                    <a:pt x="7732" y="847702"/>
                  </a:cubicBezTo>
                  <a:cubicBezTo>
                    <a:pt x="2781" y="842751"/>
                    <a:pt x="0" y="836036"/>
                    <a:pt x="0" y="829035"/>
                  </a:cubicBezTo>
                  <a:lnTo>
                    <a:pt x="0" y="26400"/>
                  </a:lnTo>
                  <a:cubicBezTo>
                    <a:pt x="0" y="11820"/>
                    <a:pt x="11820" y="0"/>
                    <a:pt x="26400" y="0"/>
                  </a:cubicBezTo>
                  <a:close/>
                </a:path>
              </a:pathLst>
            </a:custGeom>
            <a:blipFill>
              <a:blip r:embed="rId2"/>
              <a:stretch>
                <a:fillRect l="-19341" t="0" r="-19341" b="0"/>
              </a:stretch>
            </a:blipFill>
            <a:ln w="38100" cap="rnd">
              <a:solidFill>
                <a:srgbClr val="39270C"/>
              </a:solidFill>
              <a:prstDash val="solid"/>
              <a:round/>
            </a:ln>
          </p:spPr>
        </p:sp>
      </p:grpSp>
      <p:grpSp>
        <p:nvGrpSpPr>
          <p:cNvPr name="Group 4" id="4"/>
          <p:cNvGrpSpPr/>
          <p:nvPr/>
        </p:nvGrpSpPr>
        <p:grpSpPr>
          <a:xfrm rot="0">
            <a:off x="4965959" y="322648"/>
            <a:ext cx="16783034" cy="9641704"/>
            <a:chOff x="0" y="0"/>
            <a:chExt cx="4420223" cy="2539379"/>
          </a:xfrm>
        </p:grpSpPr>
        <p:sp>
          <p:nvSpPr>
            <p:cNvPr name="Freeform 5" id="5"/>
            <p:cNvSpPr/>
            <p:nvPr/>
          </p:nvSpPr>
          <p:spPr>
            <a:xfrm flipH="false" flipV="false" rot="0">
              <a:off x="0" y="0"/>
              <a:ext cx="4420223" cy="2539379"/>
            </a:xfrm>
            <a:custGeom>
              <a:avLst/>
              <a:gdLst/>
              <a:ahLst/>
              <a:cxnLst/>
              <a:rect r="r" b="b" t="t" l="l"/>
              <a:pathLst>
                <a:path h="2539379" w="4420223">
                  <a:moveTo>
                    <a:pt x="13839" y="0"/>
                  </a:moveTo>
                  <a:lnTo>
                    <a:pt x="4406384" y="0"/>
                  </a:lnTo>
                  <a:cubicBezTo>
                    <a:pt x="4410054" y="0"/>
                    <a:pt x="4413574" y="1458"/>
                    <a:pt x="4416170" y="4053"/>
                  </a:cubicBezTo>
                  <a:cubicBezTo>
                    <a:pt x="4418765" y="6649"/>
                    <a:pt x="4420223" y="10169"/>
                    <a:pt x="4420223" y="13839"/>
                  </a:cubicBezTo>
                  <a:lnTo>
                    <a:pt x="4420223" y="2525540"/>
                  </a:lnTo>
                  <a:cubicBezTo>
                    <a:pt x="4420223" y="2533183"/>
                    <a:pt x="4414027" y="2539379"/>
                    <a:pt x="4406384" y="2539379"/>
                  </a:cubicBezTo>
                  <a:lnTo>
                    <a:pt x="13839" y="2539379"/>
                  </a:lnTo>
                  <a:cubicBezTo>
                    <a:pt x="10169" y="2539379"/>
                    <a:pt x="6649" y="2537921"/>
                    <a:pt x="4053" y="2535326"/>
                  </a:cubicBezTo>
                  <a:cubicBezTo>
                    <a:pt x="1458" y="2532730"/>
                    <a:pt x="0" y="2529210"/>
                    <a:pt x="0" y="2525540"/>
                  </a:cubicBezTo>
                  <a:lnTo>
                    <a:pt x="0" y="13839"/>
                  </a:lnTo>
                  <a:cubicBezTo>
                    <a:pt x="0" y="10169"/>
                    <a:pt x="1458" y="6649"/>
                    <a:pt x="4053" y="4053"/>
                  </a:cubicBezTo>
                  <a:cubicBezTo>
                    <a:pt x="6649" y="1458"/>
                    <a:pt x="10169" y="0"/>
                    <a:pt x="13839" y="0"/>
                  </a:cubicBezTo>
                  <a:close/>
                </a:path>
              </a:pathLst>
            </a:custGeom>
            <a:solidFill>
              <a:srgbClr val="220F0F"/>
            </a:solidFill>
            <a:ln w="38100" cap="rnd">
              <a:solidFill>
                <a:srgbClr val="39270C"/>
              </a:solidFill>
              <a:prstDash val="solid"/>
              <a:round/>
            </a:ln>
          </p:spPr>
        </p:sp>
        <p:sp>
          <p:nvSpPr>
            <p:cNvPr name="TextBox 6" id="6"/>
            <p:cNvSpPr txBox="true"/>
            <p:nvPr/>
          </p:nvSpPr>
          <p:spPr>
            <a:xfrm>
              <a:off x="0" y="-114300"/>
              <a:ext cx="4420223" cy="2653679"/>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5817044" y="3518456"/>
            <a:ext cx="4103735" cy="3097149"/>
          </a:xfrm>
          <a:prstGeom prst="rect">
            <a:avLst/>
          </a:prstGeom>
        </p:spPr>
        <p:txBody>
          <a:bodyPr anchor="t" rtlCol="false" tIns="0" lIns="0" bIns="0" rIns="0">
            <a:spAutoFit/>
          </a:bodyPr>
          <a:lstStyle/>
          <a:p>
            <a:pPr algn="l" marL="0" indent="0" lvl="0">
              <a:lnSpc>
                <a:spcPts val="6048"/>
              </a:lnSpc>
              <a:spcBef>
                <a:spcPct val="0"/>
              </a:spcBef>
            </a:pPr>
            <a:r>
              <a:rPr lang="en-US" sz="6300">
                <a:solidFill>
                  <a:srgbClr val="C4A679"/>
                </a:solidFill>
                <a:latin typeface="Noto Serif Display ExtraCondensed"/>
                <a:ea typeface="Noto Serif Display ExtraCondensed"/>
                <a:cs typeface="Noto Serif Display ExtraCondensed"/>
                <a:sym typeface="Noto Serif Display ExtraCondensed"/>
              </a:rPr>
              <a:t>SHIELD ACT </a:t>
            </a:r>
            <a:r>
              <a:rPr lang="en-US" sz="6300">
                <a:solidFill>
                  <a:srgbClr val="C4A679"/>
                </a:solidFill>
                <a:latin typeface="Noto Serif Display ExtraCondensed"/>
                <a:ea typeface="Noto Serif Display ExtraCondensed"/>
                <a:cs typeface="Noto Serif Display ExtraCondensed"/>
                <a:sym typeface="Noto Serif Display ExtraCondensed"/>
              </a:rPr>
              <a:t>&amp; NATIONAL AMUSEMENTS</a:t>
            </a:r>
          </a:p>
        </p:txBody>
      </p:sp>
      <p:sp>
        <p:nvSpPr>
          <p:cNvPr name="TextBox 8" id="8"/>
          <p:cNvSpPr txBox="true"/>
          <p:nvPr/>
        </p:nvSpPr>
        <p:spPr>
          <a:xfrm rot="0">
            <a:off x="9920778" y="603250"/>
            <a:ext cx="7338522" cy="8985250"/>
          </a:xfrm>
          <a:prstGeom prst="rect">
            <a:avLst/>
          </a:prstGeom>
        </p:spPr>
        <p:txBody>
          <a:bodyPr anchor="t" rtlCol="false" tIns="0" lIns="0" bIns="0" rIns="0">
            <a:spAutoFit/>
          </a:bodyPr>
          <a:lstStyle/>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National Amusements failed to protect their former and current employees and contractors’ personal information.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An investigation by the Office of the Attorney General (OAG) determined that National Amusements failed to implement strong data security resulting in a data breach that compromised the information of more than 23,000 New York employees.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The OAG’s investigation revealed that the company delayed telling affected employees of the breach for more than a year, in violation of the New York Shield Act.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National Amusements has agreed to pay $250,000 in penalties to New York, and update and improve their cybersecurity infrastructure to protect employee data. </a:t>
            </a:r>
          </a:p>
          <a:p>
            <a:pPr algn="l" marL="410211" indent="-205106" lvl="1">
              <a:lnSpc>
                <a:spcPts val="3230"/>
              </a:lnSpc>
              <a:buFont typeface="Arial"/>
              <a:buChar char="•"/>
            </a:pPr>
            <a:r>
              <a:rPr lang="en-US" sz="1900">
                <a:solidFill>
                  <a:srgbClr val="CBCBCB">
                    <a:alpha val="69804"/>
                  </a:srgbClr>
                </a:solidFill>
                <a:latin typeface="Open Sans"/>
                <a:ea typeface="Open Sans"/>
                <a:cs typeface="Open Sans"/>
                <a:sym typeface="Open Sans"/>
              </a:rPr>
              <a:t>Attorney General James stated that “No worker should have their social security and personal information stolen because their employer failed to protect them . . . Today’s agreement will strengthen National Amusements’ cybersecurity so that employees in New York and around the country can rest assured that their private information is protected. I urge all companies to follow the guidance from my office to better secure their systems to protect private information and data.”</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8637894" y="3133437"/>
            <a:ext cx="4015428" cy="5923910"/>
            <a:chOff x="0" y="0"/>
            <a:chExt cx="1057561" cy="1560207"/>
          </a:xfrm>
        </p:grpSpPr>
        <p:sp>
          <p:nvSpPr>
            <p:cNvPr name="Freeform 3" id="3"/>
            <p:cNvSpPr/>
            <p:nvPr/>
          </p:nvSpPr>
          <p:spPr>
            <a:xfrm flipH="false" flipV="false" rot="0">
              <a:off x="0" y="0"/>
              <a:ext cx="1057561" cy="1560207"/>
            </a:xfrm>
            <a:custGeom>
              <a:avLst/>
              <a:gdLst/>
              <a:ahLst/>
              <a:cxnLst/>
              <a:rect r="r" b="b" t="t" l="l"/>
              <a:pathLst>
                <a:path h="1560207" w="1057561">
                  <a:moveTo>
                    <a:pt x="57841" y="0"/>
                  </a:moveTo>
                  <a:lnTo>
                    <a:pt x="999720" y="0"/>
                  </a:lnTo>
                  <a:cubicBezTo>
                    <a:pt x="1031665" y="0"/>
                    <a:pt x="1057561" y="25896"/>
                    <a:pt x="1057561" y="57841"/>
                  </a:cubicBezTo>
                  <a:lnTo>
                    <a:pt x="1057561" y="1502365"/>
                  </a:lnTo>
                  <a:cubicBezTo>
                    <a:pt x="1057561" y="1517706"/>
                    <a:pt x="1051467" y="1532418"/>
                    <a:pt x="1040620" y="1543265"/>
                  </a:cubicBezTo>
                  <a:cubicBezTo>
                    <a:pt x="1029773" y="1554113"/>
                    <a:pt x="1015061" y="1560207"/>
                    <a:pt x="999720" y="1560207"/>
                  </a:cubicBezTo>
                  <a:lnTo>
                    <a:pt x="57841" y="1560207"/>
                  </a:lnTo>
                  <a:cubicBezTo>
                    <a:pt x="25896" y="1560207"/>
                    <a:pt x="0" y="1534310"/>
                    <a:pt x="0" y="1502365"/>
                  </a:cubicBezTo>
                  <a:lnTo>
                    <a:pt x="0" y="57841"/>
                  </a:lnTo>
                  <a:cubicBezTo>
                    <a:pt x="0" y="25896"/>
                    <a:pt x="25896" y="0"/>
                    <a:pt x="57841" y="0"/>
                  </a:cubicBezTo>
                  <a:close/>
                </a:path>
              </a:pathLst>
            </a:custGeom>
            <a:solidFill>
              <a:srgbClr val="220F0F"/>
            </a:solidFill>
            <a:ln w="38100" cap="rnd">
              <a:solidFill>
                <a:srgbClr val="39270C"/>
              </a:solidFill>
              <a:prstDash val="solid"/>
              <a:round/>
            </a:ln>
          </p:spPr>
        </p:sp>
        <p:sp>
          <p:nvSpPr>
            <p:cNvPr name="TextBox 4" id="4"/>
            <p:cNvSpPr txBox="true"/>
            <p:nvPr/>
          </p:nvSpPr>
          <p:spPr>
            <a:xfrm>
              <a:off x="0" y="-114300"/>
              <a:ext cx="1057561" cy="1674507"/>
            </a:xfrm>
            <a:prstGeom prst="rect">
              <a:avLst/>
            </a:prstGeom>
          </p:spPr>
          <p:txBody>
            <a:bodyPr anchor="ctr" rtlCol="false" tIns="50800" lIns="50800" bIns="50800" rIns="50800"/>
            <a:lstStyle/>
            <a:p>
              <a:pPr algn="ctr">
                <a:lnSpc>
                  <a:spcPts val="3910"/>
                </a:lnSpc>
              </a:pPr>
            </a:p>
          </p:txBody>
        </p:sp>
      </p:grpSp>
      <p:grpSp>
        <p:nvGrpSpPr>
          <p:cNvPr name="Group 5" id="5"/>
          <p:cNvGrpSpPr/>
          <p:nvPr/>
        </p:nvGrpSpPr>
        <p:grpSpPr>
          <a:xfrm rot="0">
            <a:off x="13243872" y="3133437"/>
            <a:ext cx="4015428" cy="5923910"/>
            <a:chOff x="0" y="0"/>
            <a:chExt cx="1057561" cy="1560207"/>
          </a:xfrm>
        </p:grpSpPr>
        <p:sp>
          <p:nvSpPr>
            <p:cNvPr name="Freeform 6" id="6"/>
            <p:cNvSpPr/>
            <p:nvPr/>
          </p:nvSpPr>
          <p:spPr>
            <a:xfrm flipH="false" flipV="false" rot="0">
              <a:off x="0" y="0"/>
              <a:ext cx="1057561" cy="1560207"/>
            </a:xfrm>
            <a:custGeom>
              <a:avLst/>
              <a:gdLst/>
              <a:ahLst/>
              <a:cxnLst/>
              <a:rect r="r" b="b" t="t" l="l"/>
              <a:pathLst>
                <a:path h="1560207" w="1057561">
                  <a:moveTo>
                    <a:pt x="57841" y="0"/>
                  </a:moveTo>
                  <a:lnTo>
                    <a:pt x="999720" y="0"/>
                  </a:lnTo>
                  <a:cubicBezTo>
                    <a:pt x="1031665" y="0"/>
                    <a:pt x="1057561" y="25896"/>
                    <a:pt x="1057561" y="57841"/>
                  </a:cubicBezTo>
                  <a:lnTo>
                    <a:pt x="1057561" y="1502365"/>
                  </a:lnTo>
                  <a:cubicBezTo>
                    <a:pt x="1057561" y="1517706"/>
                    <a:pt x="1051467" y="1532418"/>
                    <a:pt x="1040620" y="1543265"/>
                  </a:cubicBezTo>
                  <a:cubicBezTo>
                    <a:pt x="1029773" y="1554113"/>
                    <a:pt x="1015061" y="1560207"/>
                    <a:pt x="999720" y="1560207"/>
                  </a:cubicBezTo>
                  <a:lnTo>
                    <a:pt x="57841" y="1560207"/>
                  </a:lnTo>
                  <a:cubicBezTo>
                    <a:pt x="25896" y="1560207"/>
                    <a:pt x="0" y="1534310"/>
                    <a:pt x="0" y="1502365"/>
                  </a:cubicBezTo>
                  <a:lnTo>
                    <a:pt x="0" y="57841"/>
                  </a:lnTo>
                  <a:cubicBezTo>
                    <a:pt x="0" y="25896"/>
                    <a:pt x="25896" y="0"/>
                    <a:pt x="57841" y="0"/>
                  </a:cubicBezTo>
                  <a:close/>
                </a:path>
              </a:pathLst>
            </a:custGeom>
            <a:solidFill>
              <a:srgbClr val="220F0F"/>
            </a:solidFill>
            <a:ln w="38100" cap="rnd">
              <a:solidFill>
                <a:srgbClr val="39270C"/>
              </a:solidFill>
              <a:prstDash val="solid"/>
              <a:round/>
            </a:ln>
          </p:spPr>
        </p:sp>
        <p:sp>
          <p:nvSpPr>
            <p:cNvPr name="TextBox 7" id="7"/>
            <p:cNvSpPr txBox="true"/>
            <p:nvPr/>
          </p:nvSpPr>
          <p:spPr>
            <a:xfrm>
              <a:off x="0" y="-114300"/>
              <a:ext cx="1057561" cy="1674507"/>
            </a:xfrm>
            <a:prstGeom prst="rect">
              <a:avLst/>
            </a:prstGeom>
          </p:spPr>
          <p:txBody>
            <a:bodyPr anchor="ctr" rtlCol="false" tIns="50800" lIns="50800" bIns="50800" rIns="50800"/>
            <a:lstStyle/>
            <a:p>
              <a:pPr algn="ctr">
                <a:lnSpc>
                  <a:spcPts val="3910"/>
                </a:lnSpc>
              </a:pPr>
            </a:p>
          </p:txBody>
        </p:sp>
      </p:grpSp>
      <p:sp>
        <p:nvSpPr>
          <p:cNvPr name="TextBox 8" id="8"/>
          <p:cNvSpPr txBox="true"/>
          <p:nvPr/>
        </p:nvSpPr>
        <p:spPr>
          <a:xfrm rot="0">
            <a:off x="1029006" y="996955"/>
            <a:ext cx="16828873" cy="1756410"/>
          </a:xfrm>
          <a:prstGeom prst="rect">
            <a:avLst/>
          </a:prstGeom>
        </p:spPr>
        <p:txBody>
          <a:bodyPr anchor="t" rtlCol="false" tIns="0" lIns="0" bIns="0" rIns="0">
            <a:spAutoFit/>
          </a:bodyPr>
          <a:lstStyle/>
          <a:p>
            <a:pPr algn="l" marL="0" indent="0" lvl="0">
              <a:lnSpc>
                <a:spcPts val="6719"/>
              </a:lnSpc>
              <a:spcBef>
                <a:spcPct val="0"/>
              </a:spcBef>
            </a:pPr>
            <a:r>
              <a:rPr lang="en-US" sz="6999">
                <a:solidFill>
                  <a:srgbClr val="C4A679"/>
                </a:solidFill>
                <a:latin typeface="Noto Serif Display ExtraCondensed"/>
                <a:ea typeface="Noto Serif Display ExtraCondensed"/>
                <a:cs typeface="Noto Serif Display ExtraCondensed"/>
                <a:sym typeface="Noto Serif Display ExtraCondensed"/>
              </a:rPr>
              <a:t>RECORD</a:t>
            </a:r>
            <a:r>
              <a:rPr lang="en-US" sz="6999">
                <a:solidFill>
                  <a:srgbClr val="C4A679"/>
                </a:solidFill>
                <a:latin typeface="Noto Serif Display ExtraCondensed"/>
                <a:ea typeface="Noto Serif Display ExtraCondensed"/>
                <a:cs typeface="Noto Serif Display ExtraCondensed"/>
                <a:sym typeface="Noto Serif Display ExtraCondensed"/>
              </a:rPr>
              <a:t> DIGITALIZATION CAN BE IMPLEMENTED.</a:t>
            </a:r>
          </a:p>
        </p:txBody>
      </p:sp>
      <p:sp>
        <p:nvSpPr>
          <p:cNvPr name="TextBox 9" id="9"/>
          <p:cNvSpPr txBox="true"/>
          <p:nvPr/>
        </p:nvSpPr>
        <p:spPr>
          <a:xfrm rot="0">
            <a:off x="9144000" y="3555898"/>
            <a:ext cx="3052345" cy="5153025"/>
          </a:xfrm>
          <a:prstGeom prst="rect">
            <a:avLst/>
          </a:prstGeom>
        </p:spPr>
        <p:txBody>
          <a:bodyPr anchor="t" rtlCol="false" tIns="0" lIns="0" bIns="0" rIns="0">
            <a:spAutoFit/>
          </a:bodyPr>
          <a:lstStyle/>
          <a:p>
            <a:pPr algn="ctr">
              <a:lnSpc>
                <a:spcPts val="2550"/>
              </a:lnSpc>
            </a:pPr>
            <a:r>
              <a:rPr lang="en-US" sz="1500" spc="327">
                <a:solidFill>
                  <a:srgbClr val="FFFFFF"/>
                </a:solidFill>
                <a:latin typeface="Open Sans"/>
                <a:ea typeface="Open Sans"/>
                <a:cs typeface="Open Sans"/>
                <a:sym typeface="Open Sans"/>
              </a:rPr>
              <a:t>KEY SAFEGUARDS</a:t>
            </a:r>
          </a:p>
          <a:p>
            <a:pPr algn="l" marL="323850" indent="-161925" lvl="1">
              <a:lnSpc>
                <a:spcPts val="2550"/>
              </a:lnSpc>
              <a:buFont typeface="Arial"/>
              <a:buChar char="•"/>
            </a:pPr>
            <a:r>
              <a:rPr lang="en-US" sz="1500" spc="327">
                <a:solidFill>
                  <a:srgbClr val="FFFFFF"/>
                </a:solidFill>
                <a:latin typeface="Open Sans"/>
                <a:ea typeface="Open Sans"/>
                <a:cs typeface="Open Sans"/>
                <a:sym typeface="Open Sans"/>
              </a:rPr>
              <a:t>MAINTAIN A COMPREHENSIVE INFORMATION SECURITY PROGRAM </a:t>
            </a:r>
          </a:p>
          <a:p>
            <a:pPr algn="l" marL="323850" indent="-161925" lvl="1">
              <a:lnSpc>
                <a:spcPts val="2550"/>
              </a:lnSpc>
              <a:buFont typeface="Arial"/>
              <a:buChar char="•"/>
            </a:pPr>
            <a:r>
              <a:rPr lang="en-US" sz="1500" spc="327">
                <a:solidFill>
                  <a:srgbClr val="FFFFFF"/>
                </a:solidFill>
                <a:latin typeface="Open Sans"/>
                <a:ea typeface="Open Sans"/>
                <a:cs typeface="Open Sans"/>
                <a:sym typeface="Open Sans"/>
              </a:rPr>
              <a:t>ENCRYPT ALL PERSONAL INFORMATION, WHETHER STORED OR TRANSMITTED</a:t>
            </a:r>
          </a:p>
          <a:p>
            <a:pPr algn="l" marL="323850" indent="-161925" lvl="1">
              <a:lnSpc>
                <a:spcPts val="2550"/>
              </a:lnSpc>
              <a:buFont typeface="Arial"/>
              <a:buChar char="•"/>
            </a:pPr>
            <a:r>
              <a:rPr lang="en-US" sz="1500" spc="327">
                <a:solidFill>
                  <a:srgbClr val="FFFFFF"/>
                </a:solidFill>
                <a:latin typeface="Open Sans"/>
                <a:ea typeface="Open Sans"/>
                <a:cs typeface="Open Sans"/>
                <a:sym typeface="Open Sans"/>
              </a:rPr>
              <a:t>MAINTAIN A REASONABLE TESTING PROGRAM DESIGNED TO ADDRESS SECURITY VULNERABILITIES </a:t>
            </a:r>
          </a:p>
        </p:txBody>
      </p:sp>
      <p:sp>
        <p:nvSpPr>
          <p:cNvPr name="TextBox 10" id="10"/>
          <p:cNvSpPr txBox="true"/>
          <p:nvPr/>
        </p:nvSpPr>
        <p:spPr>
          <a:xfrm rot="0">
            <a:off x="13748697" y="3133725"/>
            <a:ext cx="3052345" cy="6124575"/>
          </a:xfrm>
          <a:prstGeom prst="rect">
            <a:avLst/>
          </a:prstGeom>
        </p:spPr>
        <p:txBody>
          <a:bodyPr anchor="t" rtlCol="false" tIns="0" lIns="0" bIns="0" rIns="0">
            <a:spAutoFit/>
          </a:bodyPr>
          <a:lstStyle/>
          <a:p>
            <a:pPr algn="ctr">
              <a:lnSpc>
                <a:spcPts val="2550"/>
              </a:lnSpc>
            </a:pPr>
            <a:r>
              <a:rPr lang="en-US" sz="1500" spc="327">
                <a:solidFill>
                  <a:srgbClr val="FFFFFF"/>
                </a:solidFill>
                <a:latin typeface="Open Sans"/>
                <a:ea typeface="Open Sans"/>
                <a:cs typeface="Open Sans"/>
                <a:sym typeface="Open Sans"/>
              </a:rPr>
              <a:t>KEY SAFEGUARDS</a:t>
            </a:r>
          </a:p>
          <a:p>
            <a:pPr algn="l" marL="323850" indent="-161925" lvl="1">
              <a:lnSpc>
                <a:spcPts val="2550"/>
              </a:lnSpc>
              <a:buFont typeface="Arial"/>
              <a:buChar char="•"/>
            </a:pPr>
            <a:r>
              <a:rPr lang="en-US" sz="1500" spc="327">
                <a:solidFill>
                  <a:srgbClr val="FFFFFF"/>
                </a:solidFill>
                <a:latin typeface="Open Sans"/>
                <a:ea typeface="Open Sans"/>
                <a:cs typeface="Open Sans"/>
                <a:sym typeface="Open Sans"/>
              </a:rPr>
              <a:t>MAINTAIN REASONABLE PASSWORD POLICIES THAT REQUIRE THE USE OF COMPLEX PASSWORDS, PASSWORD ROTATION, AND ENSURING THAT STORED PASSWORDS ARE PROTECTED FROM UNAUTHORIZED ACCESS</a:t>
            </a:r>
          </a:p>
          <a:p>
            <a:pPr algn="l" marL="323850" indent="-161925" lvl="1">
              <a:lnSpc>
                <a:spcPts val="2550"/>
              </a:lnSpc>
              <a:buFont typeface="Arial"/>
              <a:buChar char="•"/>
            </a:pPr>
            <a:r>
              <a:rPr lang="en-US" sz="1500" spc="327">
                <a:solidFill>
                  <a:srgbClr val="FFFFFF"/>
                </a:solidFill>
                <a:latin typeface="Open Sans"/>
                <a:ea typeface="Open Sans"/>
                <a:cs typeface="Open Sans"/>
                <a:sym typeface="Open Sans"/>
              </a:rPr>
              <a:t>MAINTAIN A </a:t>
            </a:r>
            <a:r>
              <a:rPr lang="en-US" sz="1500" spc="327">
                <a:solidFill>
                  <a:srgbClr val="FFFFFF"/>
                </a:solidFill>
                <a:latin typeface="Open Sans"/>
                <a:ea typeface="Open Sans"/>
                <a:cs typeface="Open Sans"/>
                <a:sym typeface="Open Sans"/>
              </a:rPr>
              <a:t>INCIDENT RESPONSE PLAN </a:t>
            </a:r>
          </a:p>
          <a:p>
            <a:pPr algn="l" marL="0" indent="0" lvl="0">
              <a:lnSpc>
                <a:spcPts val="2550"/>
              </a:lnSpc>
              <a:spcBef>
                <a:spcPct val="0"/>
              </a:spcBef>
            </a:pPr>
          </a:p>
        </p:txBody>
      </p:sp>
      <p:sp>
        <p:nvSpPr>
          <p:cNvPr name="TextBox 11" id="11"/>
          <p:cNvSpPr txBox="true"/>
          <p:nvPr/>
        </p:nvSpPr>
        <p:spPr>
          <a:xfrm rot="0">
            <a:off x="1029006" y="3232799"/>
            <a:ext cx="7018338" cy="5397500"/>
          </a:xfrm>
          <a:prstGeom prst="rect">
            <a:avLst/>
          </a:prstGeom>
        </p:spPr>
        <p:txBody>
          <a:bodyPr anchor="t" rtlCol="false" tIns="0" lIns="0" bIns="0" rIns="0">
            <a:spAutoFit/>
          </a:bodyPr>
          <a:lstStyle/>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adhere to NLRB regulations by ensuring record-keeping does not interfere with union participation and activities.</a:t>
            </a:r>
          </a:p>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dispose of records properly to meet the FTC Disposal Rule.</a:t>
            </a:r>
          </a:p>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have written policies that governs the person or people who design the digital record system, and retention of the records. </a:t>
            </a:r>
          </a:p>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regularly review applicable federal and state law that applies to digital record-keeping. </a:t>
            </a:r>
          </a:p>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regularly test efficacy of administrative, technical, and physical safeguards. </a:t>
            </a:r>
          </a:p>
          <a:p>
            <a:pPr algn="l" marL="367029" indent="-183514" lvl="1">
              <a:lnSpc>
                <a:spcPts val="2889"/>
              </a:lnSpc>
              <a:buAutoNum type="arabicPeriod" startAt="1"/>
            </a:pPr>
            <a:r>
              <a:rPr lang="en-US" sz="1699">
                <a:solidFill>
                  <a:srgbClr val="CBCBCB">
                    <a:alpha val="69804"/>
                  </a:srgbClr>
                </a:solidFill>
                <a:latin typeface="Open Sans"/>
                <a:ea typeface="Open Sans"/>
                <a:cs typeface="Open Sans"/>
                <a:sym typeface="Open Sans"/>
              </a:rPr>
              <a:t>Entities should meet FTC and state law data breach notification requirements. </a:t>
            </a:r>
          </a:p>
          <a:p>
            <a:pPr algn="l" marL="367029" indent="-183514" lvl="1">
              <a:lnSpc>
                <a:spcPts val="2889"/>
              </a:lnSpc>
              <a:spcBef>
                <a:spcPct val="0"/>
              </a:spcBef>
              <a:buAutoNum type="arabicPeriod" startAt="1"/>
            </a:pPr>
            <a:r>
              <a:rPr lang="en-US" sz="1699">
                <a:solidFill>
                  <a:srgbClr val="CBCBCB">
                    <a:alpha val="69804"/>
                  </a:srgbClr>
                </a:solidFill>
                <a:latin typeface="Open Sans"/>
                <a:ea typeface="Open Sans"/>
                <a:cs typeface="Open Sans"/>
                <a:sym typeface="Open Sans"/>
              </a:rPr>
              <a:t> Entities should obtain third-party biennial assessments of their information security procedures.</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424660" y="3631505"/>
            <a:ext cx="17438681" cy="7705443"/>
            <a:chOff x="0" y="0"/>
            <a:chExt cx="4592904" cy="2029417"/>
          </a:xfrm>
        </p:grpSpPr>
        <p:sp>
          <p:nvSpPr>
            <p:cNvPr name="Freeform 3" id="3"/>
            <p:cNvSpPr/>
            <p:nvPr/>
          </p:nvSpPr>
          <p:spPr>
            <a:xfrm flipH="false" flipV="false" rot="0">
              <a:off x="0" y="0"/>
              <a:ext cx="4592903" cy="2029417"/>
            </a:xfrm>
            <a:custGeom>
              <a:avLst/>
              <a:gdLst/>
              <a:ahLst/>
              <a:cxnLst/>
              <a:rect r="r" b="b" t="t" l="l"/>
              <a:pathLst>
                <a:path h="2029417" w="4592903">
                  <a:moveTo>
                    <a:pt x="13319" y="0"/>
                  </a:moveTo>
                  <a:lnTo>
                    <a:pt x="4579585" y="0"/>
                  </a:lnTo>
                  <a:cubicBezTo>
                    <a:pt x="4586941" y="0"/>
                    <a:pt x="4592903" y="5963"/>
                    <a:pt x="4592903" y="13319"/>
                  </a:cubicBezTo>
                  <a:lnTo>
                    <a:pt x="4592903" y="2016098"/>
                  </a:lnTo>
                  <a:cubicBezTo>
                    <a:pt x="4592903" y="2023454"/>
                    <a:pt x="4586941" y="2029417"/>
                    <a:pt x="4579585" y="2029417"/>
                  </a:cubicBezTo>
                  <a:lnTo>
                    <a:pt x="13319" y="2029417"/>
                  </a:lnTo>
                  <a:cubicBezTo>
                    <a:pt x="5963" y="2029417"/>
                    <a:pt x="0" y="2023454"/>
                    <a:pt x="0" y="2016098"/>
                  </a:cubicBezTo>
                  <a:lnTo>
                    <a:pt x="0" y="13319"/>
                  </a:lnTo>
                  <a:cubicBezTo>
                    <a:pt x="0" y="5963"/>
                    <a:pt x="5963" y="0"/>
                    <a:pt x="13319" y="0"/>
                  </a:cubicBezTo>
                  <a:close/>
                </a:path>
              </a:pathLst>
            </a:custGeom>
            <a:solidFill>
              <a:srgbClr val="220F0F"/>
            </a:solidFill>
            <a:ln w="38100" cap="rnd">
              <a:solidFill>
                <a:srgbClr val="39270C"/>
              </a:solidFill>
              <a:prstDash val="solid"/>
              <a:round/>
            </a:ln>
          </p:spPr>
        </p:sp>
        <p:sp>
          <p:nvSpPr>
            <p:cNvPr name="TextBox 4" id="4"/>
            <p:cNvSpPr txBox="true"/>
            <p:nvPr/>
          </p:nvSpPr>
          <p:spPr>
            <a:xfrm>
              <a:off x="0" y="-114300"/>
              <a:ext cx="4592904" cy="2143717"/>
            </a:xfrm>
            <a:prstGeom prst="rect">
              <a:avLst/>
            </a:prstGeom>
          </p:spPr>
          <p:txBody>
            <a:bodyPr anchor="ctr" rtlCol="false" tIns="50800" lIns="50800" bIns="50800" rIns="50800"/>
            <a:lstStyle/>
            <a:p>
              <a:pPr algn="ctr">
                <a:lnSpc>
                  <a:spcPts val="3910"/>
                </a:lnSpc>
              </a:pPr>
            </a:p>
          </p:txBody>
        </p:sp>
      </p:grpSp>
      <p:sp>
        <p:nvSpPr>
          <p:cNvPr name="TextBox 5" id="5"/>
          <p:cNvSpPr txBox="true"/>
          <p:nvPr/>
        </p:nvSpPr>
        <p:spPr>
          <a:xfrm rot="0">
            <a:off x="2980642" y="1146959"/>
            <a:ext cx="12326715" cy="1986623"/>
          </a:xfrm>
          <a:prstGeom prst="rect">
            <a:avLst/>
          </a:prstGeom>
        </p:spPr>
        <p:txBody>
          <a:bodyPr anchor="t" rtlCol="false" tIns="0" lIns="0" bIns="0" rIns="0">
            <a:spAutoFit/>
          </a:bodyPr>
          <a:lstStyle/>
          <a:p>
            <a:pPr algn="ctr" marL="0" indent="0" lvl="0">
              <a:lnSpc>
                <a:spcPts val="14837"/>
              </a:lnSpc>
              <a:spcBef>
                <a:spcPct val="0"/>
              </a:spcBef>
            </a:pPr>
            <a:r>
              <a:rPr lang="en-US" sz="15455">
                <a:solidFill>
                  <a:srgbClr val="C4A679"/>
                </a:solidFill>
                <a:latin typeface="Noto Serif Display ExtraCondensed"/>
                <a:ea typeface="Noto Serif Display ExtraCondensed"/>
                <a:cs typeface="Noto Serif Display ExtraCondensed"/>
                <a:sym typeface="Noto Serif Display ExtraCondensed"/>
              </a:rPr>
              <a:t>SOURCES</a:t>
            </a:r>
          </a:p>
        </p:txBody>
      </p:sp>
      <p:sp>
        <p:nvSpPr>
          <p:cNvPr name="TextBox 6" id="6"/>
          <p:cNvSpPr txBox="true"/>
          <p:nvPr/>
        </p:nvSpPr>
        <p:spPr>
          <a:xfrm rot="0">
            <a:off x="1028700" y="3839553"/>
            <a:ext cx="4842266" cy="5895975"/>
          </a:xfrm>
          <a:prstGeom prst="rect">
            <a:avLst/>
          </a:prstGeom>
        </p:spPr>
        <p:txBody>
          <a:bodyPr anchor="t" rtlCol="false" tIns="0" lIns="0" bIns="0" rIns="0">
            <a:spAutoFit/>
          </a:bodyPr>
          <a:lstStyle/>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LEVI STRAUSS &amp; CO, FORM 8-K (AUGUST 7, 2026), AVAILABLE AT SEC EDGAR.</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29 U.S.C. § 1001–1461/HTTPS://WWW.DOL.GOV/GENERAL/TOPIC/RETIREMENT/ERISA </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NIR MENACHEMI &amp; TALEAH COLLUM, BENEFITS AND DRAWBACKS OF ELECTRONIC HEALTH RECORD SYSTEMS,NATIONAL LIBRARY OF MEDICINE (MAY 11, 2011), HTTPS://PMC.NCBI.NLM.NIH.GOV/ARTICLES/PMC3270933/.</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  29 CFR PART 1602/HTTPS://WWW.EEOC.GOV/EMPLOYERS/RECORDKEEPING-REQUIREMENTS</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PRESS RELEASE, FED. TRADE COMM'N, FTC REQUIRES AMAZON TO PAY $2.25 MILLION TO RESOLVE CHARGES IT KNOWINGLY VIOLATED THE FAIR CREDIT REPORTING ACT (JUNE 30, 2026,HTTPS://WWW.FTC.GOV/NEWS-EVENTS/NEWS/PRESS-RELEASES/2026/06/FTC-REQUIRES-AMAZON-PAY-225-MILLION-RESOLVE-CHARGES-IT-KNOWINGLY-VIOLATED-FAIR-CREDIT-REPORTING-ACT.</a:t>
            </a:r>
          </a:p>
        </p:txBody>
      </p:sp>
      <p:sp>
        <p:nvSpPr>
          <p:cNvPr name="TextBox 7" id="7"/>
          <p:cNvSpPr txBox="true"/>
          <p:nvPr/>
        </p:nvSpPr>
        <p:spPr>
          <a:xfrm rot="0">
            <a:off x="5949568" y="3849078"/>
            <a:ext cx="5217870" cy="5921374"/>
          </a:xfrm>
          <a:prstGeom prst="rect">
            <a:avLst/>
          </a:prstGeom>
        </p:spPr>
        <p:txBody>
          <a:bodyPr anchor="t" rtlCol="false" tIns="0" lIns="0" bIns="0" rIns="0">
            <a:spAutoFit/>
          </a:bodyPr>
          <a:lstStyle/>
          <a:p>
            <a:pPr algn="l" marL="237492" indent="-118746" lvl="1">
              <a:lnSpc>
                <a:spcPts val="1870"/>
              </a:lnSpc>
              <a:buFont typeface="Arial"/>
              <a:buChar char="•"/>
            </a:pPr>
            <a:r>
              <a:rPr lang="en-US" sz="1100" spc="239">
                <a:solidFill>
                  <a:srgbClr val="FFFFFF"/>
                </a:solidFill>
                <a:latin typeface="Open Sans"/>
                <a:ea typeface="Open Sans"/>
                <a:cs typeface="Open Sans"/>
                <a:sym typeface="Open Sans"/>
              </a:rPr>
              <a:t>NATIONAL LABOR RELATIONS BOARD, INTERFERING WITH EMPLOYEE RIGHTS (SECTION 7 &amp; 8(A)(1)),HTTPS://WWW.NLRB.GOV/ABOUT-NLRB/RIGHTS-WE-PROTECT/THE-LAW/INTERFERING-WITH-EMPLOYEE-RIGHTS-SECTION-7-8A1. </a:t>
            </a:r>
          </a:p>
          <a:p>
            <a:pPr algn="l" marL="237492" indent="-118746" lvl="1">
              <a:lnSpc>
                <a:spcPts val="1870"/>
              </a:lnSpc>
              <a:buFont typeface="Arial"/>
              <a:buChar char="•"/>
            </a:pPr>
            <a:r>
              <a:rPr lang="en-US" sz="1100" spc="239">
                <a:solidFill>
                  <a:srgbClr val="FFFFFF"/>
                </a:solidFill>
                <a:latin typeface="Open Sans"/>
                <a:ea typeface="Open Sans"/>
                <a:cs typeface="Open Sans"/>
                <a:sym typeface="Open Sans"/>
              </a:rPr>
              <a:t>NATIONAL LABOR RELATIONS BOARD, NLRB GENERAL COUNSEL ISSUES MEMO ON UNLAWFUL ELECTRONIC SURVEILLANCE AND AUTOMATED MANAGEMENT PRACTICES, HTTPS://WWW.NLRB.GOV/NEWS-OUTREACH/NEWS-STORY/NLRB-GENERAL-COUNSEL-ISSUES-MEMO-ON-UNLAWFUL-ELECTRONIC-SURVEILLANCE-AND. </a:t>
            </a:r>
          </a:p>
          <a:p>
            <a:pPr algn="l" marL="237492" indent="-118746" lvl="1">
              <a:lnSpc>
                <a:spcPts val="1870"/>
              </a:lnSpc>
              <a:buFont typeface="Arial"/>
              <a:buChar char="•"/>
            </a:pPr>
            <a:r>
              <a:rPr lang="en-US" sz="1100" spc="239">
                <a:solidFill>
                  <a:srgbClr val="FFFFFF"/>
                </a:solidFill>
                <a:latin typeface="Open Sans"/>
                <a:ea typeface="Open Sans"/>
                <a:cs typeface="Open Sans"/>
                <a:sym typeface="Open Sans"/>
              </a:rPr>
              <a:t>PRESS RELEASE, U.S. DEP'T OF JUSTICE, COMPANY TO PAY $101,500 CIVIL PENALTY FOR DUMPING SENSITIVE CONSUMER DOCUMENTS IN PUBLICLY-ACCESSIBLE DUMPSTERS (NOVEMBER 1, 2012, HTTPS://WWW.JUSTICE.GOV/ARCHIVES/OPA/PR/COMPANY-PAY-101500-CIVIL-PENALTY-DUMPING-SENSITIVE-CONSUMER-DOCUMENTS-PUBLICLY-ACCESSIBLE. </a:t>
            </a:r>
          </a:p>
          <a:p>
            <a:pPr algn="l" marL="237492" indent="-118746" lvl="1">
              <a:lnSpc>
                <a:spcPts val="1870"/>
              </a:lnSpc>
              <a:buFont typeface="Arial"/>
              <a:buChar char="•"/>
            </a:pPr>
            <a:r>
              <a:rPr lang="en-US" sz="1100" spc="239">
                <a:solidFill>
                  <a:srgbClr val="FFFFFF"/>
                </a:solidFill>
                <a:latin typeface="Open Sans"/>
                <a:ea typeface="Open Sans"/>
                <a:cs typeface="Open Sans"/>
                <a:sym typeface="Open Sans"/>
              </a:rPr>
              <a:t>OFFICE OF THE NEW YORK ATTORNEY GENERAL, ATTORNEY GENERAL JAMES SECURES $250,000 FROM MOVIE THEATER OPERATOR FOR FAILING TO PROTECT EMPLOYEES’ PERSONAL INFORMATION, HTTPS://AG.NY.GOV/PRESS-RELEASE/2024/ATTORNEY-GENERAL-JAMES-SECURES-250000-MOVIE-THEATER-OPERATOR-FAILING-PROTECT.</a:t>
            </a:r>
          </a:p>
        </p:txBody>
      </p:sp>
      <p:sp>
        <p:nvSpPr>
          <p:cNvPr name="TextBox 8" id="8"/>
          <p:cNvSpPr txBox="true"/>
          <p:nvPr/>
        </p:nvSpPr>
        <p:spPr>
          <a:xfrm rot="0">
            <a:off x="11243638" y="3839553"/>
            <a:ext cx="5217870" cy="6153150"/>
          </a:xfrm>
          <a:prstGeom prst="rect">
            <a:avLst/>
          </a:prstGeom>
        </p:spPr>
        <p:txBody>
          <a:bodyPr anchor="t" rtlCol="false" tIns="0" lIns="0" bIns="0" rIns="0">
            <a:spAutoFit/>
          </a:bodyPr>
          <a:lstStyle/>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FEDERAL TRADE COMMISSION, FACTA DISPOSAL RULE GOES INTO EFFECT JUNE 1,HTTPS://WWW.FTC.GOV/NEWS-EVENTS/NEWS/PRESS-RELEASES/2005/06/FACTA-DISPOSAL-RULE-GOES-EFFECT-JUNE-1.</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OFFICE OF THE NEW YORK ATTORNEY GENERAL, STOP HACKS AND IMPROVE ELECTRONIC DATA SECURITY ACT (SHIELD ACT), HTTPS://AG.NY.GOV/RESOURCES/ORGANIZATIONS/DATA-BREACH-REPORTING/SHIELD-ACT.</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OFFICE OF INFORMATION TECHNOLOGY SERVICES,ELECTRONIC SIGNATURES AND RECORDS ACT (ESRA) REGULATION, HTTPS://ITS.NY.GOV/ELECTRONIC-SIGNATURES-AND-RECORDS-ACT-ESRA-REGULATION.  </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PRESS RELEASE, U.S. EQUAL EMP. OPPORTUNITY COMM'N,TARGET CORPORATION TO PAY $2.8 MILLION TO RESOLVE EEOC DISCRIMINATION FINDING, HTTPS://WWW.EEOC.GOV/NEWSROOM/TARGET-CORPORATION-PAY-28-MILLION-RESOLVE-EEOC-DISCRIMINATION-FINDING.</a:t>
            </a:r>
          </a:p>
          <a:p>
            <a:pPr algn="l" marL="259082" indent="-129541" lvl="1">
              <a:lnSpc>
                <a:spcPts val="2040"/>
              </a:lnSpc>
              <a:buFont typeface="Arial"/>
              <a:buChar char="•"/>
            </a:pPr>
            <a:r>
              <a:rPr lang="en-US" sz="1200" spc="261">
                <a:solidFill>
                  <a:srgbClr val="FFFFFF"/>
                </a:solidFill>
                <a:latin typeface="Open Sans"/>
                <a:ea typeface="Open Sans"/>
                <a:cs typeface="Open Sans"/>
                <a:sym typeface="Open Sans"/>
              </a:rPr>
              <a:t>159 CONG. REC. H3300 (DAILY ED. JUNE 12, 2013)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556397" y="2999084"/>
            <a:ext cx="13175207" cy="4574777"/>
          </a:xfrm>
          <a:prstGeom prst="rect">
            <a:avLst/>
          </a:prstGeom>
        </p:spPr>
        <p:txBody>
          <a:bodyPr anchor="t" rtlCol="false" tIns="0" lIns="0" bIns="0" rIns="0">
            <a:spAutoFit/>
          </a:bodyPr>
          <a:lstStyle/>
          <a:p>
            <a:pPr algn="ctr" marL="0" indent="0" lvl="0">
              <a:lnSpc>
                <a:spcPts val="11787"/>
              </a:lnSpc>
              <a:spcBef>
                <a:spcPct val="0"/>
              </a:spcBef>
            </a:pPr>
            <a:r>
              <a:rPr lang="en-US" sz="12278">
                <a:solidFill>
                  <a:srgbClr val="C4A679"/>
                </a:solidFill>
                <a:latin typeface="Noto Serif Display ExtraCondensed"/>
                <a:ea typeface="Noto Serif Display ExtraCondensed"/>
                <a:cs typeface="Noto Serif Display ExtraCondensed"/>
                <a:sym typeface="Noto Serif Display ExtraCondensed"/>
              </a:rPr>
              <a:t>“In a digital era, privacy must be a priority.</a:t>
            </a:r>
            <a:r>
              <a:rPr lang="en-US" sz="12278" strike="noStrike" u="none">
                <a:solidFill>
                  <a:srgbClr val="C4A679"/>
                </a:solidFill>
                <a:latin typeface="Noto Serif Display ExtraCondensed"/>
                <a:ea typeface="Noto Serif Display ExtraCondensed"/>
                <a:cs typeface="Noto Serif Display ExtraCondensed"/>
                <a:sym typeface="Noto Serif Display ExtraCondensed"/>
              </a:rPr>
              <a:t>"-Al Gore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40303"/>
        </a:solidFill>
      </p:bgPr>
    </p:bg>
    <p:spTree>
      <p:nvGrpSpPr>
        <p:cNvPr id="1" name=""/>
        <p:cNvGrpSpPr/>
        <p:nvPr/>
      </p:nvGrpSpPr>
      <p:grpSpPr>
        <a:xfrm>
          <a:off x="0" y="0"/>
          <a:ext cx="0" cy="0"/>
          <a:chOff x="0" y="0"/>
          <a:chExt cx="0" cy="0"/>
        </a:xfrm>
      </p:grpSpPr>
      <p:grpSp>
        <p:nvGrpSpPr>
          <p:cNvPr name="Group 2" id="2"/>
          <p:cNvGrpSpPr/>
          <p:nvPr/>
        </p:nvGrpSpPr>
        <p:grpSpPr>
          <a:xfrm rot="0">
            <a:off x="263421" y="297869"/>
            <a:ext cx="17761157" cy="9139874"/>
            <a:chOff x="0" y="0"/>
            <a:chExt cx="2148351" cy="1105539"/>
          </a:xfrm>
        </p:grpSpPr>
        <p:sp>
          <p:nvSpPr>
            <p:cNvPr name="Freeform 3" id="3"/>
            <p:cNvSpPr/>
            <p:nvPr/>
          </p:nvSpPr>
          <p:spPr>
            <a:xfrm flipH="false" flipV="false" rot="0">
              <a:off x="0" y="0"/>
              <a:ext cx="2148351" cy="1105539"/>
            </a:xfrm>
            <a:custGeom>
              <a:avLst/>
              <a:gdLst/>
              <a:ahLst/>
              <a:cxnLst/>
              <a:rect r="r" b="b" t="t" l="l"/>
              <a:pathLst>
                <a:path h="1105539" w="2148351">
                  <a:moveTo>
                    <a:pt x="21359" y="0"/>
                  </a:moveTo>
                  <a:lnTo>
                    <a:pt x="2126992" y="0"/>
                  </a:lnTo>
                  <a:cubicBezTo>
                    <a:pt x="2132657" y="0"/>
                    <a:pt x="2138089" y="2250"/>
                    <a:pt x="2142095" y="6256"/>
                  </a:cubicBezTo>
                  <a:cubicBezTo>
                    <a:pt x="2146100" y="10261"/>
                    <a:pt x="2148351" y="15694"/>
                    <a:pt x="2148351" y="21359"/>
                  </a:cubicBezTo>
                  <a:lnTo>
                    <a:pt x="2148351" y="1084181"/>
                  </a:lnTo>
                  <a:cubicBezTo>
                    <a:pt x="2148351" y="1095977"/>
                    <a:pt x="2138788" y="1105539"/>
                    <a:pt x="2126992" y="1105539"/>
                  </a:cubicBezTo>
                  <a:lnTo>
                    <a:pt x="21359" y="1105539"/>
                  </a:lnTo>
                  <a:cubicBezTo>
                    <a:pt x="9563" y="1105539"/>
                    <a:pt x="0" y="1095977"/>
                    <a:pt x="0" y="1084181"/>
                  </a:cubicBezTo>
                  <a:lnTo>
                    <a:pt x="0" y="21359"/>
                  </a:lnTo>
                  <a:cubicBezTo>
                    <a:pt x="0" y="9563"/>
                    <a:pt x="9563" y="0"/>
                    <a:pt x="21359" y="0"/>
                  </a:cubicBezTo>
                  <a:close/>
                </a:path>
              </a:pathLst>
            </a:custGeom>
            <a:blipFill>
              <a:blip r:embed="rId2"/>
              <a:stretch>
                <a:fillRect l="-9169" t="-34030" r="-1206" b="-8872"/>
              </a:stretch>
            </a:blipFill>
            <a:ln cap="rnd">
              <a:noFill/>
              <a:prstDash val="solid"/>
              <a:round/>
            </a:ln>
          </p:spPr>
        </p:sp>
      </p:grpSp>
      <p:grpSp>
        <p:nvGrpSpPr>
          <p:cNvPr name="Group 4" id="4"/>
          <p:cNvGrpSpPr/>
          <p:nvPr/>
        </p:nvGrpSpPr>
        <p:grpSpPr>
          <a:xfrm rot="0">
            <a:off x="-965167" y="6195608"/>
            <a:ext cx="14697896" cy="4406787"/>
            <a:chOff x="0" y="0"/>
            <a:chExt cx="3871051" cy="1160635"/>
          </a:xfrm>
        </p:grpSpPr>
        <p:sp>
          <p:nvSpPr>
            <p:cNvPr name="Freeform 5" id="5"/>
            <p:cNvSpPr/>
            <p:nvPr/>
          </p:nvSpPr>
          <p:spPr>
            <a:xfrm flipH="false" flipV="false" rot="0">
              <a:off x="0" y="0"/>
              <a:ext cx="3871051" cy="1160635"/>
            </a:xfrm>
            <a:custGeom>
              <a:avLst/>
              <a:gdLst/>
              <a:ahLst/>
              <a:cxnLst/>
              <a:rect r="r" b="b" t="t" l="l"/>
              <a:pathLst>
                <a:path h="1160635" w="3871051">
                  <a:moveTo>
                    <a:pt x="28971" y="0"/>
                  </a:moveTo>
                  <a:lnTo>
                    <a:pt x="3842081" y="0"/>
                  </a:lnTo>
                  <a:cubicBezTo>
                    <a:pt x="3849764" y="0"/>
                    <a:pt x="3857133" y="3052"/>
                    <a:pt x="3862566" y="8485"/>
                  </a:cubicBezTo>
                  <a:cubicBezTo>
                    <a:pt x="3867999" y="13918"/>
                    <a:pt x="3871051" y="21287"/>
                    <a:pt x="3871051" y="28971"/>
                  </a:cubicBezTo>
                  <a:lnTo>
                    <a:pt x="3871051" y="1131665"/>
                  </a:lnTo>
                  <a:cubicBezTo>
                    <a:pt x="3871051" y="1139348"/>
                    <a:pt x="3867999" y="1146717"/>
                    <a:pt x="3862566" y="1152150"/>
                  </a:cubicBezTo>
                  <a:cubicBezTo>
                    <a:pt x="3857133" y="1157583"/>
                    <a:pt x="3849764" y="1160635"/>
                    <a:pt x="3842081" y="1160635"/>
                  </a:cubicBezTo>
                  <a:lnTo>
                    <a:pt x="28971" y="1160635"/>
                  </a:lnTo>
                  <a:cubicBezTo>
                    <a:pt x="21287" y="1160635"/>
                    <a:pt x="13918" y="1157583"/>
                    <a:pt x="8485" y="1152150"/>
                  </a:cubicBezTo>
                  <a:cubicBezTo>
                    <a:pt x="3052" y="1146717"/>
                    <a:pt x="0" y="1139348"/>
                    <a:pt x="0" y="1131665"/>
                  </a:cubicBezTo>
                  <a:lnTo>
                    <a:pt x="0" y="28971"/>
                  </a:lnTo>
                  <a:cubicBezTo>
                    <a:pt x="0" y="21287"/>
                    <a:pt x="3052" y="13918"/>
                    <a:pt x="8485" y="8485"/>
                  </a:cubicBezTo>
                  <a:cubicBezTo>
                    <a:pt x="13918" y="3052"/>
                    <a:pt x="21287" y="0"/>
                    <a:pt x="28971" y="0"/>
                  </a:cubicBezTo>
                  <a:close/>
                </a:path>
              </a:pathLst>
            </a:custGeom>
            <a:solidFill>
              <a:srgbClr val="140303"/>
            </a:solidFill>
          </p:spPr>
        </p:sp>
        <p:sp>
          <p:nvSpPr>
            <p:cNvPr name="TextBox 6" id="6"/>
            <p:cNvSpPr txBox="true"/>
            <p:nvPr/>
          </p:nvSpPr>
          <p:spPr>
            <a:xfrm>
              <a:off x="0" y="-114300"/>
              <a:ext cx="3871051" cy="1274935"/>
            </a:xfrm>
            <a:prstGeom prst="rect">
              <a:avLst/>
            </a:prstGeom>
          </p:spPr>
          <p:txBody>
            <a:bodyPr anchor="ctr" rtlCol="false" tIns="50800" lIns="50800" bIns="50800" rIns="50800"/>
            <a:lstStyle/>
            <a:p>
              <a:pPr algn="ctr">
                <a:lnSpc>
                  <a:spcPts val="3910"/>
                </a:lnSpc>
              </a:pPr>
            </a:p>
          </p:txBody>
        </p:sp>
      </p:grpSp>
      <p:sp>
        <p:nvSpPr>
          <p:cNvPr name="TextBox 7" id="7"/>
          <p:cNvSpPr txBox="true"/>
          <p:nvPr/>
        </p:nvSpPr>
        <p:spPr>
          <a:xfrm rot="0">
            <a:off x="3811935" y="7901356"/>
            <a:ext cx="6380838" cy="1214367"/>
          </a:xfrm>
          <a:prstGeom prst="rect">
            <a:avLst/>
          </a:prstGeom>
        </p:spPr>
        <p:txBody>
          <a:bodyPr anchor="t" rtlCol="false" tIns="0" lIns="0" bIns="0" rIns="0">
            <a:spAutoFit/>
          </a:bodyPr>
          <a:lstStyle/>
          <a:p>
            <a:pPr algn="l" marL="0" indent="0" lvl="0">
              <a:lnSpc>
                <a:spcPts val="9085"/>
              </a:lnSpc>
              <a:spcBef>
                <a:spcPct val="0"/>
              </a:spcBef>
            </a:pPr>
            <a:r>
              <a:rPr lang="en-US" sz="9463">
                <a:solidFill>
                  <a:srgbClr val="C4A679"/>
                </a:solidFill>
                <a:latin typeface="Noto Serif Display ExtraCondensed"/>
                <a:ea typeface="Noto Serif Display ExtraCondensed"/>
                <a:cs typeface="Noto Serif Display ExtraCondensed"/>
                <a:sym typeface="Noto Serif Display ExtraCondense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DAHSHjDGSNc</dc:identifier>
  <dcterms:modified xsi:type="dcterms:W3CDTF">2011-08-01T06:04:30Z</dcterms:modified>
  <cp:revision>1</cp:revision>
  <dc:title>MPC LAST PRESENTATION FINAL</dc:title>
</cp:coreProperties>
</file>