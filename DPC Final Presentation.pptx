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x="18288000" cy="10287000"/>
  <p:notesSz cx="6858000" cy="9144000"/>
  <p:embeddedFontLst>
    <p:embeddedFont>
      <p:font typeface="Maharlika" charset="1" panose="00000000000000000000"/>
      <p:regular r:id="rId32"/>
    </p:embeddedFont>
    <p:embeddedFont>
      <p:font typeface="Glacial Indifference" charset="1" panose="0000000000000000000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fonts/font32.fntdata" Type="http://schemas.openxmlformats.org/officeDocument/2006/relationships/font"/><Relationship Id="rId33" Target="fonts/font33.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0472785" y="0"/>
            <a:ext cx="7815215" cy="10287000"/>
            <a:chOff x="0" y="0"/>
            <a:chExt cx="1210781" cy="1593725"/>
          </a:xfrm>
        </p:grpSpPr>
        <p:sp>
          <p:nvSpPr>
            <p:cNvPr name="Freeform 3" id="3"/>
            <p:cNvSpPr/>
            <p:nvPr/>
          </p:nvSpPr>
          <p:spPr>
            <a:xfrm flipH="false" flipV="false" rot="0">
              <a:off x="0" y="0"/>
              <a:ext cx="1210781" cy="1593725"/>
            </a:xfrm>
            <a:custGeom>
              <a:avLst/>
              <a:gdLst/>
              <a:ahLst/>
              <a:cxnLst/>
              <a:rect r="r" b="b" t="t" l="l"/>
              <a:pathLst>
                <a:path h="1593725" w="1210781">
                  <a:moveTo>
                    <a:pt x="0" y="0"/>
                  </a:moveTo>
                  <a:lnTo>
                    <a:pt x="1210781" y="0"/>
                  </a:lnTo>
                  <a:lnTo>
                    <a:pt x="1210781" y="1593725"/>
                  </a:lnTo>
                  <a:lnTo>
                    <a:pt x="0" y="1593725"/>
                  </a:lnTo>
                  <a:close/>
                </a:path>
              </a:pathLst>
            </a:custGeom>
            <a:blipFill>
              <a:blip r:embed="rId2"/>
              <a:stretch>
                <a:fillRect l="-1252" t="0" r="-1252" b="0"/>
              </a:stretch>
            </a:blipFill>
          </p:spPr>
        </p:sp>
      </p:grpSp>
      <p:sp>
        <p:nvSpPr>
          <p:cNvPr name="Freeform 4" id="4"/>
          <p:cNvSpPr/>
          <p:nvPr/>
        </p:nvSpPr>
        <p:spPr>
          <a:xfrm flipH="false" flipV="false" rot="5400000">
            <a:off x="5714157" y="3864110"/>
            <a:ext cx="12271613" cy="3045178"/>
          </a:xfrm>
          <a:custGeom>
            <a:avLst/>
            <a:gdLst/>
            <a:ahLst/>
            <a:cxnLst/>
            <a:rect r="r" b="b" t="t" l="l"/>
            <a:pathLst>
              <a:path h="3045178" w="12271613">
                <a:moveTo>
                  <a:pt x="0" y="0"/>
                </a:moveTo>
                <a:lnTo>
                  <a:pt x="12271613" y="0"/>
                </a:lnTo>
                <a:lnTo>
                  <a:pt x="12271613" y="3045178"/>
                </a:lnTo>
                <a:lnTo>
                  <a:pt x="0" y="30451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028700" y="1519122"/>
            <a:ext cx="755725" cy="755725"/>
          </a:xfrm>
          <a:custGeom>
            <a:avLst/>
            <a:gdLst/>
            <a:ahLst/>
            <a:cxnLst/>
            <a:rect r="r" b="b" t="t" l="l"/>
            <a:pathLst>
              <a:path h="755725" w="755725">
                <a:moveTo>
                  <a:pt x="0" y="0"/>
                </a:moveTo>
                <a:lnTo>
                  <a:pt x="755725" y="0"/>
                </a:lnTo>
                <a:lnTo>
                  <a:pt x="755725" y="755725"/>
                </a:lnTo>
                <a:lnTo>
                  <a:pt x="0" y="75572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1028700" y="3199194"/>
            <a:ext cx="9042505" cy="4052570"/>
          </a:xfrm>
          <a:prstGeom prst="rect">
            <a:avLst/>
          </a:prstGeom>
        </p:spPr>
        <p:txBody>
          <a:bodyPr anchor="t" rtlCol="false" tIns="0" lIns="0" bIns="0" rIns="0">
            <a:spAutoFit/>
          </a:bodyPr>
          <a:lstStyle/>
          <a:p>
            <a:pPr algn="l">
              <a:lnSpc>
                <a:spcPts val="7839"/>
              </a:lnSpc>
            </a:pPr>
            <a:r>
              <a:rPr lang="en-US" sz="6999" spc="34">
                <a:solidFill>
                  <a:srgbClr val="D6B03D"/>
                </a:solidFill>
                <a:latin typeface="Maharlika"/>
                <a:ea typeface="Maharlika"/>
                <a:cs typeface="Maharlika"/>
                <a:sym typeface="Maharlika"/>
              </a:rPr>
              <a:t>CUMULATIVE PRIVACY PROPOSAL FOR STATE X</a:t>
            </a:r>
          </a:p>
        </p:txBody>
      </p:sp>
      <p:sp>
        <p:nvSpPr>
          <p:cNvPr name="TextBox 7" id="7"/>
          <p:cNvSpPr txBox="true"/>
          <p:nvPr/>
        </p:nvSpPr>
        <p:spPr>
          <a:xfrm rot="0">
            <a:off x="1028700" y="7346150"/>
            <a:ext cx="7776416" cy="430139"/>
          </a:xfrm>
          <a:prstGeom prst="rect">
            <a:avLst/>
          </a:prstGeom>
        </p:spPr>
        <p:txBody>
          <a:bodyPr anchor="t" rtlCol="false" tIns="0" lIns="0" bIns="0" rIns="0">
            <a:spAutoFit/>
          </a:bodyPr>
          <a:lstStyle/>
          <a:p>
            <a:pPr algn="l">
              <a:lnSpc>
                <a:spcPts val="3591"/>
              </a:lnSpc>
            </a:pPr>
            <a:r>
              <a:rPr lang="en-US" sz="2565">
                <a:solidFill>
                  <a:srgbClr val="D6B03D"/>
                </a:solidFill>
                <a:latin typeface="Glacial Indifference"/>
                <a:ea typeface="Glacial Indifference"/>
                <a:cs typeface="Glacial Indifference"/>
                <a:sym typeface="Glacial Indifference"/>
              </a:rPr>
              <a:t>BY: DOMINIQUE COPELAND</a:t>
            </a:r>
          </a:p>
        </p:txBody>
      </p:sp>
      <p:sp>
        <p:nvSpPr>
          <p:cNvPr name="TextBox 8" id="8"/>
          <p:cNvSpPr txBox="true"/>
          <p:nvPr/>
        </p:nvSpPr>
        <p:spPr>
          <a:xfrm rot="0">
            <a:off x="1902940" y="1471497"/>
            <a:ext cx="1832783" cy="877814"/>
          </a:xfrm>
          <a:prstGeom prst="rect">
            <a:avLst/>
          </a:prstGeom>
        </p:spPr>
        <p:txBody>
          <a:bodyPr anchor="t" rtlCol="false" tIns="0" lIns="0" bIns="0" rIns="0">
            <a:spAutoFit/>
          </a:bodyPr>
          <a:lstStyle/>
          <a:p>
            <a:pPr algn="l">
              <a:lnSpc>
                <a:spcPts val="3591"/>
              </a:lnSpc>
            </a:pPr>
            <a:r>
              <a:rPr lang="en-US" sz="2565">
                <a:solidFill>
                  <a:srgbClr val="D6B03D"/>
                </a:solidFill>
                <a:latin typeface="Glacial Indifference"/>
                <a:ea typeface="Glacial Indifference"/>
                <a:cs typeface="Glacial Indifference"/>
                <a:sym typeface="Glacial Indifference"/>
              </a:rPr>
              <a:t>Northeastern University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2006536" y="4318384"/>
            <a:ext cx="453421" cy="3427984"/>
            <a:chOff x="0" y="0"/>
            <a:chExt cx="75775" cy="572877"/>
          </a:xfrm>
        </p:grpSpPr>
        <p:sp>
          <p:nvSpPr>
            <p:cNvPr name="Freeform 3" id="3"/>
            <p:cNvSpPr/>
            <p:nvPr/>
          </p:nvSpPr>
          <p:spPr>
            <a:xfrm flipH="false" flipV="false" rot="0">
              <a:off x="0" y="0"/>
              <a:ext cx="75775" cy="572877"/>
            </a:xfrm>
            <a:custGeom>
              <a:avLst/>
              <a:gdLst/>
              <a:ahLst/>
              <a:cxnLst/>
              <a:rect r="r" b="b" t="t" l="l"/>
              <a:pathLst>
                <a:path h="572877" w="75775">
                  <a:moveTo>
                    <a:pt x="0" y="0"/>
                  </a:moveTo>
                  <a:lnTo>
                    <a:pt x="75775" y="0"/>
                  </a:lnTo>
                  <a:lnTo>
                    <a:pt x="75775" y="572877"/>
                  </a:lnTo>
                  <a:lnTo>
                    <a:pt x="0" y="572877"/>
                  </a:lnTo>
                  <a:close/>
                </a:path>
              </a:pathLst>
            </a:custGeom>
            <a:solidFill>
              <a:srgbClr val="D6B03D"/>
            </a:solidFill>
          </p:spPr>
        </p:sp>
        <p:sp>
          <p:nvSpPr>
            <p:cNvPr name="TextBox 4" id="4"/>
            <p:cNvSpPr txBox="true"/>
            <p:nvPr/>
          </p:nvSpPr>
          <p:spPr>
            <a:xfrm>
              <a:off x="0" y="-57150"/>
              <a:ext cx="75775" cy="630027"/>
            </a:xfrm>
            <a:prstGeom prst="rect">
              <a:avLst/>
            </a:prstGeom>
          </p:spPr>
          <p:txBody>
            <a:bodyPr anchor="ctr" rtlCol="false" tIns="50800" lIns="50800" bIns="50800" rIns="50800"/>
            <a:lstStyle/>
            <a:p>
              <a:pPr algn="ctr">
                <a:lnSpc>
                  <a:spcPts val="3639"/>
                </a:lnSpc>
              </a:pPr>
              <a:r>
                <a:rPr lang="en-US" sz="2599">
                  <a:solidFill>
                    <a:srgbClr val="000000"/>
                  </a:solidFill>
                  <a:latin typeface="Glacial Indifference"/>
                  <a:ea typeface="Glacial Indifference"/>
                  <a:cs typeface="Glacial Indifference"/>
                  <a:sym typeface="Glacial Indifference"/>
                </a:rPr>
                <a:t>1</a:t>
              </a:r>
            </a:p>
            <a:p>
              <a:pPr algn="ctr">
                <a:lnSpc>
                  <a:spcPts val="3639"/>
                </a:lnSpc>
              </a:pPr>
              <a:r>
                <a:rPr lang="en-US" sz="2599">
                  <a:solidFill>
                    <a:srgbClr val="000000"/>
                  </a:solidFill>
                  <a:latin typeface="Glacial Indifference"/>
                  <a:ea typeface="Glacial Indifference"/>
                  <a:cs typeface="Glacial Indifference"/>
                  <a:sym typeface="Glacial Indifference"/>
                </a:rPr>
                <a:t>2</a:t>
              </a:r>
            </a:p>
            <a:p>
              <a:pPr algn="ctr">
                <a:lnSpc>
                  <a:spcPts val="3639"/>
                </a:lnSpc>
              </a:pPr>
              <a:r>
                <a:rPr lang="en-US" sz="2599">
                  <a:solidFill>
                    <a:srgbClr val="000000"/>
                  </a:solidFill>
                  <a:latin typeface="Glacial Indifference"/>
                  <a:ea typeface="Glacial Indifference"/>
                  <a:cs typeface="Glacial Indifference"/>
                  <a:sym typeface="Glacial Indifference"/>
                </a:rPr>
                <a:t>3</a:t>
              </a:r>
            </a:p>
            <a:p>
              <a:pPr algn="ctr">
                <a:lnSpc>
                  <a:spcPts val="3639"/>
                </a:lnSpc>
              </a:pPr>
              <a:r>
                <a:rPr lang="en-US" sz="2599">
                  <a:solidFill>
                    <a:srgbClr val="000000"/>
                  </a:solidFill>
                  <a:latin typeface="Glacial Indifference"/>
                  <a:ea typeface="Glacial Indifference"/>
                  <a:cs typeface="Glacial Indifference"/>
                  <a:sym typeface="Glacial Indifference"/>
                </a:rPr>
                <a:t>4</a:t>
              </a:r>
            </a:p>
            <a:p>
              <a:pPr algn="ctr">
                <a:lnSpc>
                  <a:spcPts val="3639"/>
                </a:lnSpc>
              </a:pPr>
              <a:r>
                <a:rPr lang="en-US" sz="2599">
                  <a:solidFill>
                    <a:srgbClr val="000000"/>
                  </a:solidFill>
                  <a:latin typeface="Glacial Indifference"/>
                  <a:ea typeface="Glacial Indifference"/>
                  <a:cs typeface="Glacial Indifference"/>
                  <a:sym typeface="Glacial Indifference"/>
                </a:rPr>
                <a:t>5</a:t>
              </a:r>
            </a:p>
            <a:p>
              <a:pPr algn="ctr">
                <a:lnSpc>
                  <a:spcPts val="3639"/>
                </a:lnSpc>
              </a:pPr>
              <a:r>
                <a:rPr lang="en-US" sz="2599">
                  <a:solidFill>
                    <a:srgbClr val="000000"/>
                  </a:solidFill>
                  <a:latin typeface="Glacial Indifference"/>
                  <a:ea typeface="Glacial Indifference"/>
                  <a:cs typeface="Glacial Indifference"/>
                  <a:sym typeface="Glacial Indifference"/>
                </a:rPr>
                <a:t>6</a:t>
              </a:r>
            </a:p>
            <a:p>
              <a:pPr algn="ctr" marL="0" indent="0" lvl="1">
                <a:lnSpc>
                  <a:spcPts val="3639"/>
                </a:lnSpc>
                <a:spcBef>
                  <a:spcPct val="0"/>
                </a:spcBef>
              </a:pPr>
              <a:r>
                <a:rPr lang="en-US" sz="2599">
                  <a:solidFill>
                    <a:srgbClr val="000000"/>
                  </a:solidFill>
                  <a:latin typeface="Glacial Indifference"/>
                  <a:ea typeface="Glacial Indifference"/>
                  <a:cs typeface="Glacial Indifference"/>
                  <a:sym typeface="Glacial Indifference"/>
                </a:rPr>
                <a:t>7</a:t>
              </a:r>
            </a:p>
          </p:txBody>
        </p:sp>
      </p:grpSp>
      <p:sp>
        <p:nvSpPr>
          <p:cNvPr name="TextBox 5" id="5"/>
          <p:cNvSpPr txBox="true"/>
          <p:nvPr/>
        </p:nvSpPr>
        <p:spPr>
          <a:xfrm rot="0">
            <a:off x="1623060" y="3043112"/>
            <a:ext cx="5865897" cy="1275272"/>
          </a:xfrm>
          <a:prstGeom prst="rect">
            <a:avLst/>
          </a:prstGeom>
        </p:spPr>
        <p:txBody>
          <a:bodyPr anchor="t" rtlCol="false" tIns="0" lIns="0" bIns="0" rIns="0">
            <a:spAutoFit/>
          </a:bodyPr>
          <a:lstStyle/>
          <a:p>
            <a:pPr algn="l">
              <a:lnSpc>
                <a:spcPts val="9233"/>
              </a:lnSpc>
            </a:pPr>
            <a:r>
              <a:rPr lang="en-US" sz="8244" spc="41">
                <a:solidFill>
                  <a:srgbClr val="D6B03D"/>
                </a:solidFill>
                <a:latin typeface="Maharlika"/>
                <a:ea typeface="Maharlika"/>
                <a:cs typeface="Maharlika"/>
                <a:sym typeface="Maharlika"/>
              </a:rPr>
              <a:t>Overview</a:t>
            </a:r>
          </a:p>
        </p:txBody>
      </p:sp>
      <p:sp>
        <p:nvSpPr>
          <p:cNvPr name="TextBox 6" id="6"/>
          <p:cNvSpPr txBox="true"/>
          <p:nvPr/>
        </p:nvSpPr>
        <p:spPr>
          <a:xfrm rot="0">
            <a:off x="2684989" y="4408046"/>
            <a:ext cx="6787723" cy="3191510"/>
          </a:xfrm>
          <a:prstGeom prst="rect">
            <a:avLst/>
          </a:prstGeom>
        </p:spPr>
        <p:txBody>
          <a:bodyPr anchor="t" rtlCol="false" tIns="0" lIns="0" bIns="0" rIns="0">
            <a:spAutoFit/>
          </a:bodyPr>
          <a:lstStyle/>
          <a:p>
            <a:pPr algn="l">
              <a:lnSpc>
                <a:spcPts val="3640"/>
              </a:lnSpc>
            </a:pPr>
            <a:r>
              <a:rPr lang="en-US" sz="2600">
                <a:solidFill>
                  <a:srgbClr val="D6B03D"/>
                </a:solidFill>
                <a:latin typeface="Glacial Indifference"/>
                <a:ea typeface="Glacial Indifference"/>
                <a:cs typeface="Glacial Indifference"/>
                <a:sym typeface="Glacial Indifference"/>
              </a:rPr>
              <a:t>Introduction</a:t>
            </a:r>
          </a:p>
          <a:p>
            <a:pPr algn="l" marL="0" indent="0" lvl="1">
              <a:lnSpc>
                <a:spcPts val="3640"/>
              </a:lnSpc>
              <a:spcBef>
                <a:spcPct val="0"/>
              </a:spcBef>
            </a:pPr>
            <a:r>
              <a:rPr lang="en-US" sz="2600">
                <a:solidFill>
                  <a:srgbClr val="D6B03D"/>
                </a:solidFill>
                <a:latin typeface="Glacial Indifference"/>
                <a:ea typeface="Glacial Indifference"/>
                <a:cs typeface="Glacial Indifference"/>
                <a:sym typeface="Glacial Indifference"/>
              </a:rPr>
              <a:t>Federal Laws</a:t>
            </a:r>
          </a:p>
          <a:p>
            <a:pPr algn="l" marL="0" indent="0" lvl="1">
              <a:lnSpc>
                <a:spcPts val="3640"/>
              </a:lnSpc>
              <a:spcBef>
                <a:spcPct val="0"/>
              </a:spcBef>
            </a:pPr>
            <a:r>
              <a:rPr lang="en-US" sz="2600" strike="noStrike" u="none">
                <a:solidFill>
                  <a:srgbClr val="D6B03D"/>
                </a:solidFill>
                <a:latin typeface="Glacial Indifference"/>
                <a:ea typeface="Glacial Indifference"/>
                <a:cs typeface="Glacial Indifference"/>
                <a:sym typeface="Glacial Indifference"/>
              </a:rPr>
              <a:t>Stat</a:t>
            </a:r>
            <a:r>
              <a:rPr lang="en-US" sz="2600" strike="noStrike" u="none">
                <a:solidFill>
                  <a:srgbClr val="D6B03D"/>
                </a:solidFill>
                <a:latin typeface="Glacial Indifference"/>
                <a:ea typeface="Glacial Indifference"/>
                <a:cs typeface="Glacial Indifference"/>
                <a:sym typeface="Glacial Indifference"/>
              </a:rPr>
              <a:t>e</a:t>
            </a:r>
            <a:r>
              <a:rPr lang="en-US" sz="2600" strike="noStrike" u="none">
                <a:solidFill>
                  <a:srgbClr val="D6B03D"/>
                </a:solidFill>
                <a:latin typeface="Glacial Indifference"/>
                <a:ea typeface="Glacial Indifference"/>
                <a:cs typeface="Glacial Indifference"/>
                <a:sym typeface="Glacial Indifference"/>
              </a:rPr>
              <a:t> Law</a:t>
            </a:r>
            <a:r>
              <a:rPr lang="en-US" sz="2600" strike="noStrike" u="none">
                <a:solidFill>
                  <a:srgbClr val="D6B03D"/>
                </a:solidFill>
                <a:latin typeface="Glacial Indifference"/>
                <a:ea typeface="Glacial Indifference"/>
                <a:cs typeface="Glacial Indifference"/>
                <a:sym typeface="Glacial Indifference"/>
              </a:rPr>
              <a:t>s</a:t>
            </a:r>
          </a:p>
          <a:p>
            <a:pPr algn="l" marL="0" indent="0" lvl="1">
              <a:lnSpc>
                <a:spcPts val="3640"/>
              </a:lnSpc>
              <a:spcBef>
                <a:spcPct val="0"/>
              </a:spcBef>
            </a:pPr>
            <a:r>
              <a:rPr lang="en-US" sz="2600" strike="noStrike" u="none">
                <a:solidFill>
                  <a:srgbClr val="D6B03D"/>
                </a:solidFill>
                <a:latin typeface="Glacial Indifference"/>
                <a:ea typeface="Glacial Indifference"/>
                <a:cs typeface="Glacial Indifference"/>
                <a:sym typeface="Glacial Indifference"/>
              </a:rPr>
              <a:t>Model State Data Privacy Act</a:t>
            </a:r>
          </a:p>
          <a:p>
            <a:pPr algn="l">
              <a:lnSpc>
                <a:spcPts val="3640"/>
              </a:lnSpc>
              <a:spcBef>
                <a:spcPct val="0"/>
              </a:spcBef>
            </a:pPr>
            <a:r>
              <a:rPr lang="en-US" sz="2600" strike="noStrike" u="none">
                <a:solidFill>
                  <a:srgbClr val="D6B03D"/>
                </a:solidFill>
                <a:latin typeface="Glacial Indifference"/>
                <a:ea typeface="Glacial Indifference"/>
                <a:cs typeface="Glacial Indifference"/>
                <a:sym typeface="Glacial Indifference"/>
              </a:rPr>
              <a:t>International Law </a:t>
            </a:r>
          </a:p>
          <a:p>
            <a:pPr algn="l">
              <a:lnSpc>
                <a:spcPts val="3640"/>
              </a:lnSpc>
              <a:spcBef>
                <a:spcPct val="0"/>
              </a:spcBef>
            </a:pPr>
            <a:r>
              <a:rPr lang="en-US" sz="2600" strike="noStrike" u="none">
                <a:solidFill>
                  <a:srgbClr val="D6B03D"/>
                </a:solidFill>
                <a:latin typeface="Glacial Indifference"/>
                <a:ea typeface="Glacial Indifference"/>
                <a:cs typeface="Glacial Indifference"/>
                <a:sym typeface="Glacial Indifference"/>
              </a:rPr>
              <a:t>Compilation for the Future</a:t>
            </a:r>
          </a:p>
          <a:p>
            <a:pPr algn="l" marL="0" indent="0" lvl="1">
              <a:lnSpc>
                <a:spcPts val="3640"/>
              </a:lnSpc>
              <a:spcBef>
                <a:spcPct val="0"/>
              </a:spcBef>
            </a:pPr>
            <a:r>
              <a:rPr lang="en-US" sz="2600" strike="noStrike" u="none">
                <a:solidFill>
                  <a:srgbClr val="D6B03D"/>
                </a:solidFill>
                <a:latin typeface="Glacial Indifference"/>
                <a:ea typeface="Glacial Indifference"/>
                <a:cs typeface="Glacial Indifference"/>
                <a:sym typeface="Glacial Indifference"/>
              </a:rPr>
              <a:t>Sources</a:t>
            </a:r>
          </a:p>
        </p:txBody>
      </p:sp>
      <p:grpSp>
        <p:nvGrpSpPr>
          <p:cNvPr name="Group 7" id="7"/>
          <p:cNvGrpSpPr>
            <a:grpSpLocks noChangeAspect="true"/>
          </p:cNvGrpSpPr>
          <p:nvPr/>
        </p:nvGrpSpPr>
        <p:grpSpPr>
          <a:xfrm rot="0">
            <a:off x="9658173" y="1242018"/>
            <a:ext cx="7601127" cy="7601127"/>
            <a:chOff x="0" y="0"/>
            <a:chExt cx="8916670" cy="8916670"/>
          </a:xfrm>
        </p:grpSpPr>
        <p:sp>
          <p:nvSpPr>
            <p:cNvPr name="Freeform 8" id="8"/>
            <p:cNvSpPr/>
            <p:nvPr/>
          </p:nvSpPr>
          <p:spPr>
            <a:xfrm flipH="false" flipV="false" rot="0">
              <a:off x="154940" y="154940"/>
              <a:ext cx="8605520" cy="8605520"/>
            </a:xfrm>
            <a:custGeom>
              <a:avLst/>
              <a:gdLst/>
              <a:ahLst/>
              <a:cxnLst/>
              <a:rect r="r" b="b" t="t" l="l"/>
              <a:pathLst>
                <a:path h="8605520" w="8605520">
                  <a:moveTo>
                    <a:pt x="8605520" y="4302760"/>
                  </a:moveTo>
                  <a:cubicBezTo>
                    <a:pt x="8605520" y="6678930"/>
                    <a:pt x="6678930" y="8605520"/>
                    <a:pt x="4302760" y="8605520"/>
                  </a:cubicBezTo>
                  <a:cubicBezTo>
                    <a:pt x="1926590" y="8605520"/>
                    <a:pt x="0" y="6680200"/>
                    <a:pt x="0" y="4302760"/>
                  </a:cubicBezTo>
                  <a:cubicBezTo>
                    <a:pt x="0" y="1925320"/>
                    <a:pt x="1926590" y="0"/>
                    <a:pt x="4302760" y="0"/>
                  </a:cubicBezTo>
                  <a:cubicBezTo>
                    <a:pt x="6678930" y="0"/>
                    <a:pt x="8605520" y="1926590"/>
                    <a:pt x="8605520" y="4302760"/>
                  </a:cubicBezTo>
                  <a:close/>
                </a:path>
              </a:pathLst>
            </a:custGeom>
            <a:blipFill>
              <a:blip r:embed="rId2"/>
              <a:stretch>
                <a:fillRect l="-20011" t="0" r="-20011" b="0"/>
              </a:stretch>
            </a:blipFill>
          </p:spPr>
        </p:sp>
        <p:sp>
          <p:nvSpPr>
            <p:cNvPr name="Freeform 9" id="9"/>
            <p:cNvSpPr/>
            <p:nvPr/>
          </p:nvSpPr>
          <p:spPr>
            <a:xfrm flipH="false" flipV="false" rot="0">
              <a:off x="6350" y="6350"/>
              <a:ext cx="8903970" cy="8903970"/>
            </a:xfrm>
            <a:custGeom>
              <a:avLst/>
              <a:gdLst/>
              <a:ahLst/>
              <a:cxnLst/>
              <a:rect r="r" b="b" t="t" l="l"/>
              <a:pathLst>
                <a:path h="8903970" w="8903970">
                  <a:moveTo>
                    <a:pt x="4451350" y="8903970"/>
                  </a:moveTo>
                  <a:cubicBezTo>
                    <a:pt x="1997710" y="8903970"/>
                    <a:pt x="0" y="6906260"/>
                    <a:pt x="0" y="4451350"/>
                  </a:cubicBezTo>
                  <a:cubicBezTo>
                    <a:pt x="0" y="1996440"/>
                    <a:pt x="1997710" y="0"/>
                    <a:pt x="4451350" y="0"/>
                  </a:cubicBezTo>
                  <a:cubicBezTo>
                    <a:pt x="6904990" y="0"/>
                    <a:pt x="8903970" y="1997710"/>
                    <a:pt x="8903970" y="4451350"/>
                  </a:cubicBezTo>
                  <a:cubicBezTo>
                    <a:pt x="8903970" y="6904990"/>
                    <a:pt x="6906260" y="8903970"/>
                    <a:pt x="4451350" y="8903970"/>
                  </a:cubicBezTo>
                  <a:close/>
                  <a:moveTo>
                    <a:pt x="4451350" y="19050"/>
                  </a:moveTo>
                  <a:cubicBezTo>
                    <a:pt x="2007870" y="19050"/>
                    <a:pt x="19050" y="2007870"/>
                    <a:pt x="19050" y="4451350"/>
                  </a:cubicBezTo>
                  <a:cubicBezTo>
                    <a:pt x="19050" y="6894830"/>
                    <a:pt x="2007870" y="8883650"/>
                    <a:pt x="4451350" y="8883650"/>
                  </a:cubicBezTo>
                  <a:cubicBezTo>
                    <a:pt x="6894830" y="8883650"/>
                    <a:pt x="8883650" y="6894830"/>
                    <a:pt x="8883650" y="4451350"/>
                  </a:cubicBezTo>
                  <a:cubicBezTo>
                    <a:pt x="8883650" y="2007870"/>
                    <a:pt x="6896100" y="19050"/>
                    <a:pt x="4451350" y="19050"/>
                  </a:cubicBezTo>
                  <a:close/>
                  <a:moveTo>
                    <a:pt x="4451350" y="8764270"/>
                  </a:moveTo>
                  <a:cubicBezTo>
                    <a:pt x="2073910" y="8764270"/>
                    <a:pt x="139700" y="6830060"/>
                    <a:pt x="139700" y="4451350"/>
                  </a:cubicBezTo>
                  <a:cubicBezTo>
                    <a:pt x="139700" y="2072640"/>
                    <a:pt x="2073910" y="139700"/>
                    <a:pt x="4451350" y="139700"/>
                  </a:cubicBezTo>
                  <a:cubicBezTo>
                    <a:pt x="6828790" y="139700"/>
                    <a:pt x="8764270" y="2073910"/>
                    <a:pt x="8764270" y="4451350"/>
                  </a:cubicBezTo>
                  <a:cubicBezTo>
                    <a:pt x="8764270" y="6828790"/>
                    <a:pt x="6830060" y="8764270"/>
                    <a:pt x="4451350" y="8764270"/>
                  </a:cubicBezTo>
                  <a:close/>
                  <a:moveTo>
                    <a:pt x="4451350" y="158750"/>
                  </a:moveTo>
                  <a:cubicBezTo>
                    <a:pt x="2084070" y="158750"/>
                    <a:pt x="158750" y="2084070"/>
                    <a:pt x="158750" y="4451350"/>
                  </a:cubicBezTo>
                  <a:cubicBezTo>
                    <a:pt x="158750" y="6818630"/>
                    <a:pt x="2084070" y="8743950"/>
                    <a:pt x="4451350" y="8743950"/>
                  </a:cubicBezTo>
                  <a:cubicBezTo>
                    <a:pt x="6818630" y="8743950"/>
                    <a:pt x="8743950" y="6818630"/>
                    <a:pt x="8743950" y="4451350"/>
                  </a:cubicBezTo>
                  <a:cubicBezTo>
                    <a:pt x="8743950" y="2084070"/>
                    <a:pt x="6819900" y="158750"/>
                    <a:pt x="4451350" y="158750"/>
                  </a:cubicBezTo>
                  <a:close/>
                </a:path>
              </a:pathLst>
            </a:custGeom>
            <a:solidFill>
              <a:srgbClr val="D6B03D"/>
            </a:solid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1660131" y="2017467"/>
            <a:ext cx="6384886" cy="1275272"/>
          </a:xfrm>
          <a:prstGeom prst="rect">
            <a:avLst/>
          </a:prstGeom>
        </p:spPr>
        <p:txBody>
          <a:bodyPr anchor="t" rtlCol="false" tIns="0" lIns="0" bIns="0" rIns="0">
            <a:spAutoFit/>
          </a:bodyPr>
          <a:lstStyle/>
          <a:p>
            <a:pPr algn="l">
              <a:lnSpc>
                <a:spcPts val="9233"/>
              </a:lnSpc>
            </a:pPr>
            <a:r>
              <a:rPr lang="en-US" sz="8244" spc="41">
                <a:solidFill>
                  <a:srgbClr val="D6B03D"/>
                </a:solidFill>
                <a:latin typeface="Maharlika"/>
                <a:ea typeface="Maharlika"/>
                <a:cs typeface="Maharlika"/>
                <a:sym typeface="Maharlika"/>
              </a:rPr>
              <a:t>Introduction</a:t>
            </a:r>
          </a:p>
        </p:txBody>
      </p:sp>
      <p:sp>
        <p:nvSpPr>
          <p:cNvPr name="TextBox 3" id="3"/>
          <p:cNvSpPr txBox="true"/>
          <p:nvPr/>
        </p:nvSpPr>
        <p:spPr>
          <a:xfrm rot="0">
            <a:off x="1660131" y="3408727"/>
            <a:ext cx="6787723" cy="4930776"/>
          </a:xfrm>
          <a:prstGeom prst="rect">
            <a:avLst/>
          </a:prstGeom>
        </p:spPr>
        <p:txBody>
          <a:bodyPr anchor="t" rtlCol="false" tIns="0" lIns="0" bIns="0" rIns="0">
            <a:spAutoFit/>
          </a:bodyPr>
          <a:lstStyle/>
          <a:p>
            <a:pPr algn="l" marL="0" indent="0" lvl="1">
              <a:lnSpc>
                <a:spcPts val="4899"/>
              </a:lnSpc>
              <a:spcBef>
                <a:spcPct val="0"/>
              </a:spcBef>
            </a:pPr>
            <a:r>
              <a:rPr lang="en-US" sz="3499">
                <a:solidFill>
                  <a:srgbClr val="D6B03D"/>
                </a:solidFill>
                <a:latin typeface="Glacial Indifference"/>
                <a:ea typeface="Glacial Indifference"/>
                <a:cs typeface="Glacial Indifference"/>
                <a:sym typeface="Glacial Indifference"/>
              </a:rPr>
              <a:t>The critical issues affecting citizens of State X are limited privacy rights for individuals and employees, lack of AI protections to mitigate harms to physical and mental safety, and limited cooperation to ensure citizens of State X remain protected. </a:t>
            </a:r>
          </a:p>
        </p:txBody>
      </p:sp>
      <p:grpSp>
        <p:nvGrpSpPr>
          <p:cNvPr name="Group 4" id="4"/>
          <p:cNvGrpSpPr>
            <a:grpSpLocks noChangeAspect="true"/>
          </p:cNvGrpSpPr>
          <p:nvPr/>
        </p:nvGrpSpPr>
        <p:grpSpPr>
          <a:xfrm rot="0">
            <a:off x="9658173" y="1242018"/>
            <a:ext cx="7601127" cy="7601127"/>
            <a:chOff x="0" y="0"/>
            <a:chExt cx="8916670" cy="8916670"/>
          </a:xfrm>
        </p:grpSpPr>
        <p:sp>
          <p:nvSpPr>
            <p:cNvPr name="Freeform 5" id="5"/>
            <p:cNvSpPr/>
            <p:nvPr/>
          </p:nvSpPr>
          <p:spPr>
            <a:xfrm flipH="false" flipV="false" rot="0">
              <a:off x="154940" y="154940"/>
              <a:ext cx="8605520" cy="8605520"/>
            </a:xfrm>
            <a:custGeom>
              <a:avLst/>
              <a:gdLst/>
              <a:ahLst/>
              <a:cxnLst/>
              <a:rect r="r" b="b" t="t" l="l"/>
              <a:pathLst>
                <a:path h="8605520" w="8605520">
                  <a:moveTo>
                    <a:pt x="8605520" y="4302760"/>
                  </a:moveTo>
                  <a:cubicBezTo>
                    <a:pt x="8605520" y="6678930"/>
                    <a:pt x="6678930" y="8605520"/>
                    <a:pt x="4302760" y="8605520"/>
                  </a:cubicBezTo>
                  <a:cubicBezTo>
                    <a:pt x="1926590" y="8605520"/>
                    <a:pt x="0" y="6680200"/>
                    <a:pt x="0" y="4302760"/>
                  </a:cubicBezTo>
                  <a:cubicBezTo>
                    <a:pt x="0" y="1925320"/>
                    <a:pt x="1926590" y="0"/>
                    <a:pt x="4302760" y="0"/>
                  </a:cubicBezTo>
                  <a:cubicBezTo>
                    <a:pt x="6678930" y="0"/>
                    <a:pt x="8605520" y="1926590"/>
                    <a:pt x="8605520" y="4302760"/>
                  </a:cubicBezTo>
                  <a:close/>
                </a:path>
              </a:pathLst>
            </a:custGeom>
            <a:blipFill>
              <a:blip r:embed="rId2"/>
              <a:stretch>
                <a:fillRect l="-20011" t="0" r="-20011" b="0"/>
              </a:stretch>
            </a:blipFill>
          </p:spPr>
        </p:sp>
        <p:sp>
          <p:nvSpPr>
            <p:cNvPr name="Freeform 6" id="6"/>
            <p:cNvSpPr/>
            <p:nvPr/>
          </p:nvSpPr>
          <p:spPr>
            <a:xfrm flipH="false" flipV="false" rot="0">
              <a:off x="6350" y="6350"/>
              <a:ext cx="8903970" cy="8903970"/>
            </a:xfrm>
            <a:custGeom>
              <a:avLst/>
              <a:gdLst/>
              <a:ahLst/>
              <a:cxnLst/>
              <a:rect r="r" b="b" t="t" l="l"/>
              <a:pathLst>
                <a:path h="8903970" w="8903970">
                  <a:moveTo>
                    <a:pt x="4451350" y="8903970"/>
                  </a:moveTo>
                  <a:cubicBezTo>
                    <a:pt x="1997710" y="8903970"/>
                    <a:pt x="0" y="6906260"/>
                    <a:pt x="0" y="4451350"/>
                  </a:cubicBezTo>
                  <a:cubicBezTo>
                    <a:pt x="0" y="1996440"/>
                    <a:pt x="1997710" y="0"/>
                    <a:pt x="4451350" y="0"/>
                  </a:cubicBezTo>
                  <a:cubicBezTo>
                    <a:pt x="6904990" y="0"/>
                    <a:pt x="8903970" y="1997710"/>
                    <a:pt x="8903970" y="4451350"/>
                  </a:cubicBezTo>
                  <a:cubicBezTo>
                    <a:pt x="8903970" y="6904990"/>
                    <a:pt x="6906260" y="8903970"/>
                    <a:pt x="4451350" y="8903970"/>
                  </a:cubicBezTo>
                  <a:close/>
                  <a:moveTo>
                    <a:pt x="4451350" y="19050"/>
                  </a:moveTo>
                  <a:cubicBezTo>
                    <a:pt x="2007870" y="19050"/>
                    <a:pt x="19050" y="2007870"/>
                    <a:pt x="19050" y="4451350"/>
                  </a:cubicBezTo>
                  <a:cubicBezTo>
                    <a:pt x="19050" y="6894830"/>
                    <a:pt x="2007870" y="8883650"/>
                    <a:pt x="4451350" y="8883650"/>
                  </a:cubicBezTo>
                  <a:cubicBezTo>
                    <a:pt x="6894830" y="8883650"/>
                    <a:pt x="8883650" y="6894830"/>
                    <a:pt x="8883650" y="4451350"/>
                  </a:cubicBezTo>
                  <a:cubicBezTo>
                    <a:pt x="8883650" y="2007870"/>
                    <a:pt x="6896100" y="19050"/>
                    <a:pt x="4451350" y="19050"/>
                  </a:cubicBezTo>
                  <a:close/>
                  <a:moveTo>
                    <a:pt x="4451350" y="8764270"/>
                  </a:moveTo>
                  <a:cubicBezTo>
                    <a:pt x="2073910" y="8764270"/>
                    <a:pt x="139700" y="6830060"/>
                    <a:pt x="139700" y="4451350"/>
                  </a:cubicBezTo>
                  <a:cubicBezTo>
                    <a:pt x="139700" y="2072640"/>
                    <a:pt x="2073910" y="139700"/>
                    <a:pt x="4451350" y="139700"/>
                  </a:cubicBezTo>
                  <a:cubicBezTo>
                    <a:pt x="6828790" y="139700"/>
                    <a:pt x="8764270" y="2073910"/>
                    <a:pt x="8764270" y="4451350"/>
                  </a:cubicBezTo>
                  <a:cubicBezTo>
                    <a:pt x="8764270" y="6828790"/>
                    <a:pt x="6830060" y="8764270"/>
                    <a:pt x="4451350" y="8764270"/>
                  </a:cubicBezTo>
                  <a:close/>
                  <a:moveTo>
                    <a:pt x="4451350" y="158750"/>
                  </a:moveTo>
                  <a:cubicBezTo>
                    <a:pt x="2084070" y="158750"/>
                    <a:pt x="158750" y="2084070"/>
                    <a:pt x="158750" y="4451350"/>
                  </a:cubicBezTo>
                  <a:cubicBezTo>
                    <a:pt x="158750" y="6818630"/>
                    <a:pt x="2084070" y="8743950"/>
                    <a:pt x="4451350" y="8743950"/>
                  </a:cubicBezTo>
                  <a:cubicBezTo>
                    <a:pt x="6818630" y="8743950"/>
                    <a:pt x="8743950" y="6818630"/>
                    <a:pt x="8743950" y="4451350"/>
                  </a:cubicBezTo>
                  <a:cubicBezTo>
                    <a:pt x="8743950" y="2084070"/>
                    <a:pt x="6819900" y="158750"/>
                    <a:pt x="4451350" y="158750"/>
                  </a:cubicBezTo>
                  <a:close/>
                </a:path>
              </a:pathLst>
            </a:custGeom>
            <a:solidFill>
              <a:srgbClr val="D6B03D"/>
            </a:solid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1395886" y="439745"/>
            <a:ext cx="8222468" cy="788670"/>
          </a:xfrm>
          <a:prstGeom prst="rect">
            <a:avLst/>
          </a:prstGeom>
        </p:spPr>
        <p:txBody>
          <a:bodyPr anchor="t" rtlCol="false" tIns="0" lIns="0" bIns="0" rIns="0">
            <a:spAutoFit/>
          </a:bodyPr>
          <a:lstStyle/>
          <a:p>
            <a:pPr algn="l">
              <a:lnSpc>
                <a:spcPts val="5940"/>
              </a:lnSpc>
            </a:pPr>
            <a:r>
              <a:rPr lang="en-US" sz="4500" spc="22">
                <a:solidFill>
                  <a:srgbClr val="D6B03D"/>
                </a:solidFill>
                <a:latin typeface="Maharlika"/>
                <a:ea typeface="Maharlika"/>
                <a:cs typeface="Maharlika"/>
                <a:sym typeface="Maharlika"/>
              </a:rPr>
              <a:t>Areas Federal Law Covers  </a:t>
            </a:r>
          </a:p>
        </p:txBody>
      </p:sp>
      <p:grpSp>
        <p:nvGrpSpPr>
          <p:cNvPr name="Group 3" id="3"/>
          <p:cNvGrpSpPr/>
          <p:nvPr/>
        </p:nvGrpSpPr>
        <p:grpSpPr>
          <a:xfrm rot="0">
            <a:off x="11356301" y="-182033"/>
            <a:ext cx="7171724" cy="10681049"/>
            <a:chOff x="0" y="0"/>
            <a:chExt cx="1672633" cy="2491098"/>
          </a:xfrm>
        </p:grpSpPr>
        <p:sp>
          <p:nvSpPr>
            <p:cNvPr name="Freeform 4" id="4"/>
            <p:cNvSpPr/>
            <p:nvPr/>
          </p:nvSpPr>
          <p:spPr>
            <a:xfrm flipH="false" flipV="false" rot="0">
              <a:off x="0" y="0"/>
              <a:ext cx="1672633" cy="2491098"/>
            </a:xfrm>
            <a:custGeom>
              <a:avLst/>
              <a:gdLst/>
              <a:ahLst/>
              <a:cxnLst/>
              <a:rect r="r" b="b" t="t" l="l"/>
              <a:pathLst>
                <a:path h="2491098" w="1672633">
                  <a:moveTo>
                    <a:pt x="0" y="0"/>
                  </a:moveTo>
                  <a:lnTo>
                    <a:pt x="1672633" y="0"/>
                  </a:lnTo>
                  <a:lnTo>
                    <a:pt x="1672633" y="2491098"/>
                  </a:lnTo>
                  <a:lnTo>
                    <a:pt x="0" y="2491098"/>
                  </a:lnTo>
                  <a:close/>
                </a:path>
              </a:pathLst>
            </a:custGeom>
            <a:blipFill>
              <a:blip r:embed="rId2"/>
              <a:stretch>
                <a:fillRect l="-75782" t="0" r="-47616" b="0"/>
              </a:stretch>
            </a:blipFill>
            <a:ln w="38100" cap="sq">
              <a:solidFill>
                <a:srgbClr val="D6B03D"/>
              </a:solidFill>
              <a:prstDash val="solid"/>
              <a:miter/>
            </a:ln>
          </p:spPr>
        </p:sp>
      </p:grpSp>
      <p:sp>
        <p:nvSpPr>
          <p:cNvPr name="TextBox 5" id="5"/>
          <p:cNvSpPr txBox="true"/>
          <p:nvPr/>
        </p:nvSpPr>
        <p:spPr>
          <a:xfrm rot="0">
            <a:off x="1395886" y="1420813"/>
            <a:ext cx="7072731" cy="7990840"/>
          </a:xfrm>
          <a:prstGeom prst="rect">
            <a:avLst/>
          </a:prstGeom>
        </p:spPr>
        <p:txBody>
          <a:bodyPr anchor="t" rtlCol="false" tIns="0" lIns="0" bIns="0" rIns="0">
            <a:spAutoFit/>
          </a:bodyPr>
          <a:lstStyle/>
          <a:p>
            <a:pPr algn="l" marL="410209" indent="-205105" lvl="1">
              <a:lnSpc>
                <a:spcPts val="2659"/>
              </a:lnSpc>
              <a:buFont typeface="Arial"/>
              <a:buChar char="•"/>
            </a:pPr>
            <a:r>
              <a:rPr lang="en-US" sz="1899">
                <a:solidFill>
                  <a:srgbClr val="D6B03D"/>
                </a:solidFill>
                <a:latin typeface="Glacial Indifference"/>
                <a:ea typeface="Glacial Indifference"/>
                <a:cs typeface="Glacial Indifference"/>
                <a:sym typeface="Glacial Indifference"/>
              </a:rPr>
              <a:t>Th</a:t>
            </a:r>
            <a:r>
              <a:rPr lang="en-US" sz="1899" strike="noStrike" u="none">
                <a:solidFill>
                  <a:srgbClr val="D6B03D"/>
                </a:solidFill>
                <a:latin typeface="Glacial Indifference"/>
                <a:ea typeface="Glacial Indifference"/>
                <a:cs typeface="Glacial Indifference"/>
                <a:sym typeface="Glacial Indifference"/>
              </a:rPr>
              <a:t>e </a:t>
            </a:r>
            <a:r>
              <a:rPr lang="en-US" sz="1899" strike="noStrike" u="none">
                <a:solidFill>
                  <a:srgbClr val="D6B03D"/>
                </a:solidFill>
                <a:latin typeface="Glacial Indifference"/>
                <a:ea typeface="Glacial Indifference"/>
                <a:cs typeface="Glacial Indifference"/>
                <a:sym typeface="Glacial Indifference"/>
              </a:rPr>
              <a:t>Electron</a:t>
            </a:r>
            <a:r>
              <a:rPr lang="en-US" sz="1899" strike="noStrike" u="none">
                <a:solidFill>
                  <a:srgbClr val="D6B03D"/>
                </a:solidFill>
                <a:latin typeface="Glacial Indifference"/>
                <a:ea typeface="Glacial Indifference"/>
                <a:cs typeface="Glacial Indifference"/>
                <a:sym typeface="Glacial Indifference"/>
              </a:rPr>
              <a:t>i</a:t>
            </a:r>
            <a:r>
              <a:rPr lang="en-US" sz="1899" strike="noStrike" u="none">
                <a:solidFill>
                  <a:srgbClr val="D6B03D"/>
                </a:solidFill>
                <a:latin typeface="Glacial Indifference"/>
                <a:ea typeface="Glacial Indifference"/>
                <a:cs typeface="Glacial Indifference"/>
                <a:sym typeface="Glacial Indifference"/>
              </a:rPr>
              <a:t>c</a:t>
            </a:r>
            <a:r>
              <a:rPr lang="en-US" sz="1899" strike="noStrike" u="none">
                <a:solidFill>
                  <a:srgbClr val="D6B03D"/>
                </a:solidFill>
                <a:latin typeface="Glacial Indifference"/>
                <a:ea typeface="Glacial Indifference"/>
                <a:cs typeface="Glacial Indifference"/>
                <a:sym typeface="Glacial Indifference"/>
              </a:rPr>
              <a:t> </a:t>
            </a:r>
            <a:r>
              <a:rPr lang="en-US" sz="1899" strike="noStrike" u="none">
                <a:solidFill>
                  <a:srgbClr val="D6B03D"/>
                </a:solidFill>
                <a:latin typeface="Glacial Indifference"/>
                <a:ea typeface="Glacial Indifference"/>
                <a:cs typeface="Glacial Indifference"/>
                <a:sym typeface="Glacial Indifference"/>
              </a:rPr>
              <a:t>C</a:t>
            </a:r>
            <a:r>
              <a:rPr lang="en-US" sz="1899" strike="noStrike" u="none">
                <a:solidFill>
                  <a:srgbClr val="D6B03D"/>
                </a:solidFill>
                <a:latin typeface="Glacial Indifference"/>
                <a:ea typeface="Glacial Indifference"/>
                <a:cs typeface="Glacial Indifference"/>
                <a:sym typeface="Glacial Indifference"/>
              </a:rPr>
              <a:t>o</a:t>
            </a:r>
            <a:r>
              <a:rPr lang="en-US" sz="1899" strike="noStrike" u="none">
                <a:solidFill>
                  <a:srgbClr val="D6B03D"/>
                </a:solidFill>
                <a:latin typeface="Glacial Indifference"/>
                <a:ea typeface="Glacial Indifference"/>
                <a:cs typeface="Glacial Indifference"/>
                <a:sym typeface="Glacial Indifference"/>
              </a:rPr>
              <a:t>mmunicati</a:t>
            </a:r>
            <a:r>
              <a:rPr lang="en-US" sz="1899" strike="noStrike" u="none">
                <a:solidFill>
                  <a:srgbClr val="D6B03D"/>
                </a:solidFill>
                <a:latin typeface="Glacial Indifference"/>
                <a:ea typeface="Glacial Indifference"/>
                <a:cs typeface="Glacial Indifference"/>
                <a:sym typeface="Glacial Indifference"/>
              </a:rPr>
              <a:t>o</a:t>
            </a:r>
            <a:r>
              <a:rPr lang="en-US" sz="1899" strike="noStrike" u="none">
                <a:solidFill>
                  <a:srgbClr val="D6B03D"/>
                </a:solidFill>
                <a:latin typeface="Glacial Indifference"/>
                <a:ea typeface="Glacial Indifference"/>
                <a:cs typeface="Glacial Indifference"/>
                <a:sym typeface="Glacial Indifference"/>
              </a:rPr>
              <a:t>ns P</a:t>
            </a:r>
            <a:r>
              <a:rPr lang="en-US" sz="1899" strike="noStrike" u="none">
                <a:solidFill>
                  <a:srgbClr val="D6B03D"/>
                </a:solidFill>
                <a:latin typeface="Glacial Indifference"/>
                <a:ea typeface="Glacial Indifference"/>
                <a:cs typeface="Glacial Indifference"/>
                <a:sym typeface="Glacial Indifference"/>
              </a:rPr>
              <a:t>r</a:t>
            </a:r>
            <a:r>
              <a:rPr lang="en-US" sz="1899" strike="noStrike" u="none">
                <a:solidFill>
                  <a:srgbClr val="D6B03D"/>
                </a:solidFill>
                <a:latin typeface="Glacial Indifference"/>
                <a:ea typeface="Glacial Indifference"/>
                <a:cs typeface="Glacial Indifference"/>
                <a:sym typeface="Glacial Indifference"/>
              </a:rPr>
              <a:t>ivacy</a:t>
            </a:r>
            <a:r>
              <a:rPr lang="en-US" sz="1899" strike="noStrike" u="none">
                <a:solidFill>
                  <a:srgbClr val="D6B03D"/>
                </a:solidFill>
                <a:latin typeface="Glacial Indifference"/>
                <a:ea typeface="Glacial Indifference"/>
                <a:cs typeface="Glacial Indifference"/>
                <a:sym typeface="Glacial Indifference"/>
              </a:rPr>
              <a:t> </a:t>
            </a:r>
            <a:r>
              <a:rPr lang="en-US" sz="1899" strike="noStrike" u="none">
                <a:solidFill>
                  <a:srgbClr val="D6B03D"/>
                </a:solidFill>
                <a:latin typeface="Glacial Indifference"/>
                <a:ea typeface="Glacial Indifference"/>
                <a:cs typeface="Glacial Indifference"/>
                <a:sym typeface="Glacial Indifference"/>
              </a:rPr>
              <a:t>Act-governs wiretapping and electronic eavesdropping (18 U.S.C. §§ 2510–2522)</a:t>
            </a:r>
          </a:p>
          <a:p>
            <a:pPr algn="l" marL="410209" indent="-205105" lvl="1">
              <a:lnSpc>
                <a:spcPts val="2659"/>
              </a:lnSpc>
              <a:buFont typeface="Arial"/>
              <a:buChar char="•"/>
            </a:pPr>
            <a:r>
              <a:rPr lang="en-US" sz="1899" strike="noStrike" u="none">
                <a:solidFill>
                  <a:srgbClr val="D6B03D"/>
                </a:solidFill>
                <a:latin typeface="Glacial Indifference"/>
                <a:ea typeface="Glacial Indifference"/>
                <a:cs typeface="Glacial Indifference"/>
                <a:sym typeface="Glacial Indifference"/>
              </a:rPr>
              <a:t>R</a:t>
            </a:r>
            <a:r>
              <a:rPr lang="en-US" sz="1899" strike="noStrike" u="none">
                <a:solidFill>
                  <a:srgbClr val="D6B03D"/>
                </a:solidFill>
                <a:latin typeface="Glacial Indifference"/>
                <a:ea typeface="Glacial Indifference"/>
                <a:cs typeface="Glacial Indifference"/>
                <a:sym typeface="Glacial Indifference"/>
              </a:rPr>
              <a:t>i</a:t>
            </a:r>
            <a:r>
              <a:rPr lang="en-US" sz="1899" strike="noStrike" u="none">
                <a:solidFill>
                  <a:srgbClr val="D6B03D"/>
                </a:solidFill>
                <a:latin typeface="Glacial Indifference"/>
                <a:ea typeface="Glacial Indifference"/>
                <a:cs typeface="Glacial Indifference"/>
                <a:sym typeface="Glacial Indifference"/>
              </a:rPr>
              <a:t>gh</a:t>
            </a:r>
            <a:r>
              <a:rPr lang="en-US" sz="1899" strike="noStrike" u="none">
                <a:solidFill>
                  <a:srgbClr val="D6B03D"/>
                </a:solidFill>
                <a:latin typeface="Glacial Indifference"/>
                <a:ea typeface="Glacial Indifference"/>
                <a:cs typeface="Glacial Indifference"/>
                <a:sym typeface="Glacial Indifference"/>
              </a:rPr>
              <a:t>t </a:t>
            </a:r>
            <a:r>
              <a:rPr lang="en-US" sz="1899" strike="noStrike" u="none">
                <a:solidFill>
                  <a:srgbClr val="D6B03D"/>
                </a:solidFill>
                <a:latin typeface="Glacial Indifference"/>
                <a:ea typeface="Glacial Indifference"/>
                <a:cs typeface="Glacial Indifference"/>
                <a:sym typeface="Glacial Indifference"/>
              </a:rPr>
              <a:t>to Fin</a:t>
            </a:r>
            <a:r>
              <a:rPr lang="en-US" sz="1899" strike="noStrike" u="none">
                <a:solidFill>
                  <a:srgbClr val="D6B03D"/>
                </a:solidFill>
                <a:latin typeface="Glacial Indifference"/>
                <a:ea typeface="Glacial Indifference"/>
                <a:cs typeface="Glacial Indifference"/>
                <a:sym typeface="Glacial Indifference"/>
              </a:rPr>
              <a:t>a</a:t>
            </a:r>
            <a:r>
              <a:rPr lang="en-US" sz="1899" strike="noStrike" u="none">
                <a:solidFill>
                  <a:srgbClr val="D6B03D"/>
                </a:solidFill>
                <a:latin typeface="Glacial Indifference"/>
                <a:ea typeface="Glacial Indifference"/>
                <a:cs typeface="Glacial Indifference"/>
                <a:sym typeface="Glacial Indifference"/>
              </a:rPr>
              <a:t>ncial Privacy Ac</a:t>
            </a:r>
            <a:r>
              <a:rPr lang="en-US" sz="1899" strike="noStrike" u="none">
                <a:solidFill>
                  <a:srgbClr val="D6B03D"/>
                </a:solidFill>
                <a:latin typeface="Glacial Indifference"/>
                <a:ea typeface="Glacial Indifference"/>
                <a:cs typeface="Glacial Indifference"/>
                <a:sym typeface="Glacial Indifference"/>
              </a:rPr>
              <a:t>t-governs financial records (</a:t>
            </a:r>
            <a:r>
              <a:rPr lang="en-US" sz="1899" strike="noStrike">
                <a:solidFill>
                  <a:srgbClr val="D6B03D"/>
                </a:solidFill>
                <a:latin typeface="Glacial Indifference"/>
                <a:ea typeface="Glacial Indifference"/>
                <a:cs typeface="Glacial Indifference"/>
                <a:sym typeface="Glacial Indifference"/>
              </a:rPr>
              <a:t>12 U.S.C. §§ 3401-342)</a:t>
            </a:r>
          </a:p>
          <a:p>
            <a:pPr algn="l" marL="410209" indent="-205105" lvl="1">
              <a:lnSpc>
                <a:spcPts val="2659"/>
              </a:lnSpc>
              <a:buFont typeface="Arial"/>
              <a:buChar char="•"/>
            </a:pPr>
            <a:r>
              <a:rPr lang="en-US" sz="1899" strike="noStrike" u="none">
                <a:solidFill>
                  <a:srgbClr val="D6B03D"/>
                </a:solidFill>
                <a:latin typeface="Glacial Indifference"/>
                <a:ea typeface="Glacial Indifference"/>
                <a:cs typeface="Glacial Indifference"/>
                <a:sym typeface="Glacial Indifference"/>
              </a:rPr>
              <a:t>T</a:t>
            </a:r>
            <a:r>
              <a:rPr lang="en-US" sz="1899" strike="noStrike" u="none">
                <a:solidFill>
                  <a:srgbClr val="D6B03D"/>
                </a:solidFill>
                <a:latin typeface="Glacial Indifference"/>
                <a:ea typeface="Glacial Indifference"/>
                <a:cs typeface="Glacial Indifference"/>
                <a:sym typeface="Glacial Indifference"/>
              </a:rPr>
              <a:t>h</a:t>
            </a:r>
            <a:r>
              <a:rPr lang="en-US" sz="1899" strike="noStrike" u="none">
                <a:solidFill>
                  <a:srgbClr val="D6B03D"/>
                </a:solidFill>
                <a:latin typeface="Glacial Indifference"/>
                <a:ea typeface="Glacial Indifference"/>
                <a:cs typeface="Glacial Indifference"/>
                <a:sym typeface="Glacial Indifference"/>
              </a:rPr>
              <a:t>e</a:t>
            </a:r>
            <a:r>
              <a:rPr lang="en-US" sz="1899" strike="noStrike" u="none">
                <a:solidFill>
                  <a:srgbClr val="D6B03D"/>
                </a:solidFill>
                <a:latin typeface="Glacial Indifference"/>
                <a:ea typeface="Glacial Indifference"/>
                <a:cs typeface="Glacial Indifference"/>
                <a:sym typeface="Glacial Indifference"/>
              </a:rPr>
              <a:t> Cable Com</a:t>
            </a:r>
            <a:r>
              <a:rPr lang="en-US" sz="1899" strike="noStrike" u="none">
                <a:solidFill>
                  <a:srgbClr val="D6B03D"/>
                </a:solidFill>
                <a:latin typeface="Glacial Indifference"/>
                <a:ea typeface="Glacial Indifference"/>
                <a:cs typeface="Glacial Indifference"/>
                <a:sym typeface="Glacial Indifference"/>
              </a:rPr>
              <a:t>mu</a:t>
            </a:r>
            <a:r>
              <a:rPr lang="en-US" sz="1899" strike="noStrike" u="none">
                <a:solidFill>
                  <a:srgbClr val="D6B03D"/>
                </a:solidFill>
                <a:latin typeface="Glacial Indifference"/>
                <a:ea typeface="Glacial Indifference"/>
                <a:cs typeface="Glacial Indifference"/>
                <a:sym typeface="Glacial Indifference"/>
              </a:rPr>
              <a:t>ni</a:t>
            </a:r>
            <a:r>
              <a:rPr lang="en-US" sz="1899" strike="noStrike" u="none">
                <a:solidFill>
                  <a:srgbClr val="D6B03D"/>
                </a:solidFill>
                <a:latin typeface="Glacial Indifference"/>
                <a:ea typeface="Glacial Indifference"/>
                <a:cs typeface="Glacial Indifference"/>
                <a:sym typeface="Glacial Indifference"/>
              </a:rPr>
              <a:t>c</a:t>
            </a:r>
            <a:r>
              <a:rPr lang="en-US" sz="1899" strike="noStrike" u="none">
                <a:solidFill>
                  <a:srgbClr val="D6B03D"/>
                </a:solidFill>
                <a:latin typeface="Glacial Indifference"/>
                <a:ea typeface="Glacial Indifference"/>
                <a:cs typeface="Glacial Indifference"/>
                <a:sym typeface="Glacial Indifference"/>
              </a:rPr>
              <a:t>ati</a:t>
            </a:r>
            <a:r>
              <a:rPr lang="en-US" sz="1899" strike="noStrike" u="none">
                <a:solidFill>
                  <a:srgbClr val="D6B03D"/>
                </a:solidFill>
                <a:latin typeface="Glacial Indifference"/>
                <a:ea typeface="Glacial Indifference"/>
                <a:cs typeface="Glacial Indifference"/>
                <a:sym typeface="Glacial Indifference"/>
              </a:rPr>
              <a:t>ons</a:t>
            </a:r>
            <a:r>
              <a:rPr lang="en-US" sz="1899" strike="noStrike" u="none">
                <a:solidFill>
                  <a:srgbClr val="D6B03D"/>
                </a:solidFill>
                <a:latin typeface="Glacial Indifference"/>
                <a:ea typeface="Glacial Indifference"/>
                <a:cs typeface="Glacial Indifference"/>
                <a:sym typeface="Glacial Indifference"/>
              </a:rPr>
              <a:t> Privacy A</a:t>
            </a:r>
            <a:r>
              <a:rPr lang="en-US" sz="1899" strike="noStrike" u="none">
                <a:solidFill>
                  <a:srgbClr val="D6B03D"/>
                </a:solidFill>
                <a:latin typeface="Glacial Indifference"/>
                <a:ea typeface="Glacial Indifference"/>
                <a:cs typeface="Glacial Indifference"/>
                <a:sym typeface="Glacial Indifference"/>
              </a:rPr>
              <a:t>ct-governs conversations with cable providers (</a:t>
            </a:r>
            <a:r>
              <a:rPr lang="en-US" sz="1899" strike="noStrike">
                <a:solidFill>
                  <a:srgbClr val="D6B03D"/>
                </a:solidFill>
                <a:latin typeface="Glacial Indifference"/>
                <a:ea typeface="Glacial Indifference"/>
                <a:cs typeface="Glacial Indifference"/>
                <a:sym typeface="Glacial Indifference"/>
              </a:rPr>
              <a:t>47 U.S. Code § 551)</a:t>
            </a:r>
          </a:p>
          <a:p>
            <a:pPr algn="l" marL="410209" indent="-205105" lvl="1">
              <a:lnSpc>
                <a:spcPts val="2659"/>
              </a:lnSpc>
              <a:buFont typeface="Arial"/>
              <a:buChar char="•"/>
            </a:pPr>
            <a:r>
              <a:rPr lang="en-US" sz="1899" strike="noStrike" u="none">
                <a:solidFill>
                  <a:srgbClr val="D6B03D"/>
                </a:solidFill>
                <a:latin typeface="Glacial Indifference"/>
                <a:ea typeface="Glacial Indifference"/>
                <a:cs typeface="Glacial Indifference"/>
                <a:sym typeface="Glacial Indifference"/>
              </a:rPr>
              <a:t>T</a:t>
            </a:r>
            <a:r>
              <a:rPr lang="en-US" sz="1899" strike="noStrike" u="none">
                <a:solidFill>
                  <a:srgbClr val="D6B03D"/>
                </a:solidFill>
                <a:latin typeface="Glacial Indifference"/>
                <a:ea typeface="Glacial Indifference"/>
                <a:cs typeface="Glacial Indifference"/>
                <a:sym typeface="Glacial Indifference"/>
              </a:rPr>
              <a:t>he</a:t>
            </a:r>
            <a:r>
              <a:rPr lang="en-US" sz="1899" strike="noStrike" u="none">
                <a:solidFill>
                  <a:srgbClr val="D6B03D"/>
                </a:solidFill>
                <a:latin typeface="Glacial Indifference"/>
                <a:ea typeface="Glacial Indifference"/>
                <a:cs typeface="Glacial Indifference"/>
                <a:sym typeface="Glacial Indifference"/>
              </a:rPr>
              <a:t> </a:t>
            </a:r>
            <a:r>
              <a:rPr lang="en-US" sz="1899" strike="noStrike" u="none">
                <a:solidFill>
                  <a:srgbClr val="D6B03D"/>
                </a:solidFill>
                <a:latin typeface="Glacial Indifference"/>
                <a:ea typeface="Glacial Indifference"/>
                <a:cs typeface="Glacial Indifference"/>
                <a:sym typeface="Glacial Indifference"/>
              </a:rPr>
              <a:t>Vi</a:t>
            </a:r>
            <a:r>
              <a:rPr lang="en-US" sz="1899" strike="noStrike" u="none">
                <a:solidFill>
                  <a:srgbClr val="D6B03D"/>
                </a:solidFill>
                <a:latin typeface="Glacial Indifference"/>
                <a:ea typeface="Glacial Indifference"/>
                <a:cs typeface="Glacial Indifference"/>
                <a:sym typeface="Glacial Indifference"/>
              </a:rPr>
              <a:t>d</a:t>
            </a:r>
            <a:r>
              <a:rPr lang="en-US" sz="1899" strike="noStrike" u="none">
                <a:solidFill>
                  <a:srgbClr val="D6B03D"/>
                </a:solidFill>
                <a:latin typeface="Glacial Indifference"/>
                <a:ea typeface="Glacial Indifference"/>
                <a:cs typeface="Glacial Indifference"/>
                <a:sym typeface="Glacial Indifference"/>
              </a:rPr>
              <a:t>eo Pr</a:t>
            </a:r>
            <a:r>
              <a:rPr lang="en-US" sz="1899" strike="noStrike" u="none">
                <a:solidFill>
                  <a:srgbClr val="D6B03D"/>
                </a:solidFill>
                <a:latin typeface="Glacial Indifference"/>
                <a:ea typeface="Glacial Indifference"/>
                <a:cs typeface="Glacial Indifference"/>
                <a:sym typeface="Glacial Indifference"/>
              </a:rPr>
              <a:t>i</a:t>
            </a:r>
            <a:r>
              <a:rPr lang="en-US" sz="1899" strike="noStrike" u="none">
                <a:solidFill>
                  <a:srgbClr val="D6B03D"/>
                </a:solidFill>
                <a:latin typeface="Glacial Indifference"/>
                <a:ea typeface="Glacial Indifference"/>
                <a:cs typeface="Glacial Indifference"/>
                <a:sym typeface="Glacial Indifference"/>
              </a:rPr>
              <a:t>vacy Prote</a:t>
            </a:r>
            <a:r>
              <a:rPr lang="en-US" sz="1899" strike="noStrike" u="none">
                <a:solidFill>
                  <a:srgbClr val="D6B03D"/>
                </a:solidFill>
                <a:latin typeface="Glacial Indifference"/>
                <a:ea typeface="Glacial Indifference"/>
                <a:cs typeface="Glacial Indifference"/>
                <a:sym typeface="Glacial Indifference"/>
              </a:rPr>
              <a:t>c</a:t>
            </a:r>
            <a:r>
              <a:rPr lang="en-US" sz="1899" strike="noStrike" u="none">
                <a:solidFill>
                  <a:srgbClr val="D6B03D"/>
                </a:solidFill>
                <a:latin typeface="Glacial Indifference"/>
                <a:ea typeface="Glacial Indifference"/>
                <a:cs typeface="Glacial Indifference"/>
                <a:sym typeface="Glacial Indifference"/>
              </a:rPr>
              <a:t>t</a:t>
            </a:r>
            <a:r>
              <a:rPr lang="en-US" sz="1899" strike="noStrike" u="none">
                <a:solidFill>
                  <a:srgbClr val="D6B03D"/>
                </a:solidFill>
                <a:latin typeface="Glacial Indifference"/>
                <a:ea typeface="Glacial Indifference"/>
                <a:cs typeface="Glacial Indifference"/>
                <a:sym typeface="Glacial Indifference"/>
              </a:rPr>
              <a:t>i</a:t>
            </a:r>
            <a:r>
              <a:rPr lang="en-US" sz="1899" strike="noStrike" u="none">
                <a:solidFill>
                  <a:srgbClr val="D6B03D"/>
                </a:solidFill>
                <a:latin typeface="Glacial Indifference"/>
                <a:ea typeface="Glacial Indifference"/>
                <a:cs typeface="Glacial Indifference"/>
                <a:sym typeface="Glacial Indifference"/>
              </a:rPr>
              <a:t>o</a:t>
            </a:r>
            <a:r>
              <a:rPr lang="en-US" sz="1899" strike="noStrike" u="none">
                <a:solidFill>
                  <a:srgbClr val="D6B03D"/>
                </a:solidFill>
                <a:latin typeface="Glacial Indifference"/>
                <a:ea typeface="Glacial Indifference"/>
                <a:cs typeface="Glacial Indifference"/>
                <a:sym typeface="Glacial Indifference"/>
              </a:rPr>
              <a:t>n </a:t>
            </a:r>
            <a:r>
              <a:rPr lang="en-US" sz="1899" strike="noStrike" u="none">
                <a:solidFill>
                  <a:srgbClr val="D6B03D"/>
                </a:solidFill>
                <a:latin typeface="Glacial Indifference"/>
                <a:ea typeface="Glacial Indifference"/>
                <a:cs typeface="Glacial Indifference"/>
                <a:sym typeface="Glacial Indifference"/>
              </a:rPr>
              <a:t>Ac</a:t>
            </a:r>
            <a:r>
              <a:rPr lang="en-US" sz="1899" strike="noStrike" u="none">
                <a:solidFill>
                  <a:srgbClr val="D6B03D"/>
                </a:solidFill>
                <a:latin typeface="Glacial Indifference"/>
                <a:ea typeface="Glacial Indifference"/>
                <a:cs typeface="Glacial Indifference"/>
                <a:sym typeface="Glacial Indifference"/>
              </a:rPr>
              <a:t>t-governs video tape service providers (18 U.S. Code § 2710)</a:t>
            </a:r>
          </a:p>
          <a:p>
            <a:pPr algn="l" marL="410209" indent="-205105" lvl="1">
              <a:lnSpc>
                <a:spcPts val="2659"/>
              </a:lnSpc>
              <a:buFont typeface="Arial"/>
              <a:buChar char="•"/>
            </a:pPr>
            <a:r>
              <a:rPr lang="en-US" sz="1899" strike="noStrike" u="none">
                <a:solidFill>
                  <a:srgbClr val="D6B03D"/>
                </a:solidFill>
                <a:latin typeface="Glacial Indifference"/>
                <a:ea typeface="Glacial Indifference"/>
                <a:cs typeface="Glacial Indifference"/>
                <a:sym typeface="Glacial Indifference"/>
              </a:rPr>
              <a:t>T</a:t>
            </a:r>
            <a:r>
              <a:rPr lang="en-US" sz="1899" strike="noStrike" u="none">
                <a:solidFill>
                  <a:srgbClr val="D6B03D"/>
                </a:solidFill>
                <a:latin typeface="Glacial Indifference"/>
                <a:ea typeface="Glacial Indifference"/>
                <a:cs typeface="Glacial Indifference"/>
                <a:sym typeface="Glacial Indifference"/>
              </a:rPr>
              <a:t>h</a:t>
            </a:r>
            <a:r>
              <a:rPr lang="en-US" sz="1899" strike="noStrike" u="none">
                <a:solidFill>
                  <a:srgbClr val="D6B03D"/>
                </a:solidFill>
                <a:latin typeface="Glacial Indifference"/>
                <a:ea typeface="Glacial Indifference"/>
                <a:cs typeface="Glacial Indifference"/>
                <a:sym typeface="Glacial Indifference"/>
              </a:rPr>
              <a:t>e </a:t>
            </a:r>
            <a:r>
              <a:rPr lang="en-US" sz="1899" strike="noStrike" u="none">
                <a:solidFill>
                  <a:srgbClr val="D6B03D"/>
                </a:solidFill>
                <a:latin typeface="Glacial Indifference"/>
                <a:ea typeface="Glacial Indifference"/>
                <a:cs typeface="Glacial Indifference"/>
                <a:sym typeface="Glacial Indifference"/>
              </a:rPr>
              <a:t>Emp</a:t>
            </a:r>
            <a:r>
              <a:rPr lang="en-US" sz="1899" strike="noStrike" u="none">
                <a:solidFill>
                  <a:srgbClr val="D6B03D"/>
                </a:solidFill>
                <a:latin typeface="Glacial Indifference"/>
                <a:ea typeface="Glacial Indifference"/>
                <a:cs typeface="Glacial Indifference"/>
                <a:sym typeface="Glacial Indifference"/>
              </a:rPr>
              <a:t>lo</a:t>
            </a:r>
            <a:r>
              <a:rPr lang="en-US" sz="1899" strike="noStrike" u="none">
                <a:solidFill>
                  <a:srgbClr val="D6B03D"/>
                </a:solidFill>
                <a:latin typeface="Glacial Indifference"/>
                <a:ea typeface="Glacial Indifference"/>
                <a:cs typeface="Glacial Indifference"/>
                <a:sym typeface="Glacial Indifference"/>
              </a:rPr>
              <a:t>y</a:t>
            </a:r>
            <a:r>
              <a:rPr lang="en-US" sz="1899" strike="noStrike" u="none">
                <a:solidFill>
                  <a:srgbClr val="D6B03D"/>
                </a:solidFill>
                <a:latin typeface="Glacial Indifference"/>
                <a:ea typeface="Glacial Indifference"/>
                <a:cs typeface="Glacial Indifference"/>
                <a:sym typeface="Glacial Indifference"/>
              </a:rPr>
              <a:t>e</a:t>
            </a:r>
            <a:r>
              <a:rPr lang="en-US" sz="1899" strike="noStrike" u="none">
                <a:solidFill>
                  <a:srgbClr val="D6B03D"/>
                </a:solidFill>
                <a:latin typeface="Glacial Indifference"/>
                <a:ea typeface="Glacial Indifference"/>
                <a:cs typeface="Glacial Indifference"/>
                <a:sym typeface="Glacial Indifference"/>
              </a:rPr>
              <a:t>e</a:t>
            </a:r>
            <a:r>
              <a:rPr lang="en-US" sz="1899" strike="noStrike" u="none">
                <a:solidFill>
                  <a:srgbClr val="D6B03D"/>
                </a:solidFill>
                <a:latin typeface="Glacial Indifference"/>
                <a:ea typeface="Glacial Indifference"/>
                <a:cs typeface="Glacial Indifference"/>
                <a:sym typeface="Glacial Indifference"/>
              </a:rPr>
              <a:t> </a:t>
            </a:r>
            <a:r>
              <a:rPr lang="en-US" sz="1899" strike="noStrike" u="none">
                <a:solidFill>
                  <a:srgbClr val="D6B03D"/>
                </a:solidFill>
                <a:latin typeface="Glacial Indifference"/>
                <a:ea typeface="Glacial Indifference"/>
                <a:cs typeface="Glacial Indifference"/>
                <a:sym typeface="Glacial Indifference"/>
              </a:rPr>
              <a:t>Poly</a:t>
            </a:r>
            <a:r>
              <a:rPr lang="en-US" sz="1899" strike="noStrike" u="none">
                <a:solidFill>
                  <a:srgbClr val="D6B03D"/>
                </a:solidFill>
                <a:latin typeface="Glacial Indifference"/>
                <a:ea typeface="Glacial Indifference"/>
                <a:cs typeface="Glacial Indifference"/>
                <a:sym typeface="Glacial Indifference"/>
              </a:rPr>
              <a:t>gra</a:t>
            </a:r>
            <a:r>
              <a:rPr lang="en-US" sz="1899" strike="noStrike" u="none">
                <a:solidFill>
                  <a:srgbClr val="D6B03D"/>
                </a:solidFill>
                <a:latin typeface="Glacial Indifference"/>
                <a:ea typeface="Glacial Indifference"/>
                <a:cs typeface="Glacial Indifference"/>
                <a:sym typeface="Glacial Indifference"/>
              </a:rPr>
              <a:t>ph</a:t>
            </a:r>
            <a:r>
              <a:rPr lang="en-US" sz="1899" strike="noStrike" u="none">
                <a:solidFill>
                  <a:srgbClr val="D6B03D"/>
                </a:solidFill>
                <a:latin typeface="Glacial Indifference"/>
                <a:ea typeface="Glacial Indifference"/>
                <a:cs typeface="Glacial Indifference"/>
                <a:sym typeface="Glacial Indifference"/>
              </a:rPr>
              <a:t> </a:t>
            </a:r>
            <a:r>
              <a:rPr lang="en-US" sz="1899" strike="noStrike" u="none">
                <a:solidFill>
                  <a:srgbClr val="D6B03D"/>
                </a:solidFill>
                <a:latin typeface="Glacial Indifference"/>
                <a:ea typeface="Glacial Indifference"/>
                <a:cs typeface="Glacial Indifference"/>
                <a:sym typeface="Glacial Indifference"/>
              </a:rPr>
              <a:t>P</a:t>
            </a:r>
            <a:r>
              <a:rPr lang="en-US" sz="1899" strike="noStrike" u="none">
                <a:solidFill>
                  <a:srgbClr val="D6B03D"/>
                </a:solidFill>
                <a:latin typeface="Glacial Indifference"/>
                <a:ea typeface="Glacial Indifference"/>
                <a:cs typeface="Glacial Indifference"/>
                <a:sym typeface="Glacial Indifference"/>
              </a:rPr>
              <a:t>r</a:t>
            </a:r>
            <a:r>
              <a:rPr lang="en-US" sz="1899" strike="noStrike" u="none">
                <a:solidFill>
                  <a:srgbClr val="D6B03D"/>
                </a:solidFill>
                <a:latin typeface="Glacial Indifference"/>
                <a:ea typeface="Glacial Indifference"/>
                <a:cs typeface="Glacial Indifference"/>
                <a:sym typeface="Glacial Indifference"/>
              </a:rPr>
              <a:t>otect</a:t>
            </a:r>
            <a:r>
              <a:rPr lang="en-US" sz="1899" strike="noStrike" u="none">
                <a:solidFill>
                  <a:srgbClr val="D6B03D"/>
                </a:solidFill>
                <a:latin typeface="Glacial Indifference"/>
                <a:ea typeface="Glacial Indifference"/>
                <a:cs typeface="Glacial Indifference"/>
                <a:sym typeface="Glacial Indifference"/>
              </a:rPr>
              <a:t>i</a:t>
            </a:r>
            <a:r>
              <a:rPr lang="en-US" sz="1899" strike="noStrike" u="none">
                <a:solidFill>
                  <a:srgbClr val="D6B03D"/>
                </a:solidFill>
                <a:latin typeface="Glacial Indifference"/>
                <a:ea typeface="Glacial Indifference"/>
                <a:cs typeface="Glacial Indifference"/>
                <a:sym typeface="Glacial Indifference"/>
              </a:rPr>
              <a:t>on Act-governs employee polygraphs (29 U.S.C. §§ 2001–2009)</a:t>
            </a:r>
          </a:p>
          <a:p>
            <a:pPr algn="l" marL="410209" indent="-205105" lvl="1">
              <a:lnSpc>
                <a:spcPts val="2659"/>
              </a:lnSpc>
              <a:buFont typeface="Arial"/>
              <a:buChar char="•"/>
            </a:pPr>
            <a:r>
              <a:rPr lang="en-US" sz="1899" strike="noStrike" u="none">
                <a:solidFill>
                  <a:srgbClr val="D6B03D"/>
                </a:solidFill>
                <a:latin typeface="Glacial Indifference"/>
                <a:ea typeface="Glacial Indifference"/>
                <a:cs typeface="Glacial Indifference"/>
                <a:sym typeface="Glacial Indifference"/>
              </a:rPr>
              <a:t>T</a:t>
            </a:r>
            <a:r>
              <a:rPr lang="en-US" sz="1899" strike="noStrike" u="none">
                <a:solidFill>
                  <a:srgbClr val="D6B03D"/>
                </a:solidFill>
                <a:latin typeface="Glacial Indifference"/>
                <a:ea typeface="Glacial Indifference"/>
                <a:cs typeface="Glacial Indifference"/>
                <a:sym typeface="Glacial Indifference"/>
              </a:rPr>
              <a:t>he</a:t>
            </a:r>
            <a:r>
              <a:rPr lang="en-US" sz="1899" strike="noStrike" u="none">
                <a:solidFill>
                  <a:srgbClr val="D6B03D"/>
                </a:solidFill>
                <a:latin typeface="Glacial Indifference"/>
                <a:ea typeface="Glacial Indifference"/>
                <a:cs typeface="Glacial Indifference"/>
                <a:sym typeface="Glacial Indifference"/>
              </a:rPr>
              <a:t> </a:t>
            </a:r>
            <a:r>
              <a:rPr lang="en-US" sz="1899" strike="noStrike" u="none">
                <a:solidFill>
                  <a:srgbClr val="D6B03D"/>
                </a:solidFill>
                <a:latin typeface="Glacial Indifference"/>
                <a:ea typeface="Glacial Indifference"/>
                <a:cs typeface="Glacial Indifference"/>
                <a:sym typeface="Glacial Indifference"/>
              </a:rPr>
              <a:t>Tele</a:t>
            </a:r>
            <a:r>
              <a:rPr lang="en-US" sz="1899" strike="noStrike" u="none">
                <a:solidFill>
                  <a:srgbClr val="D6B03D"/>
                </a:solidFill>
                <a:latin typeface="Glacial Indifference"/>
                <a:ea typeface="Glacial Indifference"/>
                <a:cs typeface="Glacial Indifference"/>
                <a:sym typeface="Glacial Indifference"/>
              </a:rPr>
              <a:t>ph</a:t>
            </a:r>
            <a:r>
              <a:rPr lang="en-US" sz="1899" strike="noStrike" u="none">
                <a:solidFill>
                  <a:srgbClr val="D6B03D"/>
                </a:solidFill>
                <a:latin typeface="Glacial Indifference"/>
                <a:ea typeface="Glacial Indifference"/>
                <a:cs typeface="Glacial Indifference"/>
                <a:sym typeface="Glacial Indifference"/>
              </a:rPr>
              <a:t>one Consume</a:t>
            </a:r>
            <a:r>
              <a:rPr lang="en-US" sz="1899" strike="noStrike" u="none">
                <a:solidFill>
                  <a:srgbClr val="D6B03D"/>
                </a:solidFill>
                <a:latin typeface="Glacial Indifference"/>
                <a:ea typeface="Glacial Indifference"/>
                <a:cs typeface="Glacial Indifference"/>
                <a:sym typeface="Glacial Indifference"/>
              </a:rPr>
              <a:t>r</a:t>
            </a:r>
            <a:r>
              <a:rPr lang="en-US" sz="1899" strike="noStrike" u="none">
                <a:solidFill>
                  <a:srgbClr val="D6B03D"/>
                </a:solidFill>
                <a:latin typeface="Glacial Indifference"/>
                <a:ea typeface="Glacial Indifference"/>
                <a:cs typeface="Glacial Indifference"/>
                <a:sym typeface="Glacial Indifference"/>
              </a:rPr>
              <a:t> Prot</a:t>
            </a:r>
            <a:r>
              <a:rPr lang="en-US" sz="1899" strike="noStrike" u="none">
                <a:solidFill>
                  <a:srgbClr val="D6B03D"/>
                </a:solidFill>
                <a:latin typeface="Glacial Indifference"/>
                <a:ea typeface="Glacial Indifference"/>
                <a:cs typeface="Glacial Indifference"/>
                <a:sym typeface="Glacial Indifference"/>
              </a:rPr>
              <a:t>e</a:t>
            </a:r>
            <a:r>
              <a:rPr lang="en-US" sz="1899" strike="noStrike" u="none">
                <a:solidFill>
                  <a:srgbClr val="D6B03D"/>
                </a:solidFill>
                <a:latin typeface="Glacial Indifference"/>
                <a:ea typeface="Glacial Indifference"/>
                <a:cs typeface="Glacial Indifference"/>
                <a:sym typeface="Glacial Indifference"/>
              </a:rPr>
              <a:t>c</a:t>
            </a:r>
            <a:r>
              <a:rPr lang="en-US" sz="1899" strike="noStrike" u="none">
                <a:solidFill>
                  <a:srgbClr val="D6B03D"/>
                </a:solidFill>
                <a:latin typeface="Glacial Indifference"/>
                <a:ea typeface="Glacial Indifference"/>
                <a:cs typeface="Glacial Indifference"/>
                <a:sym typeface="Glacial Indifference"/>
              </a:rPr>
              <a:t>t</a:t>
            </a:r>
            <a:r>
              <a:rPr lang="en-US" sz="1899" strike="noStrike" u="none">
                <a:solidFill>
                  <a:srgbClr val="D6B03D"/>
                </a:solidFill>
                <a:latin typeface="Glacial Indifference"/>
                <a:ea typeface="Glacial Indifference"/>
                <a:cs typeface="Glacial Indifference"/>
                <a:sym typeface="Glacial Indifference"/>
              </a:rPr>
              <a:t>ion Act-governs telephone equipment and solicitation (47 U.S. Code § 227)</a:t>
            </a:r>
          </a:p>
          <a:p>
            <a:pPr algn="l" marL="410209" indent="-205105" lvl="1">
              <a:lnSpc>
                <a:spcPts val="2659"/>
              </a:lnSpc>
              <a:buFont typeface="Arial"/>
              <a:buChar char="•"/>
            </a:pPr>
            <a:r>
              <a:rPr lang="en-US" sz="1899" strike="noStrike" u="none">
                <a:solidFill>
                  <a:srgbClr val="D6B03D"/>
                </a:solidFill>
                <a:latin typeface="Glacial Indifference"/>
                <a:ea typeface="Glacial Indifference"/>
                <a:cs typeface="Glacial Indifference"/>
                <a:sym typeface="Glacial Indifference"/>
              </a:rPr>
              <a:t>T</a:t>
            </a:r>
            <a:r>
              <a:rPr lang="en-US" sz="1899" strike="noStrike" u="none">
                <a:solidFill>
                  <a:srgbClr val="D6B03D"/>
                </a:solidFill>
                <a:latin typeface="Glacial Indifference"/>
                <a:ea typeface="Glacial Indifference"/>
                <a:cs typeface="Glacial Indifference"/>
                <a:sym typeface="Glacial Indifference"/>
              </a:rPr>
              <a:t>he D</a:t>
            </a:r>
            <a:r>
              <a:rPr lang="en-US" sz="1899" strike="noStrike" u="none">
                <a:solidFill>
                  <a:srgbClr val="D6B03D"/>
                </a:solidFill>
                <a:latin typeface="Glacial Indifference"/>
                <a:ea typeface="Glacial Indifference"/>
                <a:cs typeface="Glacial Indifference"/>
                <a:sym typeface="Glacial Indifference"/>
              </a:rPr>
              <a:t>river</a:t>
            </a:r>
            <a:r>
              <a:rPr lang="en-US" sz="1899" strike="noStrike" u="none">
                <a:solidFill>
                  <a:srgbClr val="D6B03D"/>
                </a:solidFill>
                <a:latin typeface="Glacial Indifference"/>
                <a:ea typeface="Glacial Indifference"/>
                <a:cs typeface="Glacial Indifference"/>
                <a:sym typeface="Glacial Indifference"/>
              </a:rPr>
              <a:t>’s P</a:t>
            </a:r>
            <a:r>
              <a:rPr lang="en-US" sz="1899" strike="noStrike" u="none">
                <a:solidFill>
                  <a:srgbClr val="D6B03D"/>
                </a:solidFill>
                <a:latin typeface="Glacial Indifference"/>
                <a:ea typeface="Glacial Indifference"/>
                <a:cs typeface="Glacial Indifference"/>
                <a:sym typeface="Glacial Indifference"/>
              </a:rPr>
              <a:t>r</a:t>
            </a:r>
            <a:r>
              <a:rPr lang="en-US" sz="1899" strike="noStrike" u="none">
                <a:solidFill>
                  <a:srgbClr val="D6B03D"/>
                </a:solidFill>
                <a:latin typeface="Glacial Indifference"/>
                <a:ea typeface="Glacial Indifference"/>
                <a:cs typeface="Glacial Indifference"/>
                <a:sym typeface="Glacial Indifference"/>
              </a:rPr>
              <a:t>iv</a:t>
            </a:r>
            <a:r>
              <a:rPr lang="en-US" sz="1899" strike="noStrike" u="none">
                <a:solidFill>
                  <a:srgbClr val="D6B03D"/>
                </a:solidFill>
                <a:latin typeface="Glacial Indifference"/>
                <a:ea typeface="Glacial Indifference"/>
                <a:cs typeface="Glacial Indifference"/>
                <a:sym typeface="Glacial Indifference"/>
              </a:rPr>
              <a:t>a</a:t>
            </a:r>
            <a:r>
              <a:rPr lang="en-US" sz="1899" strike="noStrike" u="none">
                <a:solidFill>
                  <a:srgbClr val="D6B03D"/>
                </a:solidFill>
                <a:latin typeface="Glacial Indifference"/>
                <a:ea typeface="Glacial Indifference"/>
                <a:cs typeface="Glacial Indifference"/>
                <a:sym typeface="Glacial Indifference"/>
              </a:rPr>
              <a:t>cy</a:t>
            </a:r>
            <a:r>
              <a:rPr lang="en-US" sz="1899" strike="noStrike" u="none">
                <a:solidFill>
                  <a:srgbClr val="D6B03D"/>
                </a:solidFill>
                <a:latin typeface="Glacial Indifference"/>
                <a:ea typeface="Glacial Indifference"/>
                <a:cs typeface="Glacial Indifference"/>
                <a:sym typeface="Glacial Indifference"/>
              </a:rPr>
              <a:t> </a:t>
            </a:r>
            <a:r>
              <a:rPr lang="en-US" sz="1899" strike="noStrike" u="none">
                <a:solidFill>
                  <a:srgbClr val="D6B03D"/>
                </a:solidFill>
                <a:latin typeface="Glacial Indifference"/>
                <a:ea typeface="Glacial Indifference"/>
                <a:cs typeface="Glacial Indifference"/>
                <a:sym typeface="Glacial Indifference"/>
              </a:rPr>
              <a:t>Protection Ac</a:t>
            </a:r>
            <a:r>
              <a:rPr lang="en-US" sz="1899" strike="noStrike" u="none">
                <a:solidFill>
                  <a:srgbClr val="D6B03D"/>
                </a:solidFill>
                <a:latin typeface="Glacial Indifference"/>
                <a:ea typeface="Glacial Indifference"/>
                <a:cs typeface="Glacial Indifference"/>
                <a:sym typeface="Glacial Indifference"/>
              </a:rPr>
              <a:t>t-prohibits release and use of certain personal information from state motor vehicle records (18 U.S.C. § 2721)</a:t>
            </a:r>
          </a:p>
          <a:p>
            <a:pPr algn="l" marL="410209" indent="-205105" lvl="1">
              <a:lnSpc>
                <a:spcPts val="2659"/>
              </a:lnSpc>
              <a:buFont typeface="Arial"/>
              <a:buChar char="•"/>
            </a:pPr>
            <a:r>
              <a:rPr lang="en-US" sz="1899" strike="noStrike" u="none">
                <a:solidFill>
                  <a:srgbClr val="D6B03D"/>
                </a:solidFill>
                <a:latin typeface="Glacial Indifference"/>
                <a:ea typeface="Glacial Indifference"/>
                <a:cs typeface="Glacial Indifference"/>
                <a:sym typeface="Glacial Indifference"/>
              </a:rPr>
              <a:t>T</a:t>
            </a:r>
            <a:r>
              <a:rPr lang="en-US" sz="1899" strike="noStrike" u="none">
                <a:solidFill>
                  <a:srgbClr val="D6B03D"/>
                </a:solidFill>
                <a:latin typeface="Glacial Indifference"/>
                <a:ea typeface="Glacial Indifference"/>
                <a:cs typeface="Glacial Indifference"/>
                <a:sym typeface="Glacial Indifference"/>
              </a:rPr>
              <a:t>h</a:t>
            </a:r>
            <a:r>
              <a:rPr lang="en-US" sz="1899" strike="noStrike" u="none">
                <a:solidFill>
                  <a:srgbClr val="D6B03D"/>
                </a:solidFill>
                <a:latin typeface="Glacial Indifference"/>
                <a:ea typeface="Glacial Indifference"/>
                <a:cs typeface="Glacial Indifference"/>
                <a:sym typeface="Glacial Indifference"/>
              </a:rPr>
              <a:t>e </a:t>
            </a:r>
            <a:r>
              <a:rPr lang="en-US" sz="1899" strike="noStrike" u="none">
                <a:solidFill>
                  <a:srgbClr val="D6B03D"/>
                </a:solidFill>
                <a:latin typeface="Glacial Indifference"/>
                <a:ea typeface="Glacial Indifference"/>
                <a:cs typeface="Glacial Indifference"/>
                <a:sym typeface="Glacial Indifference"/>
              </a:rPr>
              <a:t>G</a:t>
            </a:r>
            <a:r>
              <a:rPr lang="en-US" sz="1899" strike="noStrike" u="none">
                <a:solidFill>
                  <a:srgbClr val="D6B03D"/>
                </a:solidFill>
                <a:latin typeface="Glacial Indifference"/>
                <a:ea typeface="Glacial Indifference"/>
                <a:cs typeface="Glacial Indifference"/>
                <a:sym typeface="Glacial Indifference"/>
              </a:rPr>
              <a:t>r</a:t>
            </a:r>
            <a:r>
              <a:rPr lang="en-US" sz="1899" strike="noStrike" u="none">
                <a:solidFill>
                  <a:srgbClr val="D6B03D"/>
                </a:solidFill>
                <a:latin typeface="Glacial Indifference"/>
                <a:ea typeface="Glacial Indifference"/>
                <a:cs typeface="Glacial Indifference"/>
                <a:sym typeface="Glacial Indifference"/>
              </a:rPr>
              <a:t>amm-L</a:t>
            </a:r>
            <a:r>
              <a:rPr lang="en-US" sz="1899" strike="noStrike" u="none">
                <a:solidFill>
                  <a:srgbClr val="D6B03D"/>
                </a:solidFill>
                <a:latin typeface="Glacial Indifference"/>
                <a:ea typeface="Glacial Indifference"/>
                <a:cs typeface="Glacial Indifference"/>
                <a:sym typeface="Glacial Indifference"/>
              </a:rPr>
              <a:t>e</a:t>
            </a:r>
            <a:r>
              <a:rPr lang="en-US" sz="1899" strike="noStrike" u="none">
                <a:solidFill>
                  <a:srgbClr val="D6B03D"/>
                </a:solidFill>
                <a:latin typeface="Glacial Indifference"/>
                <a:ea typeface="Glacial Indifference"/>
                <a:cs typeface="Glacial Indifference"/>
                <a:sym typeface="Glacial Indifference"/>
              </a:rPr>
              <a:t>ach-B</a:t>
            </a:r>
            <a:r>
              <a:rPr lang="en-US" sz="1899" strike="noStrike" u="none">
                <a:solidFill>
                  <a:srgbClr val="D6B03D"/>
                </a:solidFill>
                <a:latin typeface="Glacial Indifference"/>
                <a:ea typeface="Glacial Indifference"/>
                <a:cs typeface="Glacial Indifference"/>
                <a:sym typeface="Glacial Indifference"/>
              </a:rPr>
              <a:t>li</a:t>
            </a:r>
            <a:r>
              <a:rPr lang="en-US" sz="1899" strike="noStrike" u="none">
                <a:solidFill>
                  <a:srgbClr val="D6B03D"/>
                </a:solidFill>
                <a:latin typeface="Glacial Indifference"/>
                <a:ea typeface="Glacial Indifference"/>
                <a:cs typeface="Glacial Indifference"/>
                <a:sym typeface="Glacial Indifference"/>
              </a:rPr>
              <a:t>ley Ac</a:t>
            </a:r>
            <a:r>
              <a:rPr lang="en-US" sz="1899" strike="noStrike" u="none">
                <a:solidFill>
                  <a:srgbClr val="D6B03D"/>
                </a:solidFill>
                <a:latin typeface="Glacial Indifference"/>
                <a:ea typeface="Glacial Indifference"/>
                <a:cs typeface="Glacial Indifference"/>
                <a:sym typeface="Glacial Indifference"/>
              </a:rPr>
              <a:t>t-governs consumers within financial institutions (15 U.S.C. §§ 6801–6809)</a:t>
            </a:r>
          </a:p>
          <a:p>
            <a:pPr algn="l" marL="410209" indent="-205105" lvl="1">
              <a:lnSpc>
                <a:spcPts val="2659"/>
              </a:lnSpc>
              <a:buFont typeface="Arial"/>
              <a:buChar char="•"/>
            </a:pPr>
            <a:r>
              <a:rPr lang="en-US" sz="1899" strike="noStrike" u="none">
                <a:solidFill>
                  <a:srgbClr val="D6B03D"/>
                </a:solidFill>
                <a:latin typeface="Glacial Indifference"/>
                <a:ea typeface="Glacial Indifference"/>
                <a:cs typeface="Glacial Indifference"/>
                <a:sym typeface="Glacial Indifference"/>
              </a:rPr>
              <a:t>The Health Insurance Portability and Accountability Act-governs healthcare data (42 U.S.C. § 1320d-2)</a:t>
            </a:r>
          </a:p>
          <a:p>
            <a:pPr algn="l" marL="410209" indent="-205105" lvl="1">
              <a:lnSpc>
                <a:spcPts val="2659"/>
              </a:lnSpc>
              <a:buFont typeface="Arial"/>
              <a:buChar char="•"/>
            </a:pPr>
            <a:r>
              <a:rPr lang="en-US" sz="1899" strike="noStrike" u="none">
                <a:solidFill>
                  <a:srgbClr val="D6B03D"/>
                </a:solidFill>
                <a:latin typeface="Glacial Indifference"/>
                <a:ea typeface="Glacial Indifference"/>
                <a:cs typeface="Glacial Indifference"/>
                <a:sym typeface="Glacial Indifference"/>
              </a:rPr>
              <a:t>The Federal Trade Commission-governs unfair or deceptive data practices (16 C.F.R. (2025))</a:t>
            </a:r>
          </a:p>
          <a:p>
            <a:pPr algn="l" marL="410209" indent="-205105" lvl="1">
              <a:lnSpc>
                <a:spcPts val="2659"/>
              </a:lnSpc>
              <a:buFont typeface="Arial"/>
              <a:buChar char="•"/>
            </a:pPr>
            <a:r>
              <a:rPr lang="en-US" sz="1899" strike="noStrike" u="none">
                <a:solidFill>
                  <a:srgbClr val="D6B03D"/>
                </a:solidFill>
                <a:latin typeface="Glacial Indifference"/>
                <a:ea typeface="Glacial Indifference"/>
                <a:cs typeface="Glacial Indifference"/>
                <a:sym typeface="Glacial Indifference"/>
              </a:rPr>
              <a:t>The Children's Online Privacy Protection Act-governs data of minor sunder 13 (15 U.S.C. §§ 6501–6506)</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1395886" y="439745"/>
            <a:ext cx="8222468" cy="788670"/>
          </a:xfrm>
          <a:prstGeom prst="rect">
            <a:avLst/>
          </a:prstGeom>
        </p:spPr>
        <p:txBody>
          <a:bodyPr anchor="t" rtlCol="false" tIns="0" lIns="0" bIns="0" rIns="0">
            <a:spAutoFit/>
          </a:bodyPr>
          <a:lstStyle/>
          <a:p>
            <a:pPr algn="l">
              <a:lnSpc>
                <a:spcPts val="5940"/>
              </a:lnSpc>
            </a:pPr>
            <a:r>
              <a:rPr lang="en-US" sz="4500" spc="22">
                <a:solidFill>
                  <a:srgbClr val="D6B03D"/>
                </a:solidFill>
                <a:latin typeface="Maharlika"/>
                <a:ea typeface="Maharlika"/>
                <a:cs typeface="Maharlika"/>
                <a:sym typeface="Maharlika"/>
              </a:rPr>
              <a:t>Privacy Act</a:t>
            </a:r>
          </a:p>
        </p:txBody>
      </p:sp>
      <p:grpSp>
        <p:nvGrpSpPr>
          <p:cNvPr name="Group 3" id="3"/>
          <p:cNvGrpSpPr/>
          <p:nvPr/>
        </p:nvGrpSpPr>
        <p:grpSpPr>
          <a:xfrm rot="0">
            <a:off x="11356301" y="-182033"/>
            <a:ext cx="7171724" cy="10681049"/>
            <a:chOff x="0" y="0"/>
            <a:chExt cx="1672633" cy="2491098"/>
          </a:xfrm>
        </p:grpSpPr>
        <p:sp>
          <p:nvSpPr>
            <p:cNvPr name="Freeform 4" id="4"/>
            <p:cNvSpPr/>
            <p:nvPr/>
          </p:nvSpPr>
          <p:spPr>
            <a:xfrm flipH="false" flipV="false" rot="0">
              <a:off x="0" y="0"/>
              <a:ext cx="1672633" cy="2491098"/>
            </a:xfrm>
            <a:custGeom>
              <a:avLst/>
              <a:gdLst/>
              <a:ahLst/>
              <a:cxnLst/>
              <a:rect r="r" b="b" t="t" l="l"/>
              <a:pathLst>
                <a:path h="2491098" w="1672633">
                  <a:moveTo>
                    <a:pt x="0" y="0"/>
                  </a:moveTo>
                  <a:lnTo>
                    <a:pt x="1672633" y="0"/>
                  </a:lnTo>
                  <a:lnTo>
                    <a:pt x="1672633" y="2491098"/>
                  </a:lnTo>
                  <a:lnTo>
                    <a:pt x="0" y="2491098"/>
                  </a:lnTo>
                  <a:close/>
                </a:path>
              </a:pathLst>
            </a:custGeom>
            <a:blipFill>
              <a:blip r:embed="rId2"/>
              <a:stretch>
                <a:fillRect l="-75782" t="0" r="-47616" b="0"/>
              </a:stretch>
            </a:blipFill>
            <a:ln w="38100" cap="sq">
              <a:solidFill>
                <a:srgbClr val="D6B03D"/>
              </a:solidFill>
              <a:prstDash val="solid"/>
              <a:miter/>
            </a:ln>
          </p:spPr>
        </p:sp>
      </p:grpSp>
      <p:sp>
        <p:nvSpPr>
          <p:cNvPr name="TextBox 5" id="5"/>
          <p:cNvSpPr txBox="true"/>
          <p:nvPr/>
        </p:nvSpPr>
        <p:spPr>
          <a:xfrm rot="0">
            <a:off x="1395886" y="1403350"/>
            <a:ext cx="7072731" cy="7432675"/>
          </a:xfrm>
          <a:prstGeom prst="rect">
            <a:avLst/>
          </a:prstGeom>
        </p:spPr>
        <p:txBody>
          <a:bodyPr anchor="t" rtlCol="false" tIns="0" lIns="0" bIns="0" rIns="0">
            <a:spAutoFit/>
          </a:bodyPr>
          <a:lstStyle/>
          <a:p>
            <a:pPr algn="l" marL="539748" indent="-269874" lvl="1">
              <a:lnSpc>
                <a:spcPts val="3499"/>
              </a:lnSpc>
              <a:buFont typeface="Arial"/>
              <a:buChar char="•"/>
            </a:pPr>
            <a:r>
              <a:rPr lang="en-US" sz="2499">
                <a:solidFill>
                  <a:srgbClr val="D6B03D"/>
                </a:solidFill>
                <a:latin typeface="Glacial Indifference"/>
                <a:ea typeface="Glacial Indifference"/>
                <a:cs typeface="Glacial Indifference"/>
                <a:sym typeface="Glacial Indifference"/>
              </a:rPr>
              <a:t>Governs records collected by federal agencies</a:t>
            </a:r>
          </a:p>
          <a:p>
            <a:pPr algn="l" marL="539748" indent="-269874" lvl="1">
              <a:lnSpc>
                <a:spcPts val="3499"/>
              </a:lnSpc>
              <a:buFont typeface="Arial"/>
              <a:buChar char="•"/>
            </a:pPr>
            <a:r>
              <a:rPr lang="en-US" sz="2499">
                <a:solidFill>
                  <a:srgbClr val="D6B03D"/>
                </a:solidFill>
                <a:latin typeface="Glacial Indifference"/>
                <a:ea typeface="Glacial Indifference"/>
                <a:cs typeface="Glacial Indifference"/>
                <a:sym typeface="Glacial Indifference"/>
              </a:rPr>
              <a:t>Encourages collection of data for relevant and necessary purposes</a:t>
            </a:r>
          </a:p>
          <a:p>
            <a:pPr algn="l" marL="539748" indent="-269874" lvl="1">
              <a:lnSpc>
                <a:spcPts val="3499"/>
              </a:lnSpc>
              <a:buFont typeface="Arial"/>
              <a:buChar char="•"/>
            </a:pPr>
            <a:r>
              <a:rPr lang="en-US" sz="2499">
                <a:solidFill>
                  <a:srgbClr val="D6B03D"/>
                </a:solidFill>
                <a:latin typeface="Glacial Indifference"/>
                <a:ea typeface="Glacial Indifference"/>
                <a:cs typeface="Glacial Indifference"/>
                <a:sym typeface="Glacial Indifference"/>
              </a:rPr>
              <a:t>Encourages collection from the individual directly</a:t>
            </a:r>
          </a:p>
          <a:p>
            <a:pPr algn="l" marL="539748" indent="-269874" lvl="1">
              <a:lnSpc>
                <a:spcPts val="3499"/>
              </a:lnSpc>
              <a:buFont typeface="Arial"/>
              <a:buChar char="•"/>
            </a:pPr>
            <a:r>
              <a:rPr lang="en-US" sz="2499">
                <a:solidFill>
                  <a:srgbClr val="D6B03D"/>
                </a:solidFill>
                <a:latin typeface="Glacial Indifference"/>
                <a:ea typeface="Glacial Indifference"/>
                <a:cs typeface="Glacial Indifference"/>
                <a:sym typeface="Glacial Indifference"/>
              </a:rPr>
              <a:t>Promotes transparency of how records will be kept and monitored</a:t>
            </a:r>
          </a:p>
          <a:p>
            <a:pPr algn="l" marL="539748" indent="-269874" lvl="1">
              <a:lnSpc>
                <a:spcPts val="3499"/>
              </a:lnSpc>
              <a:buFont typeface="Arial"/>
              <a:buChar char="•"/>
            </a:pPr>
            <a:r>
              <a:rPr lang="en-US" sz="2499">
                <a:solidFill>
                  <a:srgbClr val="D6B03D"/>
                </a:solidFill>
                <a:latin typeface="Glacial Indifference"/>
                <a:ea typeface="Glacial Indifference"/>
                <a:cs typeface="Glacial Indifference"/>
                <a:sym typeface="Glacial Indifference"/>
              </a:rPr>
              <a:t>Provides individuals with access to their records</a:t>
            </a:r>
          </a:p>
          <a:p>
            <a:pPr algn="l" marL="539748" indent="-269874" lvl="1">
              <a:lnSpc>
                <a:spcPts val="3499"/>
              </a:lnSpc>
              <a:buFont typeface="Arial"/>
              <a:buChar char="•"/>
            </a:pPr>
            <a:r>
              <a:rPr lang="en-US" sz="2499">
                <a:solidFill>
                  <a:srgbClr val="D6B03D"/>
                </a:solidFill>
                <a:latin typeface="Glacial Indifference"/>
                <a:ea typeface="Glacial Indifference"/>
                <a:cs typeface="Glacial Indifference"/>
                <a:sym typeface="Glacial Indifference"/>
              </a:rPr>
              <a:t>Requires consent for disclosure unless it is for law enforcement, court requests, or national security</a:t>
            </a:r>
          </a:p>
          <a:p>
            <a:pPr algn="l" marL="539748" indent="-269874" lvl="1">
              <a:lnSpc>
                <a:spcPts val="3499"/>
              </a:lnSpc>
              <a:buFont typeface="Arial"/>
              <a:buChar char="•"/>
            </a:pPr>
            <a:r>
              <a:rPr lang="en-US" sz="2499">
                <a:solidFill>
                  <a:srgbClr val="D6B03D"/>
                </a:solidFill>
                <a:latin typeface="Glacial Indifference"/>
                <a:ea typeface="Glacial Indifference"/>
                <a:cs typeface="Glacial Indifference"/>
                <a:sym typeface="Glacial Indifference"/>
              </a:rPr>
              <a:t>Encourages tracking of disclosures </a:t>
            </a:r>
          </a:p>
          <a:p>
            <a:pPr algn="l" marL="539748" indent="-269874" lvl="1">
              <a:lnSpc>
                <a:spcPts val="3499"/>
              </a:lnSpc>
              <a:buFont typeface="Arial"/>
              <a:buChar char="•"/>
            </a:pPr>
            <a:r>
              <a:rPr lang="en-US" sz="2499">
                <a:solidFill>
                  <a:srgbClr val="D6B03D"/>
                </a:solidFill>
                <a:latin typeface="Glacial Indifference"/>
                <a:ea typeface="Glacial Indifference"/>
                <a:cs typeface="Glacial Indifference"/>
                <a:sym typeface="Glacial Indifference"/>
              </a:rPr>
              <a:t>Provides administrative guidelines for notice, access, and amendment processes</a:t>
            </a:r>
          </a:p>
          <a:p>
            <a:pPr algn="l" marL="539748" indent="-269874" lvl="1">
              <a:lnSpc>
                <a:spcPts val="3499"/>
              </a:lnSpc>
              <a:buFont typeface="Arial"/>
              <a:buChar char="•"/>
            </a:pPr>
            <a:r>
              <a:rPr lang="en-US" sz="2499">
                <a:solidFill>
                  <a:srgbClr val="D6B03D"/>
                </a:solidFill>
                <a:latin typeface="Glacial Indifference"/>
                <a:ea typeface="Glacial Indifference"/>
                <a:cs typeface="Glacial Indifference"/>
                <a:sym typeface="Glacial Indifference"/>
              </a:rPr>
              <a:t>Provides civil remedies and criminal penalties</a:t>
            </a:r>
          </a:p>
          <a:p>
            <a:pPr algn="l" marL="539748" indent="-269874" lvl="1">
              <a:lnSpc>
                <a:spcPts val="3499"/>
              </a:lnSpc>
              <a:buFont typeface="Arial"/>
              <a:buChar char="•"/>
            </a:pPr>
            <a:r>
              <a:rPr lang="en-US" sz="2499">
                <a:solidFill>
                  <a:srgbClr val="D6B03D"/>
                </a:solidFill>
                <a:latin typeface="Glacial Indifference"/>
                <a:ea typeface="Glacial Indifference"/>
                <a:cs typeface="Glacial Indifference"/>
                <a:sym typeface="Glacial Indifference"/>
              </a:rPr>
              <a:t>Governs contractors of agencies in addition to the agencies themselves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3915243" y="4333292"/>
            <a:ext cx="1545729" cy="1545729"/>
          </a:xfrm>
          <a:custGeom>
            <a:avLst/>
            <a:gdLst/>
            <a:ahLst/>
            <a:cxnLst/>
            <a:rect r="r" b="b" t="t" l="l"/>
            <a:pathLst>
              <a:path h="1545729" w="1545729">
                <a:moveTo>
                  <a:pt x="0" y="0"/>
                </a:moveTo>
                <a:lnTo>
                  <a:pt x="1545729" y="0"/>
                </a:lnTo>
                <a:lnTo>
                  <a:pt x="1545729" y="1545729"/>
                </a:lnTo>
                <a:lnTo>
                  <a:pt x="0" y="15457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410846" y="4253652"/>
            <a:ext cx="1466308" cy="1705010"/>
          </a:xfrm>
          <a:custGeom>
            <a:avLst/>
            <a:gdLst/>
            <a:ahLst/>
            <a:cxnLst/>
            <a:rect r="r" b="b" t="t" l="l"/>
            <a:pathLst>
              <a:path h="1705010" w="1466308">
                <a:moveTo>
                  <a:pt x="0" y="0"/>
                </a:moveTo>
                <a:lnTo>
                  <a:pt x="1466308" y="0"/>
                </a:lnTo>
                <a:lnTo>
                  <a:pt x="1466308" y="1705009"/>
                </a:lnTo>
                <a:lnTo>
                  <a:pt x="0" y="17050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3032510" y="4450825"/>
            <a:ext cx="1134766" cy="1428196"/>
          </a:xfrm>
          <a:custGeom>
            <a:avLst/>
            <a:gdLst/>
            <a:ahLst/>
            <a:cxnLst/>
            <a:rect r="r" b="b" t="t" l="l"/>
            <a:pathLst>
              <a:path h="1428196" w="1134766">
                <a:moveTo>
                  <a:pt x="0" y="0"/>
                </a:moveTo>
                <a:lnTo>
                  <a:pt x="1134766" y="0"/>
                </a:lnTo>
                <a:lnTo>
                  <a:pt x="1134766" y="1428196"/>
                </a:lnTo>
                <a:lnTo>
                  <a:pt x="0" y="142819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5" id="5"/>
          <p:cNvSpPr txBox="true"/>
          <p:nvPr/>
        </p:nvSpPr>
        <p:spPr>
          <a:xfrm rot="0">
            <a:off x="3555657" y="2437377"/>
            <a:ext cx="11176687" cy="1049433"/>
          </a:xfrm>
          <a:prstGeom prst="rect">
            <a:avLst/>
          </a:prstGeom>
        </p:spPr>
        <p:txBody>
          <a:bodyPr anchor="t" rtlCol="false" tIns="0" lIns="0" bIns="0" rIns="0">
            <a:spAutoFit/>
          </a:bodyPr>
          <a:lstStyle/>
          <a:p>
            <a:pPr algn="ctr">
              <a:lnSpc>
                <a:spcPts val="7535"/>
              </a:lnSpc>
            </a:pPr>
            <a:r>
              <a:rPr lang="en-US" sz="6728" spc="33">
                <a:solidFill>
                  <a:srgbClr val="D6B03D"/>
                </a:solidFill>
                <a:latin typeface="Maharlika"/>
                <a:ea typeface="Maharlika"/>
                <a:cs typeface="Maharlika"/>
                <a:sym typeface="Maharlika"/>
              </a:rPr>
              <a:t>Federal Law Concerns</a:t>
            </a:r>
          </a:p>
        </p:txBody>
      </p:sp>
      <p:sp>
        <p:nvSpPr>
          <p:cNvPr name="TextBox 6" id="6"/>
          <p:cNvSpPr txBox="true"/>
          <p:nvPr/>
        </p:nvSpPr>
        <p:spPr>
          <a:xfrm rot="0">
            <a:off x="2906884" y="6221295"/>
            <a:ext cx="3562447" cy="1552683"/>
          </a:xfrm>
          <a:prstGeom prst="rect">
            <a:avLst/>
          </a:prstGeom>
        </p:spPr>
        <p:txBody>
          <a:bodyPr anchor="t" rtlCol="false" tIns="0" lIns="0" bIns="0" rIns="0">
            <a:spAutoFit/>
          </a:bodyPr>
          <a:lstStyle/>
          <a:p>
            <a:pPr algn="ctr">
              <a:lnSpc>
                <a:spcPts val="4194"/>
              </a:lnSpc>
            </a:pPr>
            <a:r>
              <a:rPr lang="en-US" sz="2995">
                <a:solidFill>
                  <a:srgbClr val="D6B03D"/>
                </a:solidFill>
                <a:latin typeface="Glacial Indifference"/>
                <a:ea typeface="Glacial Indifference"/>
                <a:cs typeface="Glacial Indifference"/>
                <a:sym typeface="Glacial Indifference"/>
              </a:rPr>
              <a:t>Private right of action is limited under federal law.</a:t>
            </a:r>
          </a:p>
        </p:txBody>
      </p:sp>
      <p:sp>
        <p:nvSpPr>
          <p:cNvPr name="TextBox 7" id="7"/>
          <p:cNvSpPr txBox="true"/>
          <p:nvPr/>
        </p:nvSpPr>
        <p:spPr>
          <a:xfrm rot="0">
            <a:off x="7360873" y="6221295"/>
            <a:ext cx="3562447" cy="2076558"/>
          </a:xfrm>
          <a:prstGeom prst="rect">
            <a:avLst/>
          </a:prstGeom>
        </p:spPr>
        <p:txBody>
          <a:bodyPr anchor="t" rtlCol="false" tIns="0" lIns="0" bIns="0" rIns="0">
            <a:spAutoFit/>
          </a:bodyPr>
          <a:lstStyle/>
          <a:p>
            <a:pPr algn="ctr">
              <a:lnSpc>
                <a:spcPts val="4194"/>
              </a:lnSpc>
            </a:pPr>
            <a:r>
              <a:rPr lang="en-US" sz="2995">
                <a:solidFill>
                  <a:srgbClr val="D6B03D"/>
                </a:solidFill>
                <a:latin typeface="Glacial Indifference"/>
                <a:ea typeface="Glacial Indifference"/>
                <a:cs typeface="Glacial Indifference"/>
                <a:sym typeface="Glacial Indifference"/>
              </a:rPr>
              <a:t>The focus is on collection without assessing prevention or use.</a:t>
            </a:r>
          </a:p>
        </p:txBody>
      </p:sp>
      <p:sp>
        <p:nvSpPr>
          <p:cNvPr name="TextBox 8" id="8"/>
          <p:cNvSpPr txBox="true"/>
          <p:nvPr/>
        </p:nvSpPr>
        <p:spPr>
          <a:xfrm rot="0">
            <a:off x="11818669" y="6221295"/>
            <a:ext cx="3562447" cy="1552683"/>
          </a:xfrm>
          <a:prstGeom prst="rect">
            <a:avLst/>
          </a:prstGeom>
        </p:spPr>
        <p:txBody>
          <a:bodyPr anchor="t" rtlCol="false" tIns="0" lIns="0" bIns="0" rIns="0">
            <a:spAutoFit/>
          </a:bodyPr>
          <a:lstStyle/>
          <a:p>
            <a:pPr algn="ctr">
              <a:lnSpc>
                <a:spcPts val="4194"/>
              </a:lnSpc>
            </a:pPr>
            <a:r>
              <a:rPr lang="en-US" sz="2995">
                <a:solidFill>
                  <a:srgbClr val="D6B03D"/>
                </a:solidFill>
                <a:latin typeface="Glacial Indifference"/>
                <a:ea typeface="Glacial Indifference"/>
                <a:cs typeface="Glacial Indifference"/>
                <a:sym typeface="Glacial Indifference"/>
              </a:rPr>
              <a:t>The government is given deference over the individual.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1395886" y="373070"/>
            <a:ext cx="8222468" cy="2571111"/>
          </a:xfrm>
          <a:prstGeom prst="rect">
            <a:avLst/>
          </a:prstGeom>
        </p:spPr>
        <p:txBody>
          <a:bodyPr anchor="t" rtlCol="false" tIns="0" lIns="0" bIns="0" rIns="0">
            <a:spAutoFit/>
          </a:bodyPr>
          <a:lstStyle/>
          <a:p>
            <a:pPr algn="l">
              <a:lnSpc>
                <a:spcPts val="9955"/>
              </a:lnSpc>
            </a:pPr>
            <a:r>
              <a:rPr lang="en-US" sz="7541" spc="37">
                <a:solidFill>
                  <a:srgbClr val="D6B03D"/>
                </a:solidFill>
                <a:latin typeface="Maharlika"/>
                <a:ea typeface="Maharlika"/>
                <a:cs typeface="Maharlika"/>
                <a:sym typeface="Maharlika"/>
              </a:rPr>
              <a:t>Areas State Law Covers  </a:t>
            </a:r>
          </a:p>
        </p:txBody>
      </p:sp>
      <p:grpSp>
        <p:nvGrpSpPr>
          <p:cNvPr name="Group 3" id="3"/>
          <p:cNvGrpSpPr/>
          <p:nvPr/>
        </p:nvGrpSpPr>
        <p:grpSpPr>
          <a:xfrm rot="0">
            <a:off x="11356301" y="-182033"/>
            <a:ext cx="7171724" cy="10681049"/>
            <a:chOff x="0" y="0"/>
            <a:chExt cx="1672633" cy="2491098"/>
          </a:xfrm>
        </p:grpSpPr>
        <p:sp>
          <p:nvSpPr>
            <p:cNvPr name="Freeform 4" id="4"/>
            <p:cNvSpPr/>
            <p:nvPr/>
          </p:nvSpPr>
          <p:spPr>
            <a:xfrm flipH="false" flipV="false" rot="0">
              <a:off x="0" y="0"/>
              <a:ext cx="1672633" cy="2491098"/>
            </a:xfrm>
            <a:custGeom>
              <a:avLst/>
              <a:gdLst/>
              <a:ahLst/>
              <a:cxnLst/>
              <a:rect r="r" b="b" t="t" l="l"/>
              <a:pathLst>
                <a:path h="2491098" w="1672633">
                  <a:moveTo>
                    <a:pt x="0" y="0"/>
                  </a:moveTo>
                  <a:lnTo>
                    <a:pt x="1672633" y="0"/>
                  </a:lnTo>
                  <a:lnTo>
                    <a:pt x="1672633" y="2491098"/>
                  </a:lnTo>
                  <a:lnTo>
                    <a:pt x="0" y="2491098"/>
                  </a:lnTo>
                  <a:close/>
                </a:path>
              </a:pathLst>
            </a:custGeom>
            <a:blipFill>
              <a:blip r:embed="rId2"/>
              <a:stretch>
                <a:fillRect l="-75782" t="0" r="-47616" b="0"/>
              </a:stretch>
            </a:blipFill>
            <a:ln w="38100" cap="sq">
              <a:solidFill>
                <a:srgbClr val="D6B03D"/>
              </a:solidFill>
              <a:prstDash val="solid"/>
              <a:miter/>
            </a:ln>
          </p:spPr>
        </p:sp>
      </p:grpSp>
      <p:sp>
        <p:nvSpPr>
          <p:cNvPr name="TextBox 5" id="5"/>
          <p:cNvSpPr txBox="true"/>
          <p:nvPr/>
        </p:nvSpPr>
        <p:spPr>
          <a:xfrm rot="0">
            <a:off x="1395886" y="2877506"/>
            <a:ext cx="7072731" cy="5981065"/>
          </a:xfrm>
          <a:prstGeom prst="rect">
            <a:avLst/>
          </a:prstGeom>
        </p:spPr>
        <p:txBody>
          <a:bodyPr anchor="t" rtlCol="false" tIns="0" lIns="0" bIns="0" rIns="0">
            <a:spAutoFit/>
          </a:bodyPr>
          <a:lstStyle/>
          <a:p>
            <a:pPr algn="l" marL="734063" indent="-367031" lvl="1">
              <a:lnSpc>
                <a:spcPts val="4760"/>
              </a:lnSpc>
              <a:buFont typeface="Arial"/>
              <a:buChar char="•"/>
            </a:pPr>
            <a:r>
              <a:rPr lang="en-US" sz="3400">
                <a:solidFill>
                  <a:srgbClr val="D6B03D"/>
                </a:solidFill>
                <a:latin typeface="Glacial Indifference"/>
                <a:ea typeface="Glacial Indifference"/>
                <a:cs typeface="Glacial Indifference"/>
                <a:sym typeface="Glacial Indifference"/>
              </a:rPr>
              <a:t>Data Breach Notification</a:t>
            </a:r>
          </a:p>
          <a:p>
            <a:pPr algn="l" marL="734063" indent="-367031" lvl="1">
              <a:lnSpc>
                <a:spcPts val="4760"/>
              </a:lnSpc>
              <a:buFont typeface="Arial"/>
              <a:buChar char="•"/>
            </a:pPr>
            <a:r>
              <a:rPr lang="en-US" sz="3400">
                <a:solidFill>
                  <a:srgbClr val="D6B03D"/>
                </a:solidFill>
                <a:latin typeface="Glacial Indifference"/>
                <a:ea typeface="Glacial Indifference"/>
                <a:cs typeface="Glacial Indifference"/>
                <a:sym typeface="Glacial Indifference"/>
              </a:rPr>
              <a:t>Biometric Data</a:t>
            </a:r>
          </a:p>
          <a:p>
            <a:pPr algn="l" marL="734063" indent="-367031" lvl="1">
              <a:lnSpc>
                <a:spcPts val="4760"/>
              </a:lnSpc>
              <a:buFont typeface="Arial"/>
              <a:buChar char="•"/>
            </a:pPr>
            <a:r>
              <a:rPr lang="en-US" sz="3400">
                <a:solidFill>
                  <a:srgbClr val="D6B03D"/>
                </a:solidFill>
                <a:latin typeface="Glacial Indifference"/>
                <a:ea typeface="Glacial Indifference"/>
                <a:cs typeface="Glacial Indifference"/>
                <a:sym typeface="Glacial Indifference"/>
              </a:rPr>
              <a:t>Genetic Data</a:t>
            </a:r>
          </a:p>
          <a:p>
            <a:pPr algn="l" marL="734063" indent="-367031" lvl="1">
              <a:lnSpc>
                <a:spcPts val="4760"/>
              </a:lnSpc>
              <a:buFont typeface="Arial"/>
              <a:buChar char="•"/>
            </a:pPr>
            <a:r>
              <a:rPr lang="en-US" sz="3400">
                <a:solidFill>
                  <a:srgbClr val="D6B03D"/>
                </a:solidFill>
                <a:latin typeface="Glacial Indifference"/>
                <a:ea typeface="Glacial Indifference"/>
                <a:cs typeface="Glacial Indifference"/>
                <a:sym typeface="Glacial Indifference"/>
              </a:rPr>
              <a:t>Health Data</a:t>
            </a:r>
          </a:p>
          <a:p>
            <a:pPr algn="l" marL="734063" indent="-367031" lvl="1">
              <a:lnSpc>
                <a:spcPts val="4760"/>
              </a:lnSpc>
              <a:buFont typeface="Arial"/>
              <a:buChar char="•"/>
            </a:pPr>
            <a:r>
              <a:rPr lang="en-US" sz="3400">
                <a:solidFill>
                  <a:srgbClr val="D6B03D"/>
                </a:solidFill>
                <a:latin typeface="Glacial Indifference"/>
                <a:ea typeface="Glacial Indifference"/>
                <a:cs typeface="Glacial Indifference"/>
                <a:sym typeface="Glacial Indifference"/>
              </a:rPr>
              <a:t>Artificial Intelligence</a:t>
            </a:r>
          </a:p>
          <a:p>
            <a:pPr algn="l" marL="734063" indent="-367031" lvl="1">
              <a:lnSpc>
                <a:spcPts val="4760"/>
              </a:lnSpc>
              <a:buFont typeface="Arial"/>
              <a:buChar char="•"/>
            </a:pPr>
            <a:r>
              <a:rPr lang="en-US" sz="3400">
                <a:solidFill>
                  <a:srgbClr val="D6B03D"/>
                </a:solidFill>
                <a:latin typeface="Glacial Indifference"/>
                <a:ea typeface="Glacial Indifference"/>
                <a:cs typeface="Glacial Indifference"/>
                <a:sym typeface="Glacial Indifference"/>
              </a:rPr>
              <a:t>Social Media Password Protection</a:t>
            </a:r>
          </a:p>
          <a:p>
            <a:pPr algn="l" marL="734063" indent="-367031" lvl="1">
              <a:lnSpc>
                <a:spcPts val="4760"/>
              </a:lnSpc>
              <a:buFont typeface="Arial"/>
              <a:buChar char="•"/>
            </a:pPr>
            <a:r>
              <a:rPr lang="en-US" sz="3400">
                <a:solidFill>
                  <a:srgbClr val="D6B03D"/>
                </a:solidFill>
                <a:latin typeface="Glacial Indifference"/>
                <a:ea typeface="Glacial Indifference"/>
                <a:cs typeface="Glacial Indifference"/>
                <a:sym typeface="Glacial Indifference"/>
              </a:rPr>
              <a:t>Social Security Number Protection</a:t>
            </a:r>
          </a:p>
          <a:p>
            <a:pPr algn="l" marL="734063" indent="-367031" lvl="1">
              <a:lnSpc>
                <a:spcPts val="4760"/>
              </a:lnSpc>
              <a:buFont typeface="Arial"/>
              <a:buChar char="•"/>
            </a:pPr>
            <a:r>
              <a:rPr lang="en-US" sz="3400">
                <a:solidFill>
                  <a:srgbClr val="D6B03D"/>
                </a:solidFill>
                <a:latin typeface="Glacial Indifference"/>
                <a:ea typeface="Glacial Indifference"/>
                <a:cs typeface="Glacial Indifference"/>
                <a:sym typeface="Glacial Indifference"/>
              </a:rPr>
              <a:t>States can provide greater protection than federal privacy provisions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1395886" y="430220"/>
            <a:ext cx="8222468" cy="876300"/>
          </a:xfrm>
          <a:prstGeom prst="rect">
            <a:avLst/>
          </a:prstGeom>
        </p:spPr>
        <p:txBody>
          <a:bodyPr anchor="t" rtlCol="false" tIns="0" lIns="0" bIns="0" rIns="0">
            <a:spAutoFit/>
          </a:bodyPr>
          <a:lstStyle/>
          <a:p>
            <a:pPr algn="l">
              <a:lnSpc>
                <a:spcPts val="6600"/>
              </a:lnSpc>
            </a:pPr>
            <a:r>
              <a:rPr lang="en-US" sz="5000" spc="25">
                <a:solidFill>
                  <a:srgbClr val="D6B03D"/>
                </a:solidFill>
                <a:latin typeface="Maharlika"/>
                <a:ea typeface="Maharlika"/>
                <a:cs typeface="Maharlika"/>
                <a:sym typeface="Maharlika"/>
              </a:rPr>
              <a:t>Massachusetts &amp; New Jersey Protections </a:t>
            </a:r>
          </a:p>
        </p:txBody>
      </p:sp>
      <p:grpSp>
        <p:nvGrpSpPr>
          <p:cNvPr name="Group 3" id="3"/>
          <p:cNvGrpSpPr/>
          <p:nvPr/>
        </p:nvGrpSpPr>
        <p:grpSpPr>
          <a:xfrm rot="0">
            <a:off x="11356301" y="-182033"/>
            <a:ext cx="7171724" cy="10681049"/>
            <a:chOff x="0" y="0"/>
            <a:chExt cx="1672633" cy="2491098"/>
          </a:xfrm>
        </p:grpSpPr>
        <p:sp>
          <p:nvSpPr>
            <p:cNvPr name="Freeform 4" id="4"/>
            <p:cNvSpPr/>
            <p:nvPr/>
          </p:nvSpPr>
          <p:spPr>
            <a:xfrm flipH="false" flipV="false" rot="0">
              <a:off x="0" y="0"/>
              <a:ext cx="1672633" cy="2491098"/>
            </a:xfrm>
            <a:custGeom>
              <a:avLst/>
              <a:gdLst/>
              <a:ahLst/>
              <a:cxnLst/>
              <a:rect r="r" b="b" t="t" l="l"/>
              <a:pathLst>
                <a:path h="2491098" w="1672633">
                  <a:moveTo>
                    <a:pt x="0" y="0"/>
                  </a:moveTo>
                  <a:lnTo>
                    <a:pt x="1672633" y="0"/>
                  </a:lnTo>
                  <a:lnTo>
                    <a:pt x="1672633" y="2491098"/>
                  </a:lnTo>
                  <a:lnTo>
                    <a:pt x="0" y="2491098"/>
                  </a:lnTo>
                  <a:close/>
                </a:path>
              </a:pathLst>
            </a:custGeom>
            <a:blipFill>
              <a:blip r:embed="rId2"/>
              <a:stretch>
                <a:fillRect l="-75782" t="0" r="-47616" b="0"/>
              </a:stretch>
            </a:blipFill>
            <a:ln w="38100" cap="sq">
              <a:solidFill>
                <a:srgbClr val="D6B03D"/>
              </a:solidFill>
              <a:prstDash val="solid"/>
              <a:miter/>
            </a:ln>
          </p:spPr>
        </p:sp>
      </p:grpSp>
      <p:sp>
        <p:nvSpPr>
          <p:cNvPr name="TextBox 5" id="5"/>
          <p:cNvSpPr txBox="true"/>
          <p:nvPr/>
        </p:nvSpPr>
        <p:spPr>
          <a:xfrm rot="0">
            <a:off x="1395886" y="2131129"/>
            <a:ext cx="7072731" cy="7599680"/>
          </a:xfrm>
          <a:prstGeom prst="rect">
            <a:avLst/>
          </a:prstGeom>
        </p:spPr>
        <p:txBody>
          <a:bodyPr anchor="t" rtlCol="false" tIns="0" lIns="0" bIns="0" rIns="0">
            <a:spAutoFit/>
          </a:bodyPr>
          <a:lstStyle/>
          <a:p>
            <a:pPr algn="l" marL="496569" indent="-248284" lvl="1">
              <a:lnSpc>
                <a:spcPts val="3219"/>
              </a:lnSpc>
              <a:buFont typeface="Arial"/>
              <a:buChar char="•"/>
            </a:pPr>
            <a:r>
              <a:rPr lang="en-US" sz="2299">
                <a:solidFill>
                  <a:srgbClr val="D6B03D"/>
                </a:solidFill>
                <a:latin typeface="Glacial Indifference"/>
                <a:ea typeface="Glacial Indifference"/>
                <a:cs typeface="Glacial Indifference"/>
                <a:sym typeface="Glacial Indifference"/>
              </a:rPr>
              <a:t>The upcoming Massachusetts Consumer Data Privacy Act includes a ban on the sale of precise geolocation data. This helps protect people from surveillance, stalking, and the misuse of sensitive personal information. This protection is extended to both residents of Massachusetts and visitors. This is especially important when protecting people who travel to and within Massachusetts, including for reproductive and gender affirming health care.</a:t>
            </a:r>
          </a:p>
          <a:p>
            <a:pPr algn="l" marL="496569" indent="-248284" lvl="1">
              <a:lnSpc>
                <a:spcPts val="3219"/>
              </a:lnSpc>
              <a:buFont typeface="Arial"/>
              <a:buChar char="•"/>
            </a:pPr>
            <a:r>
              <a:rPr lang="en-US" sz="2299">
                <a:solidFill>
                  <a:srgbClr val="D6B03D"/>
                </a:solidFill>
                <a:latin typeface="Glacial Indifference"/>
                <a:ea typeface="Glacial Indifference"/>
                <a:cs typeface="Glacial Indifference"/>
                <a:sym typeface="Glacial Indifference"/>
              </a:rPr>
              <a:t>In New Jersey, there is a total ban on selling sensitive data. It applies to all individuals or legal entities regardless of the number of consumers whose data the individual or entity controls or processes.</a:t>
            </a:r>
          </a:p>
          <a:p>
            <a:pPr algn="l" marL="496569" indent="-248284" lvl="1">
              <a:lnSpc>
                <a:spcPts val="3219"/>
              </a:lnSpc>
              <a:buFont typeface="Arial"/>
              <a:buChar char="•"/>
            </a:pPr>
            <a:r>
              <a:rPr lang="en-US" sz="2299">
                <a:solidFill>
                  <a:srgbClr val="D6B03D"/>
                </a:solidFill>
                <a:latin typeface="Glacial Indifference"/>
                <a:ea typeface="Glacial Indifference"/>
                <a:cs typeface="Glacial Indifference"/>
                <a:sym typeface="Glacial Indifference"/>
              </a:rPr>
              <a:t>In Maryland, Oregon, Virginia, and Connecticut, there is a partial ban on some categories of sensitive data.</a:t>
            </a:r>
          </a:p>
          <a:p>
            <a:pPr algn="l">
              <a:lnSpc>
                <a:spcPts val="3219"/>
              </a:lnSpc>
            </a:pPr>
            <a:r>
              <a:rPr lang="en-US" sz="2299">
                <a:solidFill>
                  <a:srgbClr val="D6B03D"/>
                </a:solidFill>
                <a:latin typeface="Glacial Indifference"/>
                <a:ea typeface="Glacial Indifference"/>
                <a:cs typeface="Glacial Indifference"/>
                <a:sym typeface="Glacial Indifference"/>
              </a:rPr>
              <a:t>(S. 2608, 194th Gen. Ct. (Mass. 2025), N.J. P.L.2026, c.25)</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1395886" y="430220"/>
            <a:ext cx="8222468" cy="1714500"/>
          </a:xfrm>
          <a:prstGeom prst="rect">
            <a:avLst/>
          </a:prstGeom>
        </p:spPr>
        <p:txBody>
          <a:bodyPr anchor="t" rtlCol="false" tIns="0" lIns="0" bIns="0" rIns="0">
            <a:spAutoFit/>
          </a:bodyPr>
          <a:lstStyle/>
          <a:p>
            <a:pPr algn="l">
              <a:lnSpc>
                <a:spcPts val="6600"/>
              </a:lnSpc>
            </a:pPr>
            <a:r>
              <a:rPr lang="en-US" sz="5000" spc="25">
                <a:solidFill>
                  <a:srgbClr val="D6B03D"/>
                </a:solidFill>
                <a:latin typeface="Maharlika"/>
                <a:ea typeface="Maharlika"/>
                <a:cs typeface="Maharlika"/>
                <a:sym typeface="Maharlika"/>
              </a:rPr>
              <a:t>California Privacy Rights Act (CPRA)</a:t>
            </a:r>
          </a:p>
        </p:txBody>
      </p:sp>
      <p:grpSp>
        <p:nvGrpSpPr>
          <p:cNvPr name="Group 3" id="3"/>
          <p:cNvGrpSpPr/>
          <p:nvPr/>
        </p:nvGrpSpPr>
        <p:grpSpPr>
          <a:xfrm rot="0">
            <a:off x="11356301" y="-182033"/>
            <a:ext cx="7171724" cy="10681049"/>
            <a:chOff x="0" y="0"/>
            <a:chExt cx="1672633" cy="2491098"/>
          </a:xfrm>
        </p:grpSpPr>
        <p:sp>
          <p:nvSpPr>
            <p:cNvPr name="Freeform 4" id="4"/>
            <p:cNvSpPr/>
            <p:nvPr/>
          </p:nvSpPr>
          <p:spPr>
            <a:xfrm flipH="false" flipV="false" rot="0">
              <a:off x="0" y="0"/>
              <a:ext cx="1672633" cy="2491098"/>
            </a:xfrm>
            <a:custGeom>
              <a:avLst/>
              <a:gdLst/>
              <a:ahLst/>
              <a:cxnLst/>
              <a:rect r="r" b="b" t="t" l="l"/>
              <a:pathLst>
                <a:path h="2491098" w="1672633">
                  <a:moveTo>
                    <a:pt x="0" y="0"/>
                  </a:moveTo>
                  <a:lnTo>
                    <a:pt x="1672633" y="0"/>
                  </a:lnTo>
                  <a:lnTo>
                    <a:pt x="1672633" y="2491098"/>
                  </a:lnTo>
                  <a:lnTo>
                    <a:pt x="0" y="2491098"/>
                  </a:lnTo>
                  <a:close/>
                </a:path>
              </a:pathLst>
            </a:custGeom>
            <a:blipFill>
              <a:blip r:embed="rId2"/>
              <a:stretch>
                <a:fillRect l="-75782" t="0" r="-47616" b="0"/>
              </a:stretch>
            </a:blipFill>
            <a:ln w="38100" cap="sq">
              <a:solidFill>
                <a:srgbClr val="D6B03D"/>
              </a:solidFill>
              <a:prstDash val="solid"/>
              <a:miter/>
            </a:ln>
          </p:spPr>
        </p:sp>
      </p:grpSp>
      <p:sp>
        <p:nvSpPr>
          <p:cNvPr name="TextBox 5" id="5"/>
          <p:cNvSpPr txBox="true"/>
          <p:nvPr/>
        </p:nvSpPr>
        <p:spPr>
          <a:xfrm rot="0">
            <a:off x="1395886" y="2140654"/>
            <a:ext cx="7072731" cy="6309360"/>
          </a:xfrm>
          <a:prstGeom prst="rect">
            <a:avLst/>
          </a:prstGeom>
        </p:spPr>
        <p:txBody>
          <a:bodyPr anchor="t" rtlCol="false" tIns="0" lIns="0" bIns="0" rIns="0">
            <a:spAutoFit/>
          </a:bodyPr>
          <a:lstStyle/>
          <a:p>
            <a:pPr algn="l" marL="453390" indent="-226695" lvl="1">
              <a:lnSpc>
                <a:spcPts val="2940"/>
              </a:lnSpc>
              <a:buFont typeface="Arial"/>
              <a:buChar char="•"/>
            </a:pPr>
            <a:r>
              <a:rPr lang="en-US" sz="2100">
                <a:solidFill>
                  <a:srgbClr val="D6B03D"/>
                </a:solidFill>
                <a:latin typeface="Glacial Indifference"/>
                <a:ea typeface="Glacial Indifference"/>
                <a:cs typeface="Glacial Indifference"/>
                <a:sym typeface="Glacial Indifference"/>
              </a:rPr>
              <a:t>The privacy rights of employees and independent contractors are considered and protected. (Sec. 3 (A)(8))</a:t>
            </a:r>
          </a:p>
          <a:p>
            <a:pPr algn="l" marL="453390" indent="-226695" lvl="1">
              <a:lnSpc>
                <a:spcPts val="2940"/>
              </a:lnSpc>
              <a:buFont typeface="Arial"/>
              <a:buChar char="•"/>
            </a:pPr>
            <a:r>
              <a:rPr lang="en-US" sz="2100">
                <a:solidFill>
                  <a:srgbClr val="D6B03D"/>
                </a:solidFill>
                <a:latin typeface="Glacial Indifference"/>
                <a:ea typeface="Glacial Indifference"/>
                <a:cs typeface="Glacial Indifference"/>
                <a:sym typeface="Glacial Indifference"/>
              </a:rPr>
              <a:t>The CPRA does not interfere with the rights to organize or to participate in collective bargaining that are granted under the National Labor Relations Act. (Sec. 3 (A)(8))</a:t>
            </a:r>
          </a:p>
          <a:p>
            <a:pPr algn="l" marL="453390" indent="-226695" lvl="1">
              <a:lnSpc>
                <a:spcPts val="2940"/>
              </a:lnSpc>
              <a:buFont typeface="Arial"/>
              <a:buChar char="•"/>
            </a:pPr>
            <a:r>
              <a:rPr lang="en-US" sz="2100">
                <a:solidFill>
                  <a:srgbClr val="D6B03D"/>
                </a:solidFill>
                <a:latin typeface="Glacial Indifference"/>
                <a:ea typeface="Glacial Indifference"/>
                <a:cs typeface="Glacial Indifference"/>
                <a:sym typeface="Glacial Indifference"/>
              </a:rPr>
              <a:t>There are exemptions for employees and businesses regarding “business communications”. (Sec. 3 (A)(8))</a:t>
            </a:r>
          </a:p>
          <a:p>
            <a:pPr algn="l" marL="453390" indent="-226695" lvl="1">
              <a:lnSpc>
                <a:spcPts val="2940"/>
              </a:lnSpc>
              <a:buFont typeface="Arial"/>
              <a:buChar char="•"/>
            </a:pPr>
            <a:r>
              <a:rPr lang="en-US" sz="2100">
                <a:solidFill>
                  <a:srgbClr val="D6B03D"/>
                </a:solidFill>
                <a:latin typeface="Glacial Indifference"/>
                <a:ea typeface="Glacial Indifference"/>
                <a:cs typeface="Glacial Indifference"/>
                <a:sym typeface="Glacial Indifference"/>
              </a:rPr>
              <a:t>Personal information that is collected by a business in the course of acting as a job applicant, employee, or contractor solely within the context of their role or former role the CPRA does not apply. (1798.145(m)(1)(A))</a:t>
            </a:r>
          </a:p>
          <a:p>
            <a:pPr algn="l" marL="453390" indent="-226695" lvl="1">
              <a:lnSpc>
                <a:spcPts val="2940"/>
              </a:lnSpc>
              <a:buFont typeface="Arial"/>
              <a:buChar char="•"/>
            </a:pPr>
            <a:r>
              <a:rPr lang="en-US" sz="2100">
                <a:solidFill>
                  <a:srgbClr val="D6B03D"/>
                </a:solidFill>
                <a:latin typeface="Glacial Indifference"/>
                <a:ea typeface="Glacial Indifference"/>
                <a:cs typeface="Glacial Indifference"/>
                <a:sym typeface="Glacial Indifference"/>
              </a:rPr>
              <a:t>Personal information that is collected by a business for emergency contact information or employee benefits does not fall under the CPRA. (1798.145(m)(1)(B-C))</a:t>
            </a:r>
          </a:p>
          <a:p>
            <a:pPr algn="l" marL="453390" indent="-226695" lvl="1">
              <a:lnSpc>
                <a:spcPts val="2940"/>
              </a:lnSpc>
              <a:buFont typeface="Arial"/>
              <a:buChar char="•"/>
            </a:pPr>
            <a:r>
              <a:rPr lang="en-US" sz="2100">
                <a:solidFill>
                  <a:srgbClr val="D6B03D"/>
                </a:solidFill>
                <a:latin typeface="Glacial Indifference"/>
                <a:ea typeface="Glacial Indifference"/>
                <a:cs typeface="Glacial Indifference"/>
                <a:sym typeface="Glacial Indifference"/>
              </a:rPr>
              <a:t>Prohibits retaliation towards employees, applicants, and contractors following them exercising their right to opt out (1798.25(1)(E))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1395886" y="430220"/>
            <a:ext cx="8222468" cy="1714500"/>
          </a:xfrm>
          <a:prstGeom prst="rect">
            <a:avLst/>
          </a:prstGeom>
        </p:spPr>
        <p:txBody>
          <a:bodyPr anchor="t" rtlCol="false" tIns="0" lIns="0" bIns="0" rIns="0">
            <a:spAutoFit/>
          </a:bodyPr>
          <a:lstStyle/>
          <a:p>
            <a:pPr algn="l">
              <a:lnSpc>
                <a:spcPts val="6600"/>
              </a:lnSpc>
            </a:pPr>
            <a:r>
              <a:rPr lang="en-US" sz="5000" spc="25">
                <a:solidFill>
                  <a:srgbClr val="D6B03D"/>
                </a:solidFill>
                <a:latin typeface="Maharlika"/>
                <a:ea typeface="Maharlika"/>
                <a:cs typeface="Maharlika"/>
                <a:sym typeface="Maharlika"/>
              </a:rPr>
              <a:t>California Consumer Privacy Act (CCPA)</a:t>
            </a:r>
          </a:p>
        </p:txBody>
      </p:sp>
      <p:grpSp>
        <p:nvGrpSpPr>
          <p:cNvPr name="Group 3" id="3"/>
          <p:cNvGrpSpPr/>
          <p:nvPr/>
        </p:nvGrpSpPr>
        <p:grpSpPr>
          <a:xfrm rot="0">
            <a:off x="11356301" y="-182033"/>
            <a:ext cx="7171724" cy="10681049"/>
            <a:chOff x="0" y="0"/>
            <a:chExt cx="1672633" cy="2491098"/>
          </a:xfrm>
        </p:grpSpPr>
        <p:sp>
          <p:nvSpPr>
            <p:cNvPr name="Freeform 4" id="4"/>
            <p:cNvSpPr/>
            <p:nvPr/>
          </p:nvSpPr>
          <p:spPr>
            <a:xfrm flipH="false" flipV="false" rot="0">
              <a:off x="0" y="0"/>
              <a:ext cx="1672633" cy="2491098"/>
            </a:xfrm>
            <a:custGeom>
              <a:avLst/>
              <a:gdLst/>
              <a:ahLst/>
              <a:cxnLst/>
              <a:rect r="r" b="b" t="t" l="l"/>
              <a:pathLst>
                <a:path h="2491098" w="1672633">
                  <a:moveTo>
                    <a:pt x="0" y="0"/>
                  </a:moveTo>
                  <a:lnTo>
                    <a:pt x="1672633" y="0"/>
                  </a:lnTo>
                  <a:lnTo>
                    <a:pt x="1672633" y="2491098"/>
                  </a:lnTo>
                  <a:lnTo>
                    <a:pt x="0" y="2491098"/>
                  </a:lnTo>
                  <a:close/>
                </a:path>
              </a:pathLst>
            </a:custGeom>
            <a:blipFill>
              <a:blip r:embed="rId2"/>
              <a:stretch>
                <a:fillRect l="-75782" t="0" r="-47616" b="0"/>
              </a:stretch>
            </a:blipFill>
            <a:ln w="38100" cap="sq">
              <a:solidFill>
                <a:srgbClr val="D6B03D"/>
              </a:solidFill>
              <a:prstDash val="solid"/>
              <a:miter/>
            </a:ln>
          </p:spPr>
        </p:sp>
      </p:grpSp>
      <p:sp>
        <p:nvSpPr>
          <p:cNvPr name="TextBox 5" id="5"/>
          <p:cNvSpPr txBox="true"/>
          <p:nvPr/>
        </p:nvSpPr>
        <p:spPr>
          <a:xfrm rot="0">
            <a:off x="1395886" y="2121604"/>
            <a:ext cx="7072731" cy="7407276"/>
          </a:xfrm>
          <a:prstGeom prst="rect">
            <a:avLst/>
          </a:prstGeom>
        </p:spPr>
        <p:txBody>
          <a:bodyPr anchor="t" rtlCol="false" tIns="0" lIns="0" bIns="0" rIns="0">
            <a:spAutoFit/>
          </a:bodyPr>
          <a:lstStyle/>
          <a:p>
            <a:pPr algn="l" marL="755642" indent="-377821" lvl="1">
              <a:lnSpc>
                <a:spcPts val="4899"/>
              </a:lnSpc>
              <a:buFont typeface="Arial"/>
              <a:buChar char="•"/>
            </a:pPr>
            <a:r>
              <a:rPr lang="en-US" sz="3499">
                <a:solidFill>
                  <a:srgbClr val="D6B03D"/>
                </a:solidFill>
                <a:latin typeface="Glacial Indifference"/>
                <a:ea typeface="Glacial Indifference"/>
                <a:cs typeface="Glacial Indifference"/>
                <a:sym typeface="Glacial Indifference"/>
              </a:rPr>
              <a:t>Job applicants and employees have rights.</a:t>
            </a:r>
          </a:p>
          <a:p>
            <a:pPr algn="l" marL="755642" indent="-377821" lvl="1">
              <a:lnSpc>
                <a:spcPts val="4899"/>
              </a:lnSpc>
              <a:buFont typeface="Arial"/>
              <a:buChar char="•"/>
            </a:pPr>
            <a:r>
              <a:rPr lang="en-US" sz="3499">
                <a:solidFill>
                  <a:srgbClr val="D6B03D"/>
                </a:solidFill>
                <a:latin typeface="Glacial Indifference"/>
                <a:ea typeface="Glacial Indifference"/>
                <a:cs typeface="Glacial Indifference"/>
                <a:sym typeface="Glacial Indifference"/>
              </a:rPr>
              <a:t>Notice at collection of data </a:t>
            </a:r>
          </a:p>
          <a:p>
            <a:pPr algn="l" marL="755642" indent="-377821" lvl="1">
              <a:lnSpc>
                <a:spcPts val="4899"/>
              </a:lnSpc>
              <a:buFont typeface="Arial"/>
              <a:buChar char="•"/>
            </a:pPr>
            <a:r>
              <a:rPr lang="en-US" sz="3499">
                <a:solidFill>
                  <a:srgbClr val="D6B03D"/>
                </a:solidFill>
                <a:latin typeface="Glacial Indifference"/>
                <a:ea typeface="Glacial Indifference"/>
                <a:cs typeface="Glacial Indifference"/>
                <a:sym typeface="Glacial Indifference"/>
              </a:rPr>
              <a:t>Right to know and to access categories and specifics of data collected</a:t>
            </a:r>
          </a:p>
          <a:p>
            <a:pPr algn="l" marL="755642" indent="-377821" lvl="1">
              <a:lnSpc>
                <a:spcPts val="4899"/>
              </a:lnSpc>
              <a:buFont typeface="Arial"/>
              <a:buChar char="•"/>
            </a:pPr>
            <a:r>
              <a:rPr lang="en-US" sz="3499">
                <a:solidFill>
                  <a:srgbClr val="D6B03D"/>
                </a:solidFill>
                <a:latin typeface="Glacial Indifference"/>
                <a:ea typeface="Glacial Indifference"/>
                <a:cs typeface="Glacial Indifference"/>
                <a:sym typeface="Glacial Indifference"/>
              </a:rPr>
              <a:t>Right to delete data collected</a:t>
            </a:r>
          </a:p>
          <a:p>
            <a:pPr algn="l" marL="755642" indent="-377821" lvl="1">
              <a:lnSpc>
                <a:spcPts val="4899"/>
              </a:lnSpc>
              <a:buFont typeface="Arial"/>
              <a:buChar char="•"/>
            </a:pPr>
            <a:r>
              <a:rPr lang="en-US" sz="3499">
                <a:solidFill>
                  <a:srgbClr val="D6B03D"/>
                </a:solidFill>
                <a:latin typeface="Glacial Indifference"/>
                <a:ea typeface="Glacial Indifference"/>
                <a:cs typeface="Glacial Indifference"/>
                <a:sym typeface="Glacial Indifference"/>
              </a:rPr>
              <a:t>Right to limit sensitive data use</a:t>
            </a:r>
          </a:p>
          <a:p>
            <a:pPr algn="l" marL="755642" indent="-377821" lvl="1">
              <a:lnSpc>
                <a:spcPts val="4899"/>
              </a:lnSpc>
              <a:buFont typeface="Arial"/>
              <a:buChar char="•"/>
            </a:pPr>
            <a:r>
              <a:rPr lang="en-US" sz="3499">
                <a:solidFill>
                  <a:srgbClr val="D6B03D"/>
                </a:solidFill>
                <a:latin typeface="Glacial Indifference"/>
                <a:ea typeface="Glacial Indifference"/>
                <a:cs typeface="Glacial Indifference"/>
                <a:sym typeface="Glacial Indifference"/>
              </a:rPr>
              <a:t>Right to not be discriminated against for using CCPA privacy rights</a:t>
            </a:r>
          </a:p>
          <a:p>
            <a:pPr algn="l">
              <a:lnSpc>
                <a:spcPts val="4899"/>
              </a:lnSpc>
            </a:pPr>
            <a:r>
              <a:rPr lang="en-US" sz="3499">
                <a:solidFill>
                  <a:srgbClr val="D6B03D"/>
                </a:solidFill>
                <a:latin typeface="Glacial Indifference"/>
                <a:ea typeface="Glacial Indifference"/>
                <a:cs typeface="Glacial Indifference"/>
                <a:sym typeface="Glacial Indifference"/>
              </a:rPr>
              <a:t>(Cal. Civ. Code § 1798.100–1798.199)</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1395886" y="439745"/>
            <a:ext cx="8222468" cy="1541145"/>
          </a:xfrm>
          <a:prstGeom prst="rect">
            <a:avLst/>
          </a:prstGeom>
        </p:spPr>
        <p:txBody>
          <a:bodyPr anchor="t" rtlCol="false" tIns="0" lIns="0" bIns="0" rIns="0">
            <a:spAutoFit/>
          </a:bodyPr>
          <a:lstStyle/>
          <a:p>
            <a:pPr algn="l">
              <a:lnSpc>
                <a:spcPts val="5940"/>
              </a:lnSpc>
            </a:pPr>
            <a:r>
              <a:rPr lang="en-US" sz="4500" spc="22">
                <a:solidFill>
                  <a:srgbClr val="D6B03D"/>
                </a:solidFill>
                <a:latin typeface="Maharlika"/>
                <a:ea typeface="Maharlika"/>
                <a:cs typeface="Maharlika"/>
                <a:sym typeface="Maharlika"/>
              </a:rPr>
              <a:t>Virginia &amp; Connecticut Privacy Protections</a:t>
            </a:r>
          </a:p>
        </p:txBody>
      </p:sp>
      <p:grpSp>
        <p:nvGrpSpPr>
          <p:cNvPr name="Group 3" id="3"/>
          <p:cNvGrpSpPr/>
          <p:nvPr/>
        </p:nvGrpSpPr>
        <p:grpSpPr>
          <a:xfrm rot="0">
            <a:off x="11356301" y="-182033"/>
            <a:ext cx="7171724" cy="10681049"/>
            <a:chOff x="0" y="0"/>
            <a:chExt cx="1672633" cy="2491098"/>
          </a:xfrm>
        </p:grpSpPr>
        <p:sp>
          <p:nvSpPr>
            <p:cNvPr name="Freeform 4" id="4"/>
            <p:cNvSpPr/>
            <p:nvPr/>
          </p:nvSpPr>
          <p:spPr>
            <a:xfrm flipH="false" flipV="false" rot="0">
              <a:off x="0" y="0"/>
              <a:ext cx="1672633" cy="2491098"/>
            </a:xfrm>
            <a:custGeom>
              <a:avLst/>
              <a:gdLst/>
              <a:ahLst/>
              <a:cxnLst/>
              <a:rect r="r" b="b" t="t" l="l"/>
              <a:pathLst>
                <a:path h="2491098" w="1672633">
                  <a:moveTo>
                    <a:pt x="0" y="0"/>
                  </a:moveTo>
                  <a:lnTo>
                    <a:pt x="1672633" y="0"/>
                  </a:lnTo>
                  <a:lnTo>
                    <a:pt x="1672633" y="2491098"/>
                  </a:lnTo>
                  <a:lnTo>
                    <a:pt x="0" y="2491098"/>
                  </a:lnTo>
                  <a:close/>
                </a:path>
              </a:pathLst>
            </a:custGeom>
            <a:blipFill>
              <a:blip r:embed="rId2"/>
              <a:stretch>
                <a:fillRect l="-75782" t="0" r="-47616" b="0"/>
              </a:stretch>
            </a:blipFill>
            <a:ln w="38100" cap="sq">
              <a:solidFill>
                <a:srgbClr val="D6B03D"/>
              </a:solidFill>
              <a:prstDash val="solid"/>
              <a:miter/>
            </a:ln>
          </p:spPr>
        </p:sp>
      </p:grpSp>
      <p:sp>
        <p:nvSpPr>
          <p:cNvPr name="TextBox 5" id="5"/>
          <p:cNvSpPr txBox="true"/>
          <p:nvPr/>
        </p:nvSpPr>
        <p:spPr>
          <a:xfrm rot="0">
            <a:off x="1395886" y="1933265"/>
            <a:ext cx="7072731" cy="7802245"/>
          </a:xfrm>
          <a:prstGeom prst="rect">
            <a:avLst/>
          </a:prstGeom>
        </p:spPr>
        <p:txBody>
          <a:bodyPr anchor="t" rtlCol="false" tIns="0" lIns="0" bIns="0" rIns="0">
            <a:spAutoFit/>
          </a:bodyPr>
          <a:lstStyle/>
          <a:p>
            <a:pPr algn="l" marL="474979" indent="-237490" lvl="1">
              <a:lnSpc>
                <a:spcPts val="3079"/>
              </a:lnSpc>
              <a:buFont typeface="Arial"/>
              <a:buChar char="•"/>
            </a:pPr>
            <a:r>
              <a:rPr lang="en-US" sz="2199">
                <a:solidFill>
                  <a:srgbClr val="D6B03D"/>
                </a:solidFill>
                <a:latin typeface="Glacial Indifference"/>
                <a:ea typeface="Glacial Indifference"/>
                <a:cs typeface="Glacial Indifference"/>
                <a:sym typeface="Glacial Indifference"/>
              </a:rPr>
              <a:t>Discourages employers from releasing, communicating, or distributing to a third party any current or former employee's personal identifying information including home telephone number, mobile telephone number, email address, shift times, or work schedule (VA §40.1-28.7:4)</a:t>
            </a:r>
          </a:p>
          <a:p>
            <a:pPr algn="l" marL="474979" indent="-237490" lvl="1">
              <a:lnSpc>
                <a:spcPts val="3079"/>
              </a:lnSpc>
              <a:buFont typeface="Arial"/>
              <a:buChar char="•"/>
            </a:pPr>
            <a:r>
              <a:rPr lang="en-US" sz="2199">
                <a:solidFill>
                  <a:srgbClr val="D6B03D"/>
                </a:solidFill>
                <a:latin typeface="Glacial Indifference"/>
                <a:ea typeface="Glacial Indifference"/>
                <a:cs typeface="Glacial Indifference"/>
                <a:sym typeface="Glacial Indifference"/>
              </a:rPr>
              <a:t>Discourages employers from using an employee's social security number or any derivative thereof as such employee's identification number (VA §40.1-28.7:10)</a:t>
            </a:r>
          </a:p>
          <a:p>
            <a:pPr algn="l" marL="474979" indent="-237490" lvl="1">
              <a:lnSpc>
                <a:spcPts val="3079"/>
              </a:lnSpc>
              <a:buFont typeface="Arial"/>
              <a:buChar char="•"/>
            </a:pPr>
            <a:r>
              <a:rPr lang="en-US" sz="2199">
                <a:solidFill>
                  <a:srgbClr val="D6B03D"/>
                </a:solidFill>
                <a:latin typeface="Glacial Indifference"/>
                <a:ea typeface="Glacial Indifference"/>
                <a:cs typeface="Glacial Indifference"/>
                <a:sym typeface="Glacial Indifference"/>
              </a:rPr>
              <a:t>"Consumer" does not include an individual acting in an  employment context, or as an employee or contractor. (CT Gen Stat § 42-515(8))</a:t>
            </a:r>
          </a:p>
          <a:p>
            <a:pPr algn="l" marL="474979" indent="-237490" lvl="1">
              <a:lnSpc>
                <a:spcPts val="3079"/>
              </a:lnSpc>
              <a:buFont typeface="Arial"/>
              <a:buChar char="•"/>
            </a:pPr>
            <a:r>
              <a:rPr lang="en-US" sz="2199">
                <a:solidFill>
                  <a:srgbClr val="D6B03D"/>
                </a:solidFill>
                <a:latin typeface="Glacial Indifference"/>
                <a:ea typeface="Glacial Indifference"/>
                <a:cs typeface="Glacial Indifference"/>
                <a:sym typeface="Glacial Indifference"/>
              </a:rPr>
              <a:t>Data processed or maintained in the course of an individual applying to, being employed by, or being and independent contractor of a business that is used to the extent that the data is collected and used within the context of their role is exempt from the Connecticut Data Privacy Act. (CT Gen Stat § 42-517(b)(15)(A))</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1395886" y="439745"/>
            <a:ext cx="9064542" cy="1541145"/>
          </a:xfrm>
          <a:prstGeom prst="rect">
            <a:avLst/>
          </a:prstGeom>
        </p:spPr>
        <p:txBody>
          <a:bodyPr anchor="t" rtlCol="false" tIns="0" lIns="0" bIns="0" rIns="0">
            <a:spAutoFit/>
          </a:bodyPr>
          <a:lstStyle/>
          <a:p>
            <a:pPr algn="l">
              <a:lnSpc>
                <a:spcPts val="5940"/>
              </a:lnSpc>
            </a:pPr>
            <a:r>
              <a:rPr lang="en-US" sz="4500" spc="22">
                <a:solidFill>
                  <a:srgbClr val="D6B03D"/>
                </a:solidFill>
                <a:latin typeface="Maharlika"/>
                <a:ea typeface="Maharlika"/>
                <a:cs typeface="Maharlika"/>
                <a:sym typeface="Maharlika"/>
              </a:rPr>
              <a:t>New York </a:t>
            </a:r>
            <a:r>
              <a:rPr lang="en-US" sz="4500" spc="22">
                <a:solidFill>
                  <a:srgbClr val="D6B03D"/>
                </a:solidFill>
                <a:latin typeface="Maharlika"/>
                <a:ea typeface="Maharlika"/>
                <a:cs typeface="Maharlika"/>
                <a:sym typeface="Maharlika"/>
              </a:rPr>
              <a:t>&amp; Connecticut &amp; Delaware Privacy Protections</a:t>
            </a:r>
          </a:p>
        </p:txBody>
      </p:sp>
      <p:grpSp>
        <p:nvGrpSpPr>
          <p:cNvPr name="Group 3" id="3"/>
          <p:cNvGrpSpPr/>
          <p:nvPr/>
        </p:nvGrpSpPr>
        <p:grpSpPr>
          <a:xfrm rot="0">
            <a:off x="11356301" y="-182033"/>
            <a:ext cx="7171724" cy="10681049"/>
            <a:chOff x="0" y="0"/>
            <a:chExt cx="1672633" cy="2491098"/>
          </a:xfrm>
        </p:grpSpPr>
        <p:sp>
          <p:nvSpPr>
            <p:cNvPr name="Freeform 4" id="4"/>
            <p:cNvSpPr/>
            <p:nvPr/>
          </p:nvSpPr>
          <p:spPr>
            <a:xfrm flipH="false" flipV="false" rot="0">
              <a:off x="0" y="0"/>
              <a:ext cx="1672633" cy="2491098"/>
            </a:xfrm>
            <a:custGeom>
              <a:avLst/>
              <a:gdLst/>
              <a:ahLst/>
              <a:cxnLst/>
              <a:rect r="r" b="b" t="t" l="l"/>
              <a:pathLst>
                <a:path h="2491098" w="1672633">
                  <a:moveTo>
                    <a:pt x="0" y="0"/>
                  </a:moveTo>
                  <a:lnTo>
                    <a:pt x="1672633" y="0"/>
                  </a:lnTo>
                  <a:lnTo>
                    <a:pt x="1672633" y="2491098"/>
                  </a:lnTo>
                  <a:lnTo>
                    <a:pt x="0" y="2491098"/>
                  </a:lnTo>
                  <a:close/>
                </a:path>
              </a:pathLst>
            </a:custGeom>
            <a:blipFill>
              <a:blip r:embed="rId2"/>
              <a:stretch>
                <a:fillRect l="-75782" t="0" r="-47616" b="0"/>
              </a:stretch>
            </a:blipFill>
            <a:ln w="38100" cap="sq">
              <a:solidFill>
                <a:srgbClr val="D6B03D"/>
              </a:solidFill>
              <a:prstDash val="solid"/>
              <a:miter/>
            </a:ln>
          </p:spPr>
        </p:sp>
      </p:grpSp>
      <p:sp>
        <p:nvSpPr>
          <p:cNvPr name="TextBox 5" id="5"/>
          <p:cNvSpPr txBox="true"/>
          <p:nvPr/>
        </p:nvSpPr>
        <p:spPr>
          <a:xfrm rot="0">
            <a:off x="1395886" y="2121604"/>
            <a:ext cx="7072731" cy="6929755"/>
          </a:xfrm>
          <a:prstGeom prst="rect">
            <a:avLst/>
          </a:prstGeom>
        </p:spPr>
        <p:txBody>
          <a:bodyPr anchor="t" rtlCol="false" tIns="0" lIns="0" bIns="0" rIns="0">
            <a:spAutoFit/>
          </a:bodyPr>
          <a:lstStyle/>
          <a:p>
            <a:pPr algn="l" marL="604516" indent="-302258" lvl="1">
              <a:lnSpc>
                <a:spcPts val="3919"/>
              </a:lnSpc>
              <a:buFont typeface="Arial"/>
              <a:buChar char="•"/>
            </a:pPr>
            <a:r>
              <a:rPr lang="en-US" sz="2799">
                <a:solidFill>
                  <a:srgbClr val="D6B03D"/>
                </a:solidFill>
                <a:latin typeface="Glacial Indifference"/>
                <a:ea typeface="Glacial Indifference"/>
                <a:cs typeface="Glacial Indifference"/>
                <a:sym typeface="Glacial Indifference"/>
              </a:rPr>
              <a:t>Employers engaged in electronic monitoring </a:t>
            </a:r>
            <a:r>
              <a:rPr lang="en-US" sz="2799">
                <a:solidFill>
                  <a:srgbClr val="D6B03D"/>
                </a:solidFill>
                <a:latin typeface="Glacial Indifference"/>
                <a:ea typeface="Glacial Indifference"/>
                <a:cs typeface="Glacial Indifference"/>
                <a:sym typeface="Glacial Indifference"/>
              </a:rPr>
              <a:t>shall give prior written notice upon hir</a:t>
            </a:r>
            <a:r>
              <a:rPr lang="en-US" sz="2799">
                <a:solidFill>
                  <a:srgbClr val="D6B03D"/>
                </a:solidFill>
                <a:latin typeface="Glacial Indifference"/>
                <a:ea typeface="Glacial Indifference"/>
                <a:cs typeface="Glacial Indifference"/>
                <a:sym typeface="Glacial Indifference"/>
              </a:rPr>
              <a:t>ing to all employees who are </a:t>
            </a:r>
            <a:r>
              <a:rPr lang="en-US" sz="2799">
                <a:solidFill>
                  <a:srgbClr val="D6B03D"/>
                </a:solidFill>
                <a:latin typeface="Glacial Indifference"/>
                <a:ea typeface="Glacial Indifference"/>
                <a:cs typeface="Glacial Indifference"/>
                <a:sym typeface="Glacial Indifference"/>
              </a:rPr>
              <a:t>subject to electronic monitoring. (NY Civ Rights L § 52-C-2)</a:t>
            </a:r>
          </a:p>
          <a:p>
            <a:pPr algn="l" marL="604516" indent="-302258" lvl="1">
              <a:lnSpc>
                <a:spcPts val="3919"/>
              </a:lnSpc>
              <a:buFont typeface="Arial"/>
              <a:buChar char="•"/>
            </a:pPr>
            <a:r>
              <a:rPr lang="en-US" sz="2799">
                <a:solidFill>
                  <a:srgbClr val="D6B03D"/>
                </a:solidFill>
                <a:latin typeface="Glacial Indifference"/>
                <a:ea typeface="Glacial Indifference"/>
                <a:cs typeface="Glacial Indifference"/>
                <a:sym typeface="Glacial Indifference"/>
              </a:rPr>
              <a:t>Employers engaged in any type of electronic monitoring shall give prior written notice to all employees who may be affected, informing them of the types of monitoring which may occur. (CT Gen Stat § 31-48d)</a:t>
            </a:r>
          </a:p>
          <a:p>
            <a:pPr algn="l" marL="604516" indent="-302258" lvl="1">
              <a:lnSpc>
                <a:spcPts val="3919"/>
              </a:lnSpc>
              <a:buFont typeface="Arial"/>
              <a:buChar char="•"/>
            </a:pPr>
            <a:r>
              <a:rPr lang="en-US" sz="2799">
                <a:solidFill>
                  <a:srgbClr val="D6B03D"/>
                </a:solidFill>
                <a:latin typeface="Glacial Indifference"/>
                <a:ea typeface="Glacial Indifference"/>
                <a:cs typeface="Glacial Indifference"/>
                <a:sym typeface="Glacial Indifference"/>
              </a:rPr>
              <a:t>Employers engaged in monitoring of or by a Delaware employee must provide notice. (19 DE Code § 705(b)(1-2))</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028700" y="850736"/>
            <a:ext cx="16380891" cy="8825165"/>
            <a:chOff x="0" y="0"/>
            <a:chExt cx="3448001" cy="1857602"/>
          </a:xfrm>
        </p:grpSpPr>
        <p:sp>
          <p:nvSpPr>
            <p:cNvPr name="Freeform 3" id="3"/>
            <p:cNvSpPr/>
            <p:nvPr/>
          </p:nvSpPr>
          <p:spPr>
            <a:xfrm flipH="false" flipV="false" rot="0">
              <a:off x="0" y="0"/>
              <a:ext cx="3448001" cy="1857602"/>
            </a:xfrm>
            <a:custGeom>
              <a:avLst/>
              <a:gdLst/>
              <a:ahLst/>
              <a:cxnLst/>
              <a:rect r="r" b="b" t="t" l="l"/>
              <a:pathLst>
                <a:path h="1857602" w="3448001">
                  <a:moveTo>
                    <a:pt x="3368583" y="0"/>
                  </a:moveTo>
                  <a:lnTo>
                    <a:pt x="79418" y="0"/>
                  </a:lnTo>
                  <a:cubicBezTo>
                    <a:pt x="79418" y="43699"/>
                    <a:pt x="44079" y="79418"/>
                    <a:pt x="0" y="79418"/>
                  </a:cubicBezTo>
                  <a:lnTo>
                    <a:pt x="0" y="1778184"/>
                  </a:lnTo>
                  <a:cubicBezTo>
                    <a:pt x="43699" y="1778184"/>
                    <a:pt x="79418" y="1813523"/>
                    <a:pt x="79418" y="1857602"/>
                  </a:cubicBezTo>
                  <a:lnTo>
                    <a:pt x="3368583" y="1857602"/>
                  </a:lnTo>
                  <a:cubicBezTo>
                    <a:pt x="3368583" y="1813903"/>
                    <a:pt x="3403922" y="1778184"/>
                    <a:pt x="3448001" y="1778184"/>
                  </a:cubicBezTo>
                  <a:lnTo>
                    <a:pt x="3448001" y="79418"/>
                  </a:lnTo>
                  <a:cubicBezTo>
                    <a:pt x="3404302" y="79418"/>
                    <a:pt x="3368583" y="44079"/>
                    <a:pt x="3368583" y="0"/>
                  </a:cubicBezTo>
                  <a:close/>
                </a:path>
              </a:pathLst>
            </a:custGeom>
            <a:ln w="28575" cap="sq">
              <a:solidFill>
                <a:srgbClr val="D6B03D"/>
              </a:solidFill>
              <a:prstDash val="solid"/>
              <a:miter/>
            </a:ln>
          </p:spPr>
        </p:sp>
        <p:sp>
          <p:nvSpPr>
            <p:cNvPr name="TextBox 4" id="4"/>
            <p:cNvSpPr txBox="true"/>
            <p:nvPr/>
          </p:nvSpPr>
          <p:spPr>
            <a:xfrm>
              <a:off x="38100" y="-114300"/>
              <a:ext cx="3371801" cy="1933802"/>
            </a:xfrm>
            <a:prstGeom prst="rect">
              <a:avLst/>
            </a:prstGeom>
          </p:spPr>
          <p:txBody>
            <a:bodyPr anchor="ctr" rtlCol="false" tIns="50800" lIns="50800" bIns="50800" rIns="50800"/>
            <a:lstStyle/>
            <a:p>
              <a:pPr algn="ctr" marL="0" indent="0" lvl="0">
                <a:lnSpc>
                  <a:spcPts val="4697"/>
                </a:lnSpc>
                <a:spcBef>
                  <a:spcPct val="0"/>
                </a:spcBef>
              </a:pPr>
            </a:p>
          </p:txBody>
        </p:sp>
      </p:grpSp>
      <p:sp>
        <p:nvSpPr>
          <p:cNvPr name="TextBox 5" id="5"/>
          <p:cNvSpPr txBox="true"/>
          <p:nvPr/>
        </p:nvSpPr>
        <p:spPr>
          <a:xfrm rot="0">
            <a:off x="1762616" y="2306992"/>
            <a:ext cx="7526779" cy="4700470"/>
          </a:xfrm>
          <a:prstGeom prst="rect">
            <a:avLst/>
          </a:prstGeom>
        </p:spPr>
        <p:txBody>
          <a:bodyPr anchor="t" rtlCol="false" tIns="0" lIns="0" bIns="0" rIns="0">
            <a:spAutoFit/>
          </a:bodyPr>
          <a:lstStyle/>
          <a:p>
            <a:pPr algn="l" marL="450246" indent="-225123" lvl="1">
              <a:lnSpc>
                <a:spcPts val="2919"/>
              </a:lnSpc>
              <a:buFont typeface="Arial"/>
              <a:buChar char="•"/>
            </a:pPr>
            <a:r>
              <a:rPr lang="en-US" sz="2085">
                <a:solidFill>
                  <a:srgbClr val="D6B03D"/>
                </a:solidFill>
                <a:latin typeface="Glacial Indifference"/>
                <a:ea typeface="Glacial Indifference"/>
                <a:cs typeface="Glacial Indifference"/>
                <a:sym typeface="Glacial Indifference"/>
              </a:rPr>
              <a:t>Places limits on  </a:t>
            </a:r>
            <a:r>
              <a:rPr lang="en-US" sz="2085" strike="noStrike" u="none">
                <a:solidFill>
                  <a:srgbClr val="D6B03D"/>
                </a:solidFill>
                <a:latin typeface="Glacial Indifference"/>
                <a:ea typeface="Glacial Indifference"/>
                <a:cs typeface="Glacial Indifference"/>
                <a:sym typeface="Glacial Indifference"/>
              </a:rPr>
              <a:t>t</a:t>
            </a:r>
            <a:r>
              <a:rPr lang="en-US" sz="2085" strike="noStrike" u="none">
                <a:solidFill>
                  <a:srgbClr val="D6B03D"/>
                </a:solidFill>
                <a:latin typeface="Glacial Indifference"/>
                <a:ea typeface="Glacial Indifference"/>
                <a:cs typeface="Glacial Indifference"/>
                <a:sym typeface="Glacial Indifference"/>
              </a:rPr>
              <a:t>he</a:t>
            </a:r>
            <a:r>
              <a:rPr lang="en-US" sz="2085" strike="noStrike" u="none">
                <a:solidFill>
                  <a:srgbClr val="D6B03D"/>
                </a:solidFill>
                <a:latin typeface="Glacial Indifference"/>
                <a:ea typeface="Glacial Indifference"/>
                <a:cs typeface="Glacial Indifference"/>
                <a:sym typeface="Glacial Indifference"/>
              </a:rPr>
              <a:t> </a:t>
            </a:r>
            <a:r>
              <a:rPr lang="en-US" sz="2085" strike="noStrike" u="none">
                <a:solidFill>
                  <a:srgbClr val="D6B03D"/>
                </a:solidFill>
                <a:latin typeface="Glacial Indifference"/>
                <a:ea typeface="Glacial Indifference"/>
                <a:cs typeface="Glacial Indifference"/>
                <a:sym typeface="Glacial Indifference"/>
              </a:rPr>
              <a:t>time pe</a:t>
            </a:r>
            <a:r>
              <a:rPr lang="en-US" sz="2085" strike="noStrike" u="none">
                <a:solidFill>
                  <a:srgbClr val="D6B03D"/>
                </a:solidFill>
                <a:latin typeface="Glacial Indifference"/>
                <a:ea typeface="Glacial Indifference"/>
                <a:cs typeface="Glacial Indifference"/>
                <a:sym typeface="Glacial Indifference"/>
              </a:rPr>
              <a:t>ople spen</a:t>
            </a:r>
            <a:r>
              <a:rPr lang="en-US" sz="2085" strike="noStrike" u="none">
                <a:solidFill>
                  <a:srgbClr val="D6B03D"/>
                </a:solidFill>
                <a:latin typeface="Glacial Indifference"/>
                <a:ea typeface="Glacial Indifference"/>
                <a:cs typeface="Glacial Indifference"/>
                <a:sym typeface="Glacial Indifference"/>
              </a:rPr>
              <a:t>d </a:t>
            </a:r>
            <a:r>
              <a:rPr lang="en-US" sz="2085" strike="noStrike" u="none">
                <a:solidFill>
                  <a:srgbClr val="D6B03D"/>
                </a:solidFill>
                <a:latin typeface="Glacial Indifference"/>
                <a:ea typeface="Glacial Indifference"/>
                <a:cs typeface="Glacial Indifference"/>
                <a:sym typeface="Glacial Indifference"/>
              </a:rPr>
              <a:t>int</a:t>
            </a:r>
            <a:r>
              <a:rPr lang="en-US" sz="2085" strike="noStrike" u="none">
                <a:solidFill>
                  <a:srgbClr val="D6B03D"/>
                </a:solidFill>
                <a:latin typeface="Glacial Indifference"/>
                <a:ea typeface="Glacial Indifference"/>
                <a:cs typeface="Glacial Indifference"/>
                <a:sym typeface="Glacial Indifference"/>
              </a:rPr>
              <a:t>e</a:t>
            </a:r>
            <a:r>
              <a:rPr lang="en-US" sz="2085" strike="noStrike" u="none">
                <a:solidFill>
                  <a:srgbClr val="D6B03D"/>
                </a:solidFill>
                <a:latin typeface="Glacial Indifference"/>
                <a:ea typeface="Glacial Indifference"/>
                <a:cs typeface="Glacial Indifference"/>
                <a:sym typeface="Glacial Indifference"/>
              </a:rPr>
              <a:t>rac</a:t>
            </a:r>
            <a:r>
              <a:rPr lang="en-US" sz="2085" strike="noStrike" u="none">
                <a:solidFill>
                  <a:srgbClr val="D6B03D"/>
                </a:solidFill>
                <a:latin typeface="Glacial Indifference"/>
                <a:ea typeface="Glacial Indifference"/>
                <a:cs typeface="Glacial Indifference"/>
                <a:sym typeface="Glacial Indifference"/>
              </a:rPr>
              <a:t>t</a:t>
            </a:r>
            <a:r>
              <a:rPr lang="en-US" sz="2085" strike="noStrike" u="none">
                <a:solidFill>
                  <a:srgbClr val="D6B03D"/>
                </a:solidFill>
                <a:latin typeface="Glacial Indifference"/>
                <a:ea typeface="Glacial Indifference"/>
                <a:cs typeface="Glacial Indifference"/>
                <a:sym typeface="Glacial Indifference"/>
              </a:rPr>
              <a:t>ing</a:t>
            </a:r>
            <a:r>
              <a:rPr lang="en-US" sz="2085" strike="noStrike" u="none">
                <a:solidFill>
                  <a:srgbClr val="D6B03D"/>
                </a:solidFill>
                <a:latin typeface="Glacial Indifference"/>
                <a:ea typeface="Glacial Indifference"/>
                <a:cs typeface="Glacial Indifference"/>
                <a:sym typeface="Glacial Indifference"/>
              </a:rPr>
              <a:t> with </a:t>
            </a:r>
            <a:r>
              <a:rPr lang="en-US" sz="2085" strike="noStrike" u="none">
                <a:solidFill>
                  <a:srgbClr val="D6B03D"/>
                </a:solidFill>
                <a:latin typeface="Glacial Indifference"/>
                <a:ea typeface="Glacial Indifference"/>
                <a:cs typeface="Glacial Indifference"/>
                <a:sym typeface="Glacial Indifference"/>
              </a:rPr>
              <a:t>chatbots</a:t>
            </a:r>
          </a:p>
          <a:p>
            <a:pPr algn="l" marL="450246" indent="-225123" lvl="1">
              <a:lnSpc>
                <a:spcPts val="2919"/>
              </a:lnSpc>
              <a:buFont typeface="Arial"/>
              <a:buChar char="•"/>
            </a:pPr>
            <a:r>
              <a:rPr lang="en-US" sz="2085" strike="noStrike" u="none">
                <a:solidFill>
                  <a:srgbClr val="D6B03D"/>
                </a:solidFill>
                <a:latin typeface="Glacial Indifference"/>
                <a:ea typeface="Glacial Indifference"/>
                <a:cs typeface="Glacial Indifference"/>
                <a:sym typeface="Glacial Indifference"/>
              </a:rPr>
              <a:t>Chatbots manipulate people by design. </a:t>
            </a:r>
          </a:p>
          <a:p>
            <a:pPr algn="l" marL="450246" indent="-225123" lvl="1">
              <a:lnSpc>
                <a:spcPts val="2919"/>
              </a:lnSpc>
              <a:buFont typeface="Arial"/>
              <a:buChar char="•"/>
            </a:pPr>
            <a:r>
              <a:rPr lang="en-US" sz="2085" strike="noStrike" u="none">
                <a:solidFill>
                  <a:srgbClr val="D6B03D"/>
                </a:solidFill>
                <a:latin typeface="Glacial Indifference"/>
                <a:ea typeface="Glacial Indifference"/>
                <a:cs typeface="Glacial Indifference"/>
                <a:sym typeface="Glacial Indifference"/>
              </a:rPr>
              <a:t>Chatbots influence unhealthy attachments.</a:t>
            </a:r>
          </a:p>
          <a:p>
            <a:pPr algn="l" marL="450246" indent="-225123" lvl="1">
              <a:lnSpc>
                <a:spcPts val="2919"/>
              </a:lnSpc>
              <a:buFont typeface="Arial"/>
              <a:buChar char="•"/>
            </a:pPr>
            <a:r>
              <a:rPr lang="en-US" sz="2085" strike="noStrike" u="none">
                <a:solidFill>
                  <a:srgbClr val="D6B03D"/>
                </a:solidFill>
                <a:latin typeface="Glacial Indifference"/>
                <a:ea typeface="Glacial Indifference"/>
                <a:cs typeface="Glacial Indifference"/>
                <a:sym typeface="Glacial Indifference"/>
              </a:rPr>
              <a:t>Chatbots t</a:t>
            </a:r>
            <a:r>
              <a:rPr lang="en-US" sz="2085" strike="noStrike" u="none">
                <a:solidFill>
                  <a:srgbClr val="D6B03D"/>
                </a:solidFill>
                <a:latin typeface="Glacial Indifference"/>
                <a:ea typeface="Glacial Indifference"/>
                <a:cs typeface="Glacial Indifference"/>
                <a:sym typeface="Glacial Indifference"/>
              </a:rPr>
              <a:t>arget advertisements to people based on sensitive personal information.</a:t>
            </a:r>
          </a:p>
          <a:p>
            <a:pPr algn="l" marL="450246" indent="-225123" lvl="1">
              <a:lnSpc>
                <a:spcPts val="2919"/>
              </a:lnSpc>
              <a:buFont typeface="Arial"/>
              <a:buChar char="•"/>
            </a:pPr>
            <a:r>
              <a:rPr lang="en-US" sz="2085" strike="noStrike" u="none">
                <a:solidFill>
                  <a:srgbClr val="D6B03D"/>
                </a:solidFill>
                <a:latin typeface="Glacial Indifference"/>
                <a:ea typeface="Glacial Indifference"/>
                <a:cs typeface="Glacial Indifference"/>
                <a:sym typeface="Glacial Indifference"/>
              </a:rPr>
              <a:t>Chatbots e</a:t>
            </a:r>
            <a:r>
              <a:rPr lang="en-US" sz="2085" strike="noStrike" u="none">
                <a:solidFill>
                  <a:srgbClr val="D6B03D"/>
                </a:solidFill>
                <a:latin typeface="Glacial Indifference"/>
                <a:ea typeface="Glacial Indifference"/>
                <a:cs typeface="Glacial Indifference"/>
                <a:sym typeface="Glacial Indifference"/>
              </a:rPr>
              <a:t>xploit users’ personal data by using it for out-of-context purposes.</a:t>
            </a:r>
          </a:p>
          <a:p>
            <a:pPr algn="l" marL="450246" indent="-225123" lvl="1">
              <a:lnSpc>
                <a:spcPts val="2919"/>
              </a:lnSpc>
              <a:buFont typeface="Arial"/>
              <a:buChar char="•"/>
            </a:pPr>
            <a:r>
              <a:rPr lang="en-US" sz="2085" strike="noStrike" u="none">
                <a:solidFill>
                  <a:srgbClr val="D6B03D"/>
                </a:solidFill>
                <a:latin typeface="Glacial Indifference"/>
                <a:ea typeface="Glacial Indifference"/>
                <a:cs typeface="Glacial Indifference"/>
                <a:sym typeface="Glacial Indifference"/>
              </a:rPr>
              <a:t>C</a:t>
            </a:r>
            <a:r>
              <a:rPr lang="en-US" sz="2085" strike="noStrike" u="none">
                <a:solidFill>
                  <a:srgbClr val="D6B03D"/>
                </a:solidFill>
                <a:latin typeface="Glacial Indifference"/>
                <a:ea typeface="Glacial Indifference"/>
                <a:cs typeface="Glacial Indifference"/>
                <a:sym typeface="Glacial Indifference"/>
              </a:rPr>
              <a:t>hatbots provide </a:t>
            </a:r>
            <a:r>
              <a:rPr lang="en-US" sz="2085" strike="noStrike" u="none">
                <a:solidFill>
                  <a:srgbClr val="D6B03D"/>
                </a:solidFill>
                <a:latin typeface="Glacial Indifference"/>
                <a:ea typeface="Glacial Indifference"/>
                <a:cs typeface="Glacial Indifference"/>
                <a:sym typeface="Glacial Indifference"/>
              </a:rPr>
              <a:t>un</a:t>
            </a:r>
            <a:r>
              <a:rPr lang="en-US" sz="2085" strike="noStrike" u="none">
                <a:solidFill>
                  <a:srgbClr val="D6B03D"/>
                </a:solidFill>
                <a:latin typeface="Glacial Indifference"/>
                <a:ea typeface="Glacial Indifference"/>
                <a:cs typeface="Glacial Indifference"/>
                <a:sym typeface="Glacial Indifference"/>
              </a:rPr>
              <a:t>l</a:t>
            </a:r>
            <a:r>
              <a:rPr lang="en-US" sz="2085" strike="noStrike" u="none">
                <a:solidFill>
                  <a:srgbClr val="D6B03D"/>
                </a:solidFill>
                <a:latin typeface="Glacial Indifference"/>
                <a:ea typeface="Glacial Indifference"/>
                <a:cs typeface="Glacial Indifference"/>
                <a:sym typeface="Glacial Indifference"/>
              </a:rPr>
              <a:t>icensed medic</a:t>
            </a:r>
            <a:r>
              <a:rPr lang="en-US" sz="2085" strike="noStrike" u="none">
                <a:solidFill>
                  <a:srgbClr val="D6B03D"/>
                </a:solidFill>
                <a:latin typeface="Glacial Indifference"/>
                <a:ea typeface="Glacial Indifference"/>
                <a:cs typeface="Glacial Indifference"/>
                <a:sym typeface="Glacial Indifference"/>
              </a:rPr>
              <a:t>a</a:t>
            </a:r>
            <a:r>
              <a:rPr lang="en-US" sz="2085" strike="noStrike" u="none">
                <a:solidFill>
                  <a:srgbClr val="D6B03D"/>
                </a:solidFill>
                <a:latin typeface="Glacial Indifference"/>
                <a:ea typeface="Glacial Indifference"/>
                <a:cs typeface="Glacial Indifference"/>
                <a:sym typeface="Glacial Indifference"/>
              </a:rPr>
              <a:t>l, </a:t>
            </a:r>
            <a:r>
              <a:rPr lang="en-US" sz="2085" strike="noStrike" u="none">
                <a:solidFill>
                  <a:srgbClr val="D6B03D"/>
                </a:solidFill>
                <a:latin typeface="Glacial Indifference"/>
                <a:ea typeface="Glacial Indifference"/>
                <a:cs typeface="Glacial Indifference"/>
                <a:sym typeface="Glacial Indifference"/>
              </a:rPr>
              <a:t>l</a:t>
            </a:r>
            <a:r>
              <a:rPr lang="en-US" sz="2085" strike="noStrike" u="none">
                <a:solidFill>
                  <a:srgbClr val="D6B03D"/>
                </a:solidFill>
                <a:latin typeface="Glacial Indifference"/>
                <a:ea typeface="Glacial Indifference"/>
                <a:cs typeface="Glacial Indifference"/>
                <a:sym typeface="Glacial Indifference"/>
              </a:rPr>
              <a:t>ega</a:t>
            </a:r>
            <a:r>
              <a:rPr lang="en-US" sz="2085" strike="noStrike" u="none">
                <a:solidFill>
                  <a:srgbClr val="D6B03D"/>
                </a:solidFill>
                <a:latin typeface="Glacial Indifference"/>
                <a:ea typeface="Glacial Indifference"/>
                <a:cs typeface="Glacial Indifference"/>
                <a:sym typeface="Glacial Indifference"/>
              </a:rPr>
              <a:t>l</a:t>
            </a:r>
            <a:r>
              <a:rPr lang="en-US" sz="2085" strike="noStrike" u="none">
                <a:solidFill>
                  <a:srgbClr val="D6B03D"/>
                </a:solidFill>
                <a:latin typeface="Glacial Indifference"/>
                <a:ea typeface="Glacial Indifference"/>
                <a:cs typeface="Glacial Indifference"/>
                <a:sym typeface="Glacial Indifference"/>
              </a:rPr>
              <a:t>,</a:t>
            </a:r>
            <a:r>
              <a:rPr lang="en-US" sz="2085" strike="noStrike" u="none">
                <a:solidFill>
                  <a:srgbClr val="D6B03D"/>
                </a:solidFill>
                <a:latin typeface="Glacial Indifference"/>
                <a:ea typeface="Glacial Indifference"/>
                <a:cs typeface="Glacial Indifference"/>
                <a:sym typeface="Glacial Indifference"/>
              </a:rPr>
              <a:t> and </a:t>
            </a:r>
            <a:r>
              <a:rPr lang="en-US" sz="2085" strike="noStrike" u="none">
                <a:solidFill>
                  <a:srgbClr val="D6B03D"/>
                </a:solidFill>
                <a:latin typeface="Glacial Indifference"/>
                <a:ea typeface="Glacial Indifference"/>
                <a:cs typeface="Glacial Indifference"/>
                <a:sym typeface="Glacial Indifference"/>
              </a:rPr>
              <a:t>fin</a:t>
            </a:r>
            <a:r>
              <a:rPr lang="en-US" sz="2085" strike="noStrike" u="none">
                <a:solidFill>
                  <a:srgbClr val="D6B03D"/>
                </a:solidFill>
                <a:latin typeface="Glacial Indifference"/>
                <a:ea typeface="Glacial Indifference"/>
                <a:cs typeface="Glacial Indifference"/>
                <a:sym typeface="Glacial Indifference"/>
              </a:rPr>
              <a:t>an</a:t>
            </a:r>
            <a:r>
              <a:rPr lang="en-US" sz="2085" strike="noStrike" u="none">
                <a:solidFill>
                  <a:srgbClr val="D6B03D"/>
                </a:solidFill>
                <a:latin typeface="Glacial Indifference"/>
                <a:ea typeface="Glacial Indifference"/>
                <a:cs typeface="Glacial Indifference"/>
                <a:sym typeface="Glacial Indifference"/>
              </a:rPr>
              <a:t>c</a:t>
            </a:r>
            <a:r>
              <a:rPr lang="en-US" sz="2085" strike="noStrike" u="none">
                <a:solidFill>
                  <a:srgbClr val="D6B03D"/>
                </a:solidFill>
                <a:latin typeface="Glacial Indifference"/>
                <a:ea typeface="Glacial Indifference"/>
                <a:cs typeface="Glacial Indifference"/>
                <a:sym typeface="Glacial Indifference"/>
              </a:rPr>
              <a:t>i</a:t>
            </a:r>
            <a:r>
              <a:rPr lang="en-US" sz="2085" strike="noStrike" u="none">
                <a:solidFill>
                  <a:srgbClr val="D6B03D"/>
                </a:solidFill>
                <a:latin typeface="Glacial Indifference"/>
                <a:ea typeface="Glacial Indifference"/>
                <a:cs typeface="Glacial Indifference"/>
                <a:sym typeface="Glacial Indifference"/>
              </a:rPr>
              <a:t>a</a:t>
            </a:r>
            <a:r>
              <a:rPr lang="en-US" sz="2085" strike="noStrike" u="none">
                <a:solidFill>
                  <a:srgbClr val="D6B03D"/>
                </a:solidFill>
                <a:latin typeface="Glacial Indifference"/>
                <a:ea typeface="Glacial Indifference"/>
                <a:cs typeface="Glacial Indifference"/>
                <a:sym typeface="Glacial Indifference"/>
              </a:rPr>
              <a:t>l </a:t>
            </a:r>
            <a:r>
              <a:rPr lang="en-US" sz="2085" strike="noStrike" u="none">
                <a:solidFill>
                  <a:srgbClr val="D6B03D"/>
                </a:solidFill>
                <a:latin typeface="Glacial Indifference"/>
                <a:ea typeface="Glacial Indifference"/>
                <a:cs typeface="Glacial Indifference"/>
                <a:sym typeface="Glacial Indifference"/>
              </a:rPr>
              <a:t>advic</a:t>
            </a:r>
            <a:r>
              <a:rPr lang="en-US" sz="2085" strike="noStrike" u="none">
                <a:solidFill>
                  <a:srgbClr val="D6B03D"/>
                </a:solidFill>
                <a:latin typeface="Glacial Indifference"/>
                <a:ea typeface="Glacial Indifference"/>
                <a:cs typeface="Glacial Indifference"/>
                <a:sym typeface="Glacial Indifference"/>
              </a:rPr>
              <a:t>e. </a:t>
            </a:r>
          </a:p>
          <a:p>
            <a:pPr algn="l" marL="450246" indent="-225123" lvl="1">
              <a:lnSpc>
                <a:spcPts val="2919"/>
              </a:lnSpc>
              <a:buFont typeface="Arial"/>
              <a:buChar char="•"/>
            </a:pPr>
            <a:r>
              <a:rPr lang="en-US" sz="2085" strike="noStrike" u="none">
                <a:solidFill>
                  <a:srgbClr val="D6B03D"/>
                </a:solidFill>
                <a:latin typeface="Glacial Indifference"/>
                <a:ea typeface="Glacial Indifference"/>
                <a:cs typeface="Glacial Indifference"/>
                <a:sym typeface="Glacial Indifference"/>
              </a:rPr>
              <a:t>Chatbots tell users that they are human.</a:t>
            </a:r>
          </a:p>
          <a:p>
            <a:pPr algn="l" marL="450246" indent="-225123" lvl="1">
              <a:lnSpc>
                <a:spcPts val="2919"/>
              </a:lnSpc>
              <a:buFont typeface="Arial"/>
              <a:buChar char="•"/>
            </a:pPr>
            <a:r>
              <a:rPr lang="en-US" sz="2085" strike="noStrike" u="none">
                <a:solidFill>
                  <a:srgbClr val="D6B03D"/>
                </a:solidFill>
                <a:latin typeface="Glacial Indifference"/>
                <a:ea typeface="Glacial Indifference"/>
                <a:cs typeface="Glacial Indifference"/>
                <a:sym typeface="Glacial Indifference"/>
              </a:rPr>
              <a:t>Chatbots use </a:t>
            </a:r>
            <a:r>
              <a:rPr lang="en-US" sz="2085" strike="noStrike" u="none">
                <a:solidFill>
                  <a:srgbClr val="D6B03D"/>
                </a:solidFill>
                <a:latin typeface="Glacial Indifference"/>
                <a:ea typeface="Glacial Indifference"/>
                <a:cs typeface="Glacial Indifference"/>
                <a:sym typeface="Glacial Indifference"/>
              </a:rPr>
              <a:t>people’s personal data to train AI without their knowledge or consent.</a:t>
            </a:r>
          </a:p>
        </p:txBody>
      </p:sp>
      <p:sp>
        <p:nvSpPr>
          <p:cNvPr name="TextBox 6" id="6"/>
          <p:cNvSpPr txBox="true"/>
          <p:nvPr/>
        </p:nvSpPr>
        <p:spPr>
          <a:xfrm rot="0">
            <a:off x="1762616" y="1019175"/>
            <a:ext cx="15254525" cy="1174115"/>
          </a:xfrm>
          <a:prstGeom prst="rect">
            <a:avLst/>
          </a:prstGeom>
        </p:spPr>
        <p:txBody>
          <a:bodyPr anchor="t" rtlCol="false" tIns="0" lIns="0" bIns="0" rIns="0">
            <a:spAutoFit/>
          </a:bodyPr>
          <a:lstStyle/>
          <a:p>
            <a:pPr algn="ctr" marL="0" indent="0" lvl="1">
              <a:lnSpc>
                <a:spcPts val="4479"/>
              </a:lnSpc>
              <a:spcBef>
                <a:spcPct val="0"/>
              </a:spcBef>
            </a:pPr>
            <a:r>
              <a:rPr lang="en-US" sz="3999" spc="19">
                <a:solidFill>
                  <a:srgbClr val="D6B03D"/>
                </a:solidFill>
                <a:latin typeface="Maharlika"/>
                <a:ea typeface="Maharlika"/>
                <a:cs typeface="Maharlika"/>
                <a:sym typeface="Maharlika"/>
              </a:rPr>
              <a:t>AI &amp; Chatbots (S.B. 896, 126th Gen. Assemb., Reg. Sess. (S.C. 2026) &amp; (S.B. 1037, 126th Gen. Assemb., Reg. Sess. (S.C. 2026))</a:t>
            </a:r>
          </a:p>
        </p:txBody>
      </p:sp>
      <p:sp>
        <p:nvSpPr>
          <p:cNvPr name="TextBox 7" id="7"/>
          <p:cNvSpPr txBox="true"/>
          <p:nvPr/>
        </p:nvSpPr>
        <p:spPr>
          <a:xfrm rot="0">
            <a:off x="9490362" y="2306992"/>
            <a:ext cx="7526779" cy="6509755"/>
          </a:xfrm>
          <a:prstGeom prst="rect">
            <a:avLst/>
          </a:prstGeom>
        </p:spPr>
        <p:txBody>
          <a:bodyPr anchor="t" rtlCol="false" tIns="0" lIns="0" bIns="0" rIns="0">
            <a:spAutoFit/>
          </a:bodyPr>
          <a:lstStyle/>
          <a:p>
            <a:pPr algn="l" marL="450247" indent="-225124" lvl="1">
              <a:lnSpc>
                <a:spcPts val="2919"/>
              </a:lnSpc>
              <a:buFont typeface="Arial"/>
              <a:buChar char="•"/>
            </a:pPr>
            <a:r>
              <a:rPr lang="en-US" sz="2085">
                <a:solidFill>
                  <a:srgbClr val="D6B03D"/>
                </a:solidFill>
                <a:latin typeface="Glacial Indifference"/>
                <a:ea typeface="Glacial Indifference"/>
                <a:cs typeface="Glacial Indifference"/>
                <a:sym typeface="Glacial Indifference"/>
              </a:rPr>
              <a:t>Covered entities must create a limited-access mode so that any unverified user may only access and interact with a chatbot in the limited-access mode.</a:t>
            </a:r>
          </a:p>
          <a:p>
            <a:pPr algn="l" marL="450247" indent="-225124" lvl="1">
              <a:lnSpc>
                <a:spcPts val="2919"/>
              </a:lnSpc>
              <a:buFont typeface="Arial"/>
              <a:buChar char="•"/>
            </a:pPr>
            <a:r>
              <a:rPr lang="en-US" sz="2085">
                <a:solidFill>
                  <a:srgbClr val="D6B03D"/>
                </a:solidFill>
                <a:latin typeface="Glacial Indifference"/>
                <a:ea typeface="Glacial Indifference"/>
                <a:cs typeface="Glacial Indifference"/>
                <a:sym typeface="Glacial Indifference"/>
              </a:rPr>
              <a:t>Minors should only be able to use limited-access mode unless parental consent is obtained.</a:t>
            </a:r>
          </a:p>
          <a:p>
            <a:pPr algn="l" marL="450247" indent="-225124" lvl="1">
              <a:lnSpc>
                <a:spcPts val="2919"/>
              </a:lnSpc>
              <a:buFont typeface="Arial"/>
              <a:buChar char="•"/>
            </a:pPr>
            <a:r>
              <a:rPr lang="en-US" sz="2085">
                <a:solidFill>
                  <a:srgbClr val="D6B03D"/>
                </a:solidFill>
                <a:latin typeface="Glacial Indifference"/>
                <a:ea typeface="Glacial Indifference"/>
                <a:cs typeface="Glacial Indifference"/>
                <a:sym typeface="Glacial Indifference"/>
              </a:rPr>
              <a:t>Covered entities cannot prioritize engagement, revenue, or retention metrics, such as session length, frequency of use, or emotional engagement, at the expense of users’ well-being.</a:t>
            </a:r>
          </a:p>
          <a:p>
            <a:pPr algn="l" marL="450247" indent="-225124" lvl="1">
              <a:lnSpc>
                <a:spcPts val="2919"/>
              </a:lnSpc>
              <a:buFont typeface="Arial"/>
              <a:buChar char="•"/>
            </a:pPr>
            <a:r>
              <a:rPr lang="en-US" sz="2085">
                <a:solidFill>
                  <a:srgbClr val="D6B03D"/>
                </a:solidFill>
                <a:latin typeface="Glacial Indifference"/>
                <a:ea typeface="Glacial Indifference"/>
                <a:cs typeface="Glacial Indifference"/>
                <a:sym typeface="Glacial Indifference"/>
              </a:rPr>
              <a:t>Covered entities should implement reasonable systems and processes to identify when a user is developing emotional dependence. </a:t>
            </a:r>
          </a:p>
          <a:p>
            <a:pPr algn="l" marL="450247" indent="-225124" lvl="1">
              <a:lnSpc>
                <a:spcPts val="2919"/>
              </a:lnSpc>
              <a:buFont typeface="Arial"/>
              <a:buChar char="•"/>
            </a:pPr>
            <a:r>
              <a:rPr lang="en-US" sz="2085">
                <a:solidFill>
                  <a:srgbClr val="D6B03D"/>
                </a:solidFill>
                <a:latin typeface="Glacial Indifference"/>
                <a:ea typeface="Glacial Indifference"/>
                <a:cs typeface="Glacial Indifference"/>
                <a:sym typeface="Glacial Indifference"/>
              </a:rPr>
              <a:t>Covered entities should not provide unlicensed advice or make materially false representations of being human. </a:t>
            </a:r>
          </a:p>
          <a:p>
            <a:pPr algn="l" marL="450247" indent="-225124" lvl="1">
              <a:lnSpc>
                <a:spcPts val="2919"/>
              </a:lnSpc>
              <a:buFont typeface="Arial"/>
              <a:buChar char="•"/>
            </a:pPr>
            <a:r>
              <a:rPr lang="en-US" sz="2085">
                <a:solidFill>
                  <a:srgbClr val="D6B03D"/>
                </a:solidFill>
                <a:latin typeface="Glacial Indifference"/>
                <a:ea typeface="Glacial Indifference"/>
                <a:cs typeface="Glacial Indifference"/>
                <a:sym typeface="Glacial Indifference"/>
              </a:rPr>
              <a:t>If a covered entity obtains knowledge that a user faces an imminent risk of death or serious physical injury, then the covered entity must make reasonable efforts, within twenty-four hours, to notify appropriate emergency services or law enforcement, to the extent practical.</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028700" y="850736"/>
            <a:ext cx="16380891" cy="8825165"/>
            <a:chOff x="0" y="0"/>
            <a:chExt cx="3448001" cy="1857602"/>
          </a:xfrm>
        </p:grpSpPr>
        <p:sp>
          <p:nvSpPr>
            <p:cNvPr name="Freeform 3" id="3"/>
            <p:cNvSpPr/>
            <p:nvPr/>
          </p:nvSpPr>
          <p:spPr>
            <a:xfrm flipH="false" flipV="false" rot="0">
              <a:off x="0" y="0"/>
              <a:ext cx="3448001" cy="1857602"/>
            </a:xfrm>
            <a:custGeom>
              <a:avLst/>
              <a:gdLst/>
              <a:ahLst/>
              <a:cxnLst/>
              <a:rect r="r" b="b" t="t" l="l"/>
              <a:pathLst>
                <a:path h="1857602" w="3448001">
                  <a:moveTo>
                    <a:pt x="3368583" y="0"/>
                  </a:moveTo>
                  <a:lnTo>
                    <a:pt x="79418" y="0"/>
                  </a:lnTo>
                  <a:cubicBezTo>
                    <a:pt x="79418" y="43699"/>
                    <a:pt x="44079" y="79418"/>
                    <a:pt x="0" y="79418"/>
                  </a:cubicBezTo>
                  <a:lnTo>
                    <a:pt x="0" y="1778184"/>
                  </a:lnTo>
                  <a:cubicBezTo>
                    <a:pt x="43699" y="1778184"/>
                    <a:pt x="79418" y="1813523"/>
                    <a:pt x="79418" y="1857602"/>
                  </a:cubicBezTo>
                  <a:lnTo>
                    <a:pt x="3368583" y="1857602"/>
                  </a:lnTo>
                  <a:cubicBezTo>
                    <a:pt x="3368583" y="1813903"/>
                    <a:pt x="3403922" y="1778184"/>
                    <a:pt x="3448001" y="1778184"/>
                  </a:cubicBezTo>
                  <a:lnTo>
                    <a:pt x="3448001" y="79418"/>
                  </a:lnTo>
                  <a:cubicBezTo>
                    <a:pt x="3404302" y="79418"/>
                    <a:pt x="3368583" y="44079"/>
                    <a:pt x="3368583" y="0"/>
                  </a:cubicBezTo>
                  <a:close/>
                </a:path>
              </a:pathLst>
            </a:custGeom>
            <a:ln w="28575" cap="sq">
              <a:solidFill>
                <a:srgbClr val="D6B03D"/>
              </a:solidFill>
              <a:prstDash val="solid"/>
              <a:miter/>
            </a:ln>
          </p:spPr>
        </p:sp>
        <p:sp>
          <p:nvSpPr>
            <p:cNvPr name="TextBox 4" id="4"/>
            <p:cNvSpPr txBox="true"/>
            <p:nvPr/>
          </p:nvSpPr>
          <p:spPr>
            <a:xfrm>
              <a:off x="38100" y="-114300"/>
              <a:ext cx="3371801" cy="1933802"/>
            </a:xfrm>
            <a:prstGeom prst="rect">
              <a:avLst/>
            </a:prstGeom>
          </p:spPr>
          <p:txBody>
            <a:bodyPr anchor="ctr" rtlCol="false" tIns="50800" lIns="50800" bIns="50800" rIns="50800"/>
            <a:lstStyle/>
            <a:p>
              <a:pPr algn="ctr" marL="0" indent="0" lvl="0">
                <a:lnSpc>
                  <a:spcPts val="4697"/>
                </a:lnSpc>
                <a:spcBef>
                  <a:spcPct val="0"/>
                </a:spcBef>
              </a:pPr>
            </a:p>
          </p:txBody>
        </p:sp>
      </p:grpSp>
      <p:sp>
        <p:nvSpPr>
          <p:cNvPr name="TextBox 5" id="5"/>
          <p:cNvSpPr txBox="true"/>
          <p:nvPr/>
        </p:nvSpPr>
        <p:spPr>
          <a:xfrm rot="0">
            <a:off x="1730085" y="2156266"/>
            <a:ext cx="7526779" cy="5786428"/>
          </a:xfrm>
          <a:prstGeom prst="rect">
            <a:avLst/>
          </a:prstGeom>
        </p:spPr>
        <p:txBody>
          <a:bodyPr anchor="t" rtlCol="false" tIns="0" lIns="0" bIns="0" rIns="0">
            <a:spAutoFit/>
          </a:bodyPr>
          <a:lstStyle/>
          <a:p>
            <a:pPr algn="l" marL="450246" indent="-225123" lvl="1">
              <a:lnSpc>
                <a:spcPts val="2919"/>
              </a:lnSpc>
              <a:buFont typeface="Arial"/>
              <a:buChar char="•"/>
            </a:pPr>
            <a:r>
              <a:rPr lang="en-US" sz="2085">
                <a:solidFill>
                  <a:srgbClr val="D6B03D"/>
                </a:solidFill>
                <a:latin typeface="Glacial Indifference"/>
                <a:ea typeface="Glacial Indifference"/>
                <a:cs typeface="Glacial Indifference"/>
                <a:sym typeface="Glacial Indifference"/>
              </a:rPr>
              <a:t>Creates guardrails for interactions with chatbots </a:t>
            </a:r>
          </a:p>
          <a:p>
            <a:pPr algn="l" marL="450246" indent="-225123" lvl="1">
              <a:lnSpc>
                <a:spcPts val="2919"/>
              </a:lnSpc>
              <a:buFont typeface="Arial"/>
              <a:buChar char="•"/>
            </a:pPr>
            <a:r>
              <a:rPr lang="en-US" sz="2085">
                <a:solidFill>
                  <a:srgbClr val="D6B03D"/>
                </a:solidFill>
                <a:latin typeface="Glacial Indifference"/>
                <a:ea typeface="Glacial Indifference"/>
                <a:cs typeface="Glacial Indifference"/>
                <a:sym typeface="Glacial Indifference"/>
              </a:rPr>
              <a:t>Chatbots are </a:t>
            </a:r>
            <a:r>
              <a:rPr lang="en-US" sz="2085" strike="noStrike" u="none">
                <a:solidFill>
                  <a:srgbClr val="D6B03D"/>
                </a:solidFill>
                <a:latin typeface="Glacial Indifference"/>
                <a:ea typeface="Glacial Indifference"/>
                <a:cs typeface="Glacial Indifference"/>
                <a:sym typeface="Glacial Indifference"/>
              </a:rPr>
              <a:t>t</a:t>
            </a:r>
            <a:r>
              <a:rPr lang="en-US" sz="2085" strike="noStrike" u="none">
                <a:solidFill>
                  <a:srgbClr val="D6B03D"/>
                </a:solidFill>
                <a:latin typeface="Glacial Indifference"/>
                <a:ea typeface="Glacial Indifference"/>
                <a:cs typeface="Glacial Indifference"/>
                <a:sym typeface="Glacial Indifference"/>
              </a:rPr>
              <a:t>ra</a:t>
            </a:r>
            <a:r>
              <a:rPr lang="en-US" sz="2085" strike="noStrike" u="none">
                <a:solidFill>
                  <a:srgbClr val="D6B03D"/>
                </a:solidFill>
                <a:latin typeface="Glacial Indifference"/>
                <a:ea typeface="Glacial Indifference"/>
                <a:cs typeface="Glacial Indifference"/>
                <a:sym typeface="Glacial Indifference"/>
              </a:rPr>
              <a:t>i</a:t>
            </a:r>
            <a:r>
              <a:rPr lang="en-US" sz="2085" strike="noStrike" u="none">
                <a:solidFill>
                  <a:srgbClr val="D6B03D"/>
                </a:solidFill>
                <a:latin typeface="Glacial Indifference"/>
                <a:ea typeface="Glacial Indifference"/>
                <a:cs typeface="Glacial Indifference"/>
                <a:sym typeface="Glacial Indifference"/>
              </a:rPr>
              <a:t>n</a:t>
            </a:r>
            <a:r>
              <a:rPr lang="en-US" sz="2085" strike="noStrike" u="none">
                <a:solidFill>
                  <a:srgbClr val="D6B03D"/>
                </a:solidFill>
                <a:latin typeface="Glacial Indifference"/>
                <a:ea typeface="Glacial Indifference"/>
                <a:cs typeface="Glacial Indifference"/>
                <a:sym typeface="Glacial Indifference"/>
              </a:rPr>
              <a:t>e</a:t>
            </a:r>
            <a:r>
              <a:rPr lang="en-US" sz="2085" strike="noStrike" u="none">
                <a:solidFill>
                  <a:srgbClr val="D6B03D"/>
                </a:solidFill>
                <a:latin typeface="Glacial Indifference"/>
                <a:ea typeface="Glacial Indifference"/>
                <a:cs typeface="Glacial Indifference"/>
                <a:sym typeface="Glacial Indifference"/>
              </a:rPr>
              <a:t>d</a:t>
            </a:r>
            <a:r>
              <a:rPr lang="en-US" sz="2085" strike="noStrike" u="none">
                <a:solidFill>
                  <a:srgbClr val="D6B03D"/>
                </a:solidFill>
                <a:latin typeface="Glacial Indifference"/>
                <a:ea typeface="Glacial Indifference"/>
                <a:cs typeface="Glacial Indifference"/>
                <a:sym typeface="Glacial Indifference"/>
              </a:rPr>
              <a:t> </a:t>
            </a:r>
            <a:r>
              <a:rPr lang="en-US" sz="2085" strike="noStrike" u="none">
                <a:solidFill>
                  <a:srgbClr val="D6B03D"/>
                </a:solidFill>
                <a:latin typeface="Glacial Indifference"/>
                <a:ea typeface="Glacial Indifference"/>
                <a:cs typeface="Glacial Indifference"/>
                <a:sym typeface="Glacial Indifference"/>
              </a:rPr>
              <a:t>using data that was</a:t>
            </a:r>
            <a:r>
              <a:rPr lang="en-US" sz="2085" strike="noStrike" u="none">
                <a:solidFill>
                  <a:srgbClr val="D6B03D"/>
                </a:solidFill>
                <a:latin typeface="Glacial Indifference"/>
                <a:ea typeface="Glacial Indifference"/>
                <a:cs typeface="Glacial Indifference"/>
                <a:sym typeface="Glacial Indifference"/>
              </a:rPr>
              <a:t> scraped ind</a:t>
            </a:r>
            <a:r>
              <a:rPr lang="en-US" sz="2085" strike="noStrike" u="none">
                <a:solidFill>
                  <a:srgbClr val="D6B03D"/>
                </a:solidFill>
                <a:latin typeface="Glacial Indifference"/>
                <a:ea typeface="Glacial Indifference"/>
                <a:cs typeface="Glacial Indifference"/>
                <a:sym typeface="Glacial Indifference"/>
              </a:rPr>
              <a:t>iscrim</a:t>
            </a:r>
            <a:r>
              <a:rPr lang="en-US" sz="2085" strike="noStrike" u="none">
                <a:solidFill>
                  <a:srgbClr val="D6B03D"/>
                </a:solidFill>
                <a:latin typeface="Glacial Indifference"/>
                <a:ea typeface="Glacial Indifference"/>
                <a:cs typeface="Glacial Indifference"/>
                <a:sym typeface="Glacial Indifference"/>
              </a:rPr>
              <a:t>inate</a:t>
            </a:r>
            <a:r>
              <a:rPr lang="en-US" sz="2085" strike="noStrike" u="none">
                <a:solidFill>
                  <a:srgbClr val="D6B03D"/>
                </a:solidFill>
                <a:latin typeface="Glacial Indifference"/>
                <a:ea typeface="Glacial Indifference"/>
                <a:cs typeface="Glacial Indifference"/>
                <a:sym typeface="Glacial Indifference"/>
              </a:rPr>
              <a:t>ly</a:t>
            </a:r>
            <a:r>
              <a:rPr lang="en-US" sz="2085" strike="noStrike" u="none">
                <a:solidFill>
                  <a:srgbClr val="D6B03D"/>
                </a:solidFill>
                <a:latin typeface="Glacial Indifference"/>
                <a:ea typeface="Glacial Indifference"/>
                <a:cs typeface="Glacial Indifference"/>
                <a:sym typeface="Glacial Indifference"/>
              </a:rPr>
              <a:t> with</a:t>
            </a:r>
            <a:r>
              <a:rPr lang="en-US" sz="2085" strike="noStrike" u="none">
                <a:solidFill>
                  <a:srgbClr val="D6B03D"/>
                </a:solidFill>
                <a:latin typeface="Glacial Indifference"/>
                <a:ea typeface="Glacial Indifference"/>
                <a:cs typeface="Glacial Indifference"/>
                <a:sym typeface="Glacial Indifference"/>
              </a:rPr>
              <a:t>out</a:t>
            </a:r>
            <a:r>
              <a:rPr lang="en-US" sz="2085" strike="noStrike" u="none">
                <a:solidFill>
                  <a:srgbClr val="D6B03D"/>
                </a:solidFill>
                <a:latin typeface="Glacial Indifference"/>
                <a:ea typeface="Glacial Indifference"/>
                <a:cs typeface="Glacial Indifference"/>
                <a:sym typeface="Glacial Indifference"/>
              </a:rPr>
              <a:t> </a:t>
            </a:r>
            <a:r>
              <a:rPr lang="en-US" sz="2085" strike="noStrike" u="none">
                <a:solidFill>
                  <a:srgbClr val="D6B03D"/>
                </a:solidFill>
                <a:latin typeface="Glacial Indifference"/>
                <a:ea typeface="Glacial Indifference"/>
                <a:cs typeface="Glacial Indifference"/>
                <a:sym typeface="Glacial Indifference"/>
              </a:rPr>
              <a:t>knowledge or consent, including copyrighted and other protected work, as well as sensitive personal information.</a:t>
            </a:r>
          </a:p>
          <a:p>
            <a:pPr algn="l" marL="450246" indent="-225123" lvl="1">
              <a:lnSpc>
                <a:spcPts val="2919"/>
              </a:lnSpc>
              <a:buFont typeface="Arial"/>
              <a:buChar char="•"/>
            </a:pPr>
            <a:r>
              <a:rPr lang="en-US" sz="2085" strike="noStrike" u="none">
                <a:solidFill>
                  <a:srgbClr val="D6B03D"/>
                </a:solidFill>
                <a:latin typeface="Glacial Indifference"/>
                <a:ea typeface="Glacial Indifference"/>
                <a:cs typeface="Glacial Indifference"/>
                <a:sym typeface="Glacial Indifference"/>
              </a:rPr>
              <a:t>Some AI companies, including OpenAI and Meta, have already begun or announced plans to integrate their chatbots</a:t>
            </a:r>
            <a:r>
              <a:rPr lang="en-US" sz="2085" strike="noStrike" u="none">
                <a:solidFill>
                  <a:srgbClr val="D6B03D"/>
                </a:solidFill>
                <a:latin typeface="Glacial Indifference"/>
                <a:ea typeface="Glacial Indifference"/>
                <a:cs typeface="Glacial Indifference"/>
                <a:sym typeface="Glacial Indifference"/>
              </a:rPr>
              <a:t> into their</a:t>
            </a:r>
            <a:r>
              <a:rPr lang="en-US" sz="2085" strike="noStrike" u="none">
                <a:solidFill>
                  <a:srgbClr val="D6B03D"/>
                </a:solidFill>
                <a:latin typeface="Glacial Indifference"/>
                <a:ea typeface="Glacial Indifference"/>
                <a:cs typeface="Glacial Indifference"/>
                <a:sym typeface="Glacial Indifference"/>
              </a:rPr>
              <a:t> targeted advertising business streams.</a:t>
            </a:r>
          </a:p>
          <a:p>
            <a:pPr algn="l" marL="450246" indent="-225123" lvl="1">
              <a:lnSpc>
                <a:spcPts val="2919"/>
              </a:lnSpc>
              <a:buFont typeface="Arial"/>
              <a:buChar char="•"/>
            </a:pPr>
            <a:r>
              <a:rPr lang="en-US" sz="2085" strike="noStrike" u="none">
                <a:solidFill>
                  <a:srgbClr val="D6B03D"/>
                </a:solidFill>
                <a:latin typeface="Glacial Indifference"/>
                <a:ea typeface="Glacial Indifference"/>
                <a:cs typeface="Glacial Indifference"/>
                <a:sym typeface="Glacial Indifference"/>
              </a:rPr>
              <a:t>Chatbots use personal information about users including mental health issues, substance abuse, relationship or family problems, etc. to incentivize un</a:t>
            </a:r>
            <a:r>
              <a:rPr lang="en-US" sz="2085" strike="noStrike" u="none">
                <a:solidFill>
                  <a:srgbClr val="D6B03D"/>
                </a:solidFill>
                <a:latin typeface="Glacial Indifference"/>
                <a:ea typeface="Glacial Indifference"/>
                <a:cs typeface="Glacial Indifference"/>
                <a:sym typeface="Glacial Indifference"/>
              </a:rPr>
              <a:t>hea</a:t>
            </a:r>
            <a:r>
              <a:rPr lang="en-US" sz="2085" strike="noStrike" u="none">
                <a:solidFill>
                  <a:srgbClr val="D6B03D"/>
                </a:solidFill>
                <a:latin typeface="Glacial Indifference"/>
                <a:ea typeface="Glacial Indifference"/>
                <a:cs typeface="Glacial Indifference"/>
                <a:sym typeface="Glacial Indifference"/>
              </a:rPr>
              <a:t>lthy attac</a:t>
            </a:r>
            <a:r>
              <a:rPr lang="en-US" sz="2085" strike="noStrike" u="none">
                <a:solidFill>
                  <a:srgbClr val="D6B03D"/>
                </a:solidFill>
                <a:latin typeface="Glacial Indifference"/>
                <a:ea typeface="Glacial Indifference"/>
                <a:cs typeface="Glacial Indifference"/>
                <a:sym typeface="Glacial Indifference"/>
              </a:rPr>
              <a:t>hm</a:t>
            </a:r>
            <a:r>
              <a:rPr lang="en-US" sz="2085" strike="noStrike" u="none">
                <a:solidFill>
                  <a:srgbClr val="D6B03D"/>
                </a:solidFill>
                <a:latin typeface="Glacial Indifference"/>
                <a:ea typeface="Glacial Indifference"/>
                <a:cs typeface="Glacial Indifference"/>
                <a:sym typeface="Glacial Indifference"/>
              </a:rPr>
              <a:t>en</a:t>
            </a:r>
            <a:r>
              <a:rPr lang="en-US" sz="2085" strike="noStrike" u="none">
                <a:solidFill>
                  <a:srgbClr val="D6B03D"/>
                </a:solidFill>
                <a:latin typeface="Glacial Indifference"/>
                <a:ea typeface="Glacial Indifference"/>
                <a:cs typeface="Glacial Indifference"/>
                <a:sym typeface="Glacial Indifference"/>
              </a:rPr>
              <a:t>ts. This can be used for profit. </a:t>
            </a:r>
          </a:p>
          <a:p>
            <a:pPr algn="l" marL="450246" indent="-225123" lvl="1">
              <a:lnSpc>
                <a:spcPts val="2919"/>
              </a:lnSpc>
              <a:buFont typeface="Arial"/>
              <a:buChar char="•"/>
            </a:pPr>
            <a:r>
              <a:rPr lang="en-US" sz="2085" strike="noStrike" u="none">
                <a:solidFill>
                  <a:srgbClr val="D6B03D"/>
                </a:solidFill>
                <a:latin typeface="Glacial Indifference"/>
                <a:ea typeface="Glacial Indifference"/>
                <a:cs typeface="Glacial Indifference"/>
                <a:sym typeface="Glacial Indifference"/>
              </a:rPr>
              <a:t>For example, a teenager who tells a chatbot that she is struggling with her body image and is engaging in disordered eating to lose weight may be fed a targeted advertisement for a GLP-1 or a fad diet. </a:t>
            </a:r>
          </a:p>
        </p:txBody>
      </p:sp>
      <p:sp>
        <p:nvSpPr>
          <p:cNvPr name="TextBox 6" id="6"/>
          <p:cNvSpPr txBox="true"/>
          <p:nvPr/>
        </p:nvSpPr>
        <p:spPr>
          <a:xfrm rot="0">
            <a:off x="1762616" y="1029776"/>
            <a:ext cx="14988494" cy="1174115"/>
          </a:xfrm>
          <a:prstGeom prst="rect">
            <a:avLst/>
          </a:prstGeom>
        </p:spPr>
        <p:txBody>
          <a:bodyPr anchor="t" rtlCol="false" tIns="0" lIns="0" bIns="0" rIns="0">
            <a:spAutoFit/>
          </a:bodyPr>
          <a:lstStyle/>
          <a:p>
            <a:pPr algn="ctr" marL="0" indent="0" lvl="1">
              <a:lnSpc>
                <a:spcPts val="4479"/>
              </a:lnSpc>
              <a:spcBef>
                <a:spcPct val="0"/>
              </a:spcBef>
            </a:pPr>
            <a:r>
              <a:rPr lang="en-US" sz="3999" spc="19">
                <a:solidFill>
                  <a:srgbClr val="D6B03D"/>
                </a:solidFill>
                <a:latin typeface="Maharlika"/>
                <a:ea typeface="Maharlika"/>
                <a:cs typeface="Maharlika"/>
                <a:sym typeface="Maharlika"/>
              </a:rPr>
              <a:t>AI &amp; Chatbots (S.B. 827, 448th Gen. Assemb., Reg. Sess. (Md. 2026))</a:t>
            </a:r>
          </a:p>
        </p:txBody>
      </p:sp>
      <p:sp>
        <p:nvSpPr>
          <p:cNvPr name="TextBox 7" id="7"/>
          <p:cNvSpPr txBox="true"/>
          <p:nvPr/>
        </p:nvSpPr>
        <p:spPr>
          <a:xfrm rot="0">
            <a:off x="9490362" y="2165791"/>
            <a:ext cx="7526779" cy="7324090"/>
          </a:xfrm>
          <a:prstGeom prst="rect">
            <a:avLst/>
          </a:prstGeom>
        </p:spPr>
        <p:txBody>
          <a:bodyPr anchor="t" rtlCol="false" tIns="0" lIns="0" bIns="0" rIns="0">
            <a:spAutoFit/>
          </a:bodyPr>
          <a:lstStyle/>
          <a:p>
            <a:pPr algn="l" marL="410209" indent="-205105" lvl="1">
              <a:lnSpc>
                <a:spcPts val="2659"/>
              </a:lnSpc>
              <a:buFont typeface="Arial"/>
              <a:buChar char="•"/>
            </a:pPr>
            <a:r>
              <a:rPr lang="en-US" sz="1899">
                <a:solidFill>
                  <a:srgbClr val="D6B03D"/>
                </a:solidFill>
                <a:latin typeface="Glacial Indifference"/>
                <a:ea typeface="Glacial Indifference"/>
                <a:cs typeface="Glacial Indifference"/>
                <a:sym typeface="Glacial Indifference"/>
              </a:rPr>
              <a:t>Requires affirmative consent from users</a:t>
            </a:r>
          </a:p>
          <a:p>
            <a:pPr algn="l" marL="410209" indent="-205105" lvl="1">
              <a:lnSpc>
                <a:spcPts val="2659"/>
              </a:lnSpc>
              <a:buFont typeface="Arial"/>
              <a:buChar char="•"/>
            </a:pPr>
            <a:r>
              <a:rPr lang="en-US" sz="1899">
                <a:solidFill>
                  <a:srgbClr val="D6B03D"/>
                </a:solidFill>
                <a:latin typeface="Glacial Indifference"/>
                <a:ea typeface="Glacial Indifference"/>
                <a:cs typeface="Glacial Indifference"/>
                <a:sym typeface="Glacial Indifference"/>
              </a:rPr>
              <a:t>Chatbot operators cannot process a user’s chat log for certain advertising purposes.</a:t>
            </a:r>
          </a:p>
          <a:p>
            <a:pPr algn="l" marL="410209" indent="-205105" lvl="1">
              <a:lnSpc>
                <a:spcPts val="2659"/>
              </a:lnSpc>
              <a:buFont typeface="Arial"/>
              <a:buChar char="•"/>
            </a:pPr>
            <a:r>
              <a:rPr lang="en-US" sz="1899">
                <a:solidFill>
                  <a:srgbClr val="D6B03D"/>
                </a:solidFill>
                <a:latin typeface="Glacial Indifference"/>
                <a:ea typeface="Glacial Indifference"/>
                <a:cs typeface="Glacial Indifference"/>
                <a:sym typeface="Glacial Indifference"/>
              </a:rPr>
              <a:t>Chatbot operators cannot profile a user other than for what is necessary to respond to a user prompt.</a:t>
            </a:r>
          </a:p>
          <a:p>
            <a:pPr algn="l" marL="410209" indent="-205105" lvl="1">
              <a:lnSpc>
                <a:spcPts val="2659"/>
              </a:lnSpc>
              <a:buFont typeface="Arial"/>
              <a:buChar char="•"/>
            </a:pPr>
            <a:r>
              <a:rPr lang="en-US" sz="1899">
                <a:solidFill>
                  <a:srgbClr val="D6B03D"/>
                </a:solidFill>
                <a:latin typeface="Glacial Indifference"/>
                <a:ea typeface="Glacial Indifference"/>
                <a:cs typeface="Glacial Indifference"/>
                <a:sym typeface="Glacial Indifference"/>
              </a:rPr>
              <a:t>Chatbot operators cannot retain a chat log for longer than 10 years, unless required by law.</a:t>
            </a:r>
          </a:p>
          <a:p>
            <a:pPr algn="l" marL="410209" indent="-205105" lvl="1">
              <a:lnSpc>
                <a:spcPts val="2659"/>
              </a:lnSpc>
              <a:buFont typeface="Arial"/>
              <a:buChar char="•"/>
            </a:pPr>
            <a:r>
              <a:rPr lang="en-US" sz="1899">
                <a:solidFill>
                  <a:srgbClr val="D6B03D"/>
                </a:solidFill>
                <a:latin typeface="Glacial Indifference"/>
                <a:ea typeface="Glacial Indifference"/>
                <a:cs typeface="Glacial Indifference"/>
                <a:sym typeface="Glacial Indifference"/>
              </a:rPr>
              <a:t>Chatbot operators cannot provide advice or a service that an individual cannot lawfully provide without a license, in violation of applicable State licensing laws.</a:t>
            </a:r>
          </a:p>
          <a:p>
            <a:pPr algn="l" marL="410209" indent="-205105" lvl="1">
              <a:lnSpc>
                <a:spcPts val="2659"/>
              </a:lnSpc>
              <a:buFont typeface="Arial"/>
              <a:buChar char="•"/>
            </a:pPr>
            <a:r>
              <a:rPr lang="en-US" sz="1899">
                <a:solidFill>
                  <a:srgbClr val="D6B03D"/>
                </a:solidFill>
                <a:latin typeface="Glacial Indifference"/>
                <a:ea typeface="Glacial Indifference"/>
                <a:cs typeface="Glacial Indifference"/>
                <a:sym typeface="Glacial Indifference"/>
              </a:rPr>
              <a:t>Chatbot operators must provide clear and conspicuous warnings that chatbots are artificially generated and not human. The warnings must be both static and dynamic.</a:t>
            </a:r>
          </a:p>
          <a:p>
            <a:pPr algn="l" marL="410209" indent="-205105" lvl="1">
              <a:lnSpc>
                <a:spcPts val="2659"/>
              </a:lnSpc>
              <a:buFont typeface="Arial"/>
              <a:buChar char="•"/>
            </a:pPr>
            <a:r>
              <a:rPr lang="en-US" sz="1899">
                <a:solidFill>
                  <a:srgbClr val="D6B03D"/>
                </a:solidFill>
                <a:latin typeface="Glacial Indifference"/>
                <a:ea typeface="Glacial Indifference"/>
                <a:cs typeface="Glacial Indifference"/>
                <a:sym typeface="Glacial Indifference"/>
              </a:rPr>
              <a:t>Requires the Behavioral Health Administration (BHA) within MDH to develop educational materials that contain information describing how a person may obtain behavioral health care from a licensed medical professional in the State and about free or low-cost services available to individuals in the State who are experiencing a mental health crisis. This will allow users to better separate unlicensed advice from licensed advice.</a:t>
            </a:r>
          </a:p>
          <a:p>
            <a:pPr algn="l" marL="410209" indent="-205105" lvl="1">
              <a:lnSpc>
                <a:spcPts val="2659"/>
              </a:lnSpc>
              <a:buFont typeface="Arial"/>
              <a:buChar char="•"/>
            </a:pPr>
            <a:r>
              <a:rPr lang="en-US" sz="1899">
                <a:solidFill>
                  <a:srgbClr val="D6B03D"/>
                </a:solidFill>
                <a:latin typeface="Glacial Indifference"/>
                <a:ea typeface="Glacial Indifference"/>
                <a:cs typeface="Glacial Indifference"/>
                <a:sym typeface="Glacial Indifference"/>
              </a:rPr>
              <a:t>The materials must be disseminated to the public by OAG and used for any other purpose as determined by MDH.</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635126" y="1627368"/>
            <a:ext cx="17017748" cy="7032264"/>
            <a:chOff x="0" y="0"/>
            <a:chExt cx="3448001" cy="1424822"/>
          </a:xfrm>
        </p:grpSpPr>
        <p:sp>
          <p:nvSpPr>
            <p:cNvPr name="Freeform 3" id="3"/>
            <p:cNvSpPr/>
            <p:nvPr/>
          </p:nvSpPr>
          <p:spPr>
            <a:xfrm flipH="false" flipV="false" rot="0">
              <a:off x="0" y="0"/>
              <a:ext cx="3448001" cy="1424822"/>
            </a:xfrm>
            <a:custGeom>
              <a:avLst/>
              <a:gdLst/>
              <a:ahLst/>
              <a:cxnLst/>
              <a:rect r="r" b="b" t="t" l="l"/>
              <a:pathLst>
                <a:path h="1424822" w="3448001">
                  <a:moveTo>
                    <a:pt x="3368583" y="0"/>
                  </a:moveTo>
                  <a:lnTo>
                    <a:pt x="79418" y="0"/>
                  </a:lnTo>
                  <a:cubicBezTo>
                    <a:pt x="79418" y="43699"/>
                    <a:pt x="44079" y="79418"/>
                    <a:pt x="0" y="79418"/>
                  </a:cubicBezTo>
                  <a:lnTo>
                    <a:pt x="0" y="1345404"/>
                  </a:lnTo>
                  <a:cubicBezTo>
                    <a:pt x="43699" y="1345404"/>
                    <a:pt x="79418" y="1380743"/>
                    <a:pt x="79418" y="1424822"/>
                  </a:cubicBezTo>
                  <a:lnTo>
                    <a:pt x="3368583" y="1424822"/>
                  </a:lnTo>
                  <a:cubicBezTo>
                    <a:pt x="3368583" y="1381122"/>
                    <a:pt x="3403922" y="1345404"/>
                    <a:pt x="3448001" y="1345404"/>
                  </a:cubicBezTo>
                  <a:lnTo>
                    <a:pt x="3448001" y="79418"/>
                  </a:lnTo>
                  <a:cubicBezTo>
                    <a:pt x="3404302" y="79418"/>
                    <a:pt x="3368583" y="44079"/>
                    <a:pt x="3368583" y="0"/>
                  </a:cubicBezTo>
                  <a:close/>
                </a:path>
              </a:pathLst>
            </a:custGeom>
            <a:ln w="28575" cap="sq">
              <a:solidFill>
                <a:srgbClr val="D6B03D"/>
              </a:solidFill>
              <a:prstDash val="solid"/>
              <a:miter/>
            </a:ln>
          </p:spPr>
        </p:sp>
        <p:sp>
          <p:nvSpPr>
            <p:cNvPr name="TextBox 4" id="4"/>
            <p:cNvSpPr txBox="true"/>
            <p:nvPr/>
          </p:nvSpPr>
          <p:spPr>
            <a:xfrm>
              <a:off x="38100" y="-114300"/>
              <a:ext cx="3371801" cy="1501022"/>
            </a:xfrm>
            <a:prstGeom prst="rect">
              <a:avLst/>
            </a:prstGeom>
          </p:spPr>
          <p:txBody>
            <a:bodyPr anchor="ctr" rtlCol="false" tIns="50800" lIns="50800" bIns="50800" rIns="50800"/>
            <a:lstStyle/>
            <a:p>
              <a:pPr algn="ctr" marL="0" indent="0" lvl="0">
                <a:lnSpc>
                  <a:spcPts val="4697"/>
                </a:lnSpc>
                <a:spcBef>
                  <a:spcPct val="0"/>
                </a:spcBef>
              </a:pPr>
            </a:p>
          </p:txBody>
        </p:sp>
      </p:grpSp>
      <p:sp>
        <p:nvSpPr>
          <p:cNvPr name="TextBox 5" id="5"/>
          <p:cNvSpPr txBox="true"/>
          <p:nvPr/>
        </p:nvSpPr>
        <p:spPr>
          <a:xfrm rot="0">
            <a:off x="4163280" y="3627079"/>
            <a:ext cx="9961439" cy="4751070"/>
          </a:xfrm>
          <a:prstGeom prst="rect">
            <a:avLst/>
          </a:prstGeom>
        </p:spPr>
        <p:txBody>
          <a:bodyPr anchor="t" rtlCol="false" tIns="0" lIns="0" bIns="0" rIns="0">
            <a:spAutoFit/>
          </a:bodyPr>
          <a:lstStyle/>
          <a:p>
            <a:pPr algn="l">
              <a:lnSpc>
                <a:spcPts val="3780"/>
              </a:lnSpc>
            </a:pPr>
            <a:r>
              <a:rPr lang="en-US" sz="2700">
                <a:solidFill>
                  <a:srgbClr val="D6B03D"/>
                </a:solidFill>
                <a:latin typeface="Glacial Indifference"/>
                <a:ea typeface="Glacial Indifference"/>
                <a:cs typeface="Glacial Indifference"/>
                <a:sym typeface="Glacial Indifference"/>
              </a:rPr>
              <a:t>In California under the Fair Employment and Housing Act:</a:t>
            </a:r>
          </a:p>
          <a:p>
            <a:pPr algn="l" marL="582932" indent="-291466" lvl="1">
              <a:lnSpc>
                <a:spcPts val="3780"/>
              </a:lnSpc>
              <a:buFont typeface="Arial"/>
              <a:buChar char="•"/>
            </a:pPr>
            <a:r>
              <a:rPr lang="en-US" sz="2700">
                <a:solidFill>
                  <a:srgbClr val="D6B03D"/>
                </a:solidFill>
                <a:latin typeface="Glacial Indifference"/>
                <a:ea typeface="Glacial Indifference"/>
                <a:cs typeface="Glacial Indifference"/>
                <a:sym typeface="Glacial Indifference"/>
              </a:rPr>
              <a:t>T</a:t>
            </a:r>
            <a:r>
              <a:rPr lang="en-US" sz="2700" strike="noStrike" u="none">
                <a:solidFill>
                  <a:srgbClr val="D6B03D"/>
                </a:solidFill>
                <a:latin typeface="Glacial Indifference"/>
                <a:ea typeface="Glacial Indifference"/>
                <a:cs typeface="Glacial Indifference"/>
                <a:sym typeface="Glacial Indifference"/>
              </a:rPr>
              <a:t>he use of </a:t>
            </a:r>
            <a:r>
              <a:rPr lang="en-US" sz="2700" strike="noStrike" u="none">
                <a:solidFill>
                  <a:srgbClr val="D6B03D"/>
                </a:solidFill>
                <a:latin typeface="Glacial Indifference"/>
                <a:ea typeface="Glacial Indifference"/>
                <a:cs typeface="Glacial Indifference"/>
                <a:sym typeface="Glacial Indifference"/>
              </a:rPr>
              <a:t>an</a:t>
            </a:r>
            <a:r>
              <a:rPr lang="en-US" sz="2700" strike="noStrike" u="none">
                <a:solidFill>
                  <a:srgbClr val="D6B03D"/>
                </a:solidFill>
                <a:latin typeface="Glacial Indifference"/>
                <a:ea typeface="Glacial Indifference"/>
                <a:cs typeface="Glacial Indifference"/>
                <a:sym typeface="Glacial Indifference"/>
              </a:rPr>
              <a:t> aut</a:t>
            </a:r>
            <a:r>
              <a:rPr lang="en-US" sz="2700" strike="noStrike" u="none">
                <a:solidFill>
                  <a:srgbClr val="D6B03D"/>
                </a:solidFill>
                <a:latin typeface="Glacial Indifference"/>
                <a:ea typeface="Glacial Indifference"/>
                <a:cs typeface="Glacial Indifference"/>
                <a:sym typeface="Glacial Indifference"/>
              </a:rPr>
              <a:t>omated-decision system can violate California law if it harms applican</a:t>
            </a:r>
            <a:r>
              <a:rPr lang="en-US" sz="2700" strike="noStrike" u="none">
                <a:solidFill>
                  <a:srgbClr val="D6B03D"/>
                </a:solidFill>
                <a:latin typeface="Glacial Indifference"/>
                <a:ea typeface="Glacial Indifference"/>
                <a:cs typeface="Glacial Indifference"/>
                <a:sym typeface="Glacial Indifference"/>
              </a:rPr>
              <a:t>ts </a:t>
            </a:r>
            <a:r>
              <a:rPr lang="en-US" sz="2700" strike="noStrike" u="none">
                <a:solidFill>
                  <a:srgbClr val="D6B03D"/>
                </a:solidFill>
                <a:latin typeface="Glacial Indifference"/>
                <a:ea typeface="Glacial Indifference"/>
                <a:cs typeface="Glacial Indifference"/>
                <a:sym typeface="Glacial Indifference"/>
              </a:rPr>
              <a:t>or emplo</a:t>
            </a:r>
            <a:r>
              <a:rPr lang="en-US" sz="2700" strike="noStrike" u="none">
                <a:solidFill>
                  <a:srgbClr val="D6B03D"/>
                </a:solidFill>
                <a:latin typeface="Glacial Indifference"/>
                <a:ea typeface="Glacial Indifference"/>
                <a:cs typeface="Glacial Indifference"/>
                <a:sym typeface="Glacial Indifference"/>
              </a:rPr>
              <a:t>y</a:t>
            </a:r>
            <a:r>
              <a:rPr lang="en-US" sz="2700" strike="noStrike" u="none">
                <a:solidFill>
                  <a:srgbClr val="D6B03D"/>
                </a:solidFill>
                <a:latin typeface="Glacial Indifference"/>
                <a:ea typeface="Glacial Indifference"/>
                <a:cs typeface="Glacial Indifference"/>
                <a:sym typeface="Glacial Indifference"/>
              </a:rPr>
              <a:t>ees ba</a:t>
            </a:r>
            <a:r>
              <a:rPr lang="en-US" sz="2700" strike="noStrike" u="none">
                <a:solidFill>
                  <a:srgbClr val="D6B03D"/>
                </a:solidFill>
                <a:latin typeface="Glacial Indifference"/>
                <a:ea typeface="Glacial Indifference"/>
                <a:cs typeface="Glacial Indifference"/>
                <a:sym typeface="Glacial Indifference"/>
              </a:rPr>
              <a:t>sed on </a:t>
            </a:r>
            <a:r>
              <a:rPr lang="en-US" sz="2700" strike="noStrike" u="none">
                <a:solidFill>
                  <a:srgbClr val="D6B03D"/>
                </a:solidFill>
                <a:latin typeface="Glacial Indifference"/>
                <a:ea typeface="Glacial Indifference"/>
                <a:cs typeface="Glacial Indifference"/>
                <a:sym typeface="Glacial Indifference"/>
              </a:rPr>
              <a:t>protecte</a:t>
            </a:r>
            <a:r>
              <a:rPr lang="en-US" sz="2700" strike="noStrike" u="none">
                <a:solidFill>
                  <a:srgbClr val="D6B03D"/>
                </a:solidFill>
                <a:latin typeface="Glacial Indifference"/>
                <a:ea typeface="Glacial Indifference"/>
                <a:cs typeface="Glacial Indifference"/>
                <a:sym typeface="Glacial Indifference"/>
              </a:rPr>
              <a:t>d</a:t>
            </a:r>
            <a:r>
              <a:rPr lang="en-US" sz="2700" strike="noStrike" u="none">
                <a:solidFill>
                  <a:srgbClr val="D6B03D"/>
                </a:solidFill>
                <a:latin typeface="Glacial Indifference"/>
                <a:ea typeface="Glacial Indifference"/>
                <a:cs typeface="Glacial Indifference"/>
                <a:sym typeface="Glacial Indifference"/>
              </a:rPr>
              <a:t> </a:t>
            </a:r>
            <a:r>
              <a:rPr lang="en-US" sz="2700" strike="noStrike" u="none">
                <a:solidFill>
                  <a:srgbClr val="D6B03D"/>
                </a:solidFill>
                <a:latin typeface="Glacial Indifference"/>
                <a:ea typeface="Glacial Indifference"/>
                <a:cs typeface="Glacial Indifference"/>
                <a:sym typeface="Glacial Indifference"/>
              </a:rPr>
              <a:t>charact</a:t>
            </a:r>
            <a:r>
              <a:rPr lang="en-US" sz="2700" strike="noStrike" u="none">
                <a:solidFill>
                  <a:srgbClr val="D6B03D"/>
                </a:solidFill>
                <a:latin typeface="Glacial Indifference"/>
                <a:ea typeface="Glacial Indifference"/>
                <a:cs typeface="Glacial Indifference"/>
                <a:sym typeface="Glacial Indifference"/>
              </a:rPr>
              <a:t>eristics, such</a:t>
            </a:r>
            <a:r>
              <a:rPr lang="en-US" sz="2700" strike="noStrike" u="none">
                <a:solidFill>
                  <a:srgbClr val="D6B03D"/>
                </a:solidFill>
                <a:latin typeface="Glacial Indifference"/>
                <a:ea typeface="Glacial Indifference"/>
                <a:cs typeface="Glacial Indifference"/>
                <a:sym typeface="Glacial Indifference"/>
              </a:rPr>
              <a:t> as gen</a:t>
            </a:r>
            <a:r>
              <a:rPr lang="en-US" sz="2700" strike="noStrike" u="none">
                <a:solidFill>
                  <a:srgbClr val="D6B03D"/>
                </a:solidFill>
                <a:latin typeface="Glacial Indifference"/>
                <a:ea typeface="Glacial Indifference"/>
                <a:cs typeface="Glacial Indifference"/>
                <a:sym typeface="Glacial Indifference"/>
              </a:rPr>
              <a:t>d</a:t>
            </a:r>
            <a:r>
              <a:rPr lang="en-US" sz="2700" strike="noStrike" u="none">
                <a:solidFill>
                  <a:srgbClr val="D6B03D"/>
                </a:solidFill>
                <a:latin typeface="Glacial Indifference"/>
                <a:ea typeface="Glacial Indifference"/>
                <a:cs typeface="Glacial Indifference"/>
                <a:sym typeface="Glacial Indifference"/>
              </a:rPr>
              <a:t>er, race,</a:t>
            </a:r>
            <a:r>
              <a:rPr lang="en-US" sz="2700" strike="noStrike" u="none">
                <a:solidFill>
                  <a:srgbClr val="D6B03D"/>
                </a:solidFill>
                <a:latin typeface="Glacial Indifference"/>
                <a:ea typeface="Glacial Indifference"/>
                <a:cs typeface="Glacial Indifference"/>
                <a:sym typeface="Glacial Indifference"/>
              </a:rPr>
              <a:t> o</a:t>
            </a:r>
            <a:r>
              <a:rPr lang="en-US" sz="2700" strike="noStrike" u="none">
                <a:solidFill>
                  <a:srgbClr val="D6B03D"/>
                </a:solidFill>
                <a:latin typeface="Glacial Indifference"/>
                <a:ea typeface="Glacial Indifference"/>
                <a:cs typeface="Glacial Indifference"/>
                <a:sym typeface="Glacial Indifference"/>
              </a:rPr>
              <a:t>r</a:t>
            </a:r>
            <a:r>
              <a:rPr lang="en-US" sz="2700" strike="noStrike" u="none">
                <a:solidFill>
                  <a:srgbClr val="D6B03D"/>
                </a:solidFill>
                <a:latin typeface="Glacial Indifference"/>
                <a:ea typeface="Glacial Indifference"/>
                <a:cs typeface="Glacial Indifference"/>
                <a:sym typeface="Glacial Indifference"/>
              </a:rPr>
              <a:t> </a:t>
            </a:r>
            <a:r>
              <a:rPr lang="en-US" sz="2700" strike="noStrike" u="none">
                <a:solidFill>
                  <a:srgbClr val="D6B03D"/>
                </a:solidFill>
                <a:latin typeface="Glacial Indifference"/>
                <a:ea typeface="Glacial Indifference"/>
                <a:cs typeface="Glacial Indifference"/>
                <a:sym typeface="Glacial Indifference"/>
              </a:rPr>
              <a:t>disabi</a:t>
            </a:r>
            <a:r>
              <a:rPr lang="en-US" sz="2700" strike="noStrike" u="none">
                <a:solidFill>
                  <a:srgbClr val="D6B03D"/>
                </a:solidFill>
                <a:latin typeface="Glacial Indifference"/>
                <a:ea typeface="Glacial Indifference"/>
                <a:cs typeface="Glacial Indifference"/>
                <a:sym typeface="Glacial Indifference"/>
              </a:rPr>
              <a:t>li</a:t>
            </a:r>
            <a:r>
              <a:rPr lang="en-US" sz="2700" strike="noStrike" u="none">
                <a:solidFill>
                  <a:srgbClr val="D6B03D"/>
                </a:solidFill>
                <a:latin typeface="Glacial Indifference"/>
                <a:ea typeface="Glacial Indifference"/>
                <a:cs typeface="Glacial Indifference"/>
                <a:sym typeface="Glacial Indifference"/>
              </a:rPr>
              <a:t>ty.</a:t>
            </a:r>
          </a:p>
          <a:p>
            <a:pPr algn="l" marL="582932" indent="-291466" lvl="1">
              <a:lnSpc>
                <a:spcPts val="3780"/>
              </a:lnSpc>
              <a:buFont typeface="Arial"/>
              <a:buChar char="•"/>
            </a:pPr>
            <a:r>
              <a:rPr lang="en-US" sz="2700" strike="noStrike" u="none">
                <a:solidFill>
                  <a:srgbClr val="D6B03D"/>
                </a:solidFill>
                <a:latin typeface="Glacial Indifference"/>
                <a:ea typeface="Glacial Indifference"/>
                <a:cs typeface="Glacial Indifference"/>
                <a:sym typeface="Glacial Indifference"/>
              </a:rPr>
              <a:t>E</a:t>
            </a:r>
            <a:r>
              <a:rPr lang="en-US" sz="2700" strike="noStrike" u="none">
                <a:solidFill>
                  <a:srgbClr val="D6B03D"/>
                </a:solidFill>
                <a:latin typeface="Glacial Indifference"/>
                <a:ea typeface="Glacial Indifference"/>
                <a:cs typeface="Glacial Indifference"/>
                <a:sym typeface="Glacial Indifference"/>
              </a:rPr>
              <a:t>mployers and cover</a:t>
            </a:r>
            <a:r>
              <a:rPr lang="en-US" sz="2700" strike="noStrike" u="none">
                <a:solidFill>
                  <a:srgbClr val="D6B03D"/>
                </a:solidFill>
                <a:latin typeface="Glacial Indifference"/>
                <a:ea typeface="Glacial Indifference"/>
                <a:cs typeface="Glacial Indifference"/>
                <a:sym typeface="Glacial Indifference"/>
              </a:rPr>
              <a:t>ed enti</a:t>
            </a:r>
            <a:r>
              <a:rPr lang="en-US" sz="2700" strike="noStrike" u="none">
                <a:solidFill>
                  <a:srgbClr val="D6B03D"/>
                </a:solidFill>
                <a:latin typeface="Glacial Indifference"/>
                <a:ea typeface="Glacial Indifference"/>
                <a:cs typeface="Glacial Indifference"/>
                <a:sym typeface="Glacial Indifference"/>
              </a:rPr>
              <a:t>ties must maintain employment </a:t>
            </a:r>
            <a:r>
              <a:rPr lang="en-US" sz="2700" strike="noStrike" u="none">
                <a:solidFill>
                  <a:srgbClr val="D6B03D"/>
                </a:solidFill>
                <a:latin typeface="Glacial Indifference"/>
                <a:ea typeface="Glacial Indifference"/>
                <a:cs typeface="Glacial Indifference"/>
                <a:sym typeface="Glacial Indifference"/>
              </a:rPr>
              <a:t>records, including automated-decision data, for a minimum of four years.</a:t>
            </a:r>
          </a:p>
          <a:p>
            <a:pPr algn="l" marL="582932" indent="-291466" lvl="1">
              <a:lnSpc>
                <a:spcPts val="3780"/>
              </a:lnSpc>
              <a:buFont typeface="Arial"/>
              <a:buChar char="•"/>
            </a:pPr>
            <a:r>
              <a:rPr lang="en-US" sz="2700" strike="noStrike" u="none">
                <a:solidFill>
                  <a:srgbClr val="D6B03D"/>
                </a:solidFill>
                <a:latin typeface="Glacial Indifference"/>
                <a:ea typeface="Glacial Indifference"/>
                <a:cs typeface="Glacial Indifference"/>
                <a:sym typeface="Glacial Indifference"/>
              </a:rPr>
              <a:t>Automated-decision sys</a:t>
            </a:r>
            <a:r>
              <a:rPr lang="en-US" sz="2700" strike="noStrike" u="none">
                <a:solidFill>
                  <a:srgbClr val="D6B03D"/>
                </a:solidFill>
                <a:latin typeface="Glacial Indifference"/>
                <a:ea typeface="Glacial Indifference"/>
                <a:cs typeface="Glacial Indifference"/>
                <a:sym typeface="Glacial Indifference"/>
              </a:rPr>
              <a:t>te</a:t>
            </a:r>
            <a:r>
              <a:rPr lang="en-US" sz="2700" strike="noStrike" u="none">
                <a:solidFill>
                  <a:srgbClr val="D6B03D"/>
                </a:solidFill>
                <a:latin typeface="Glacial Indifference"/>
                <a:ea typeface="Glacial Indifference"/>
                <a:cs typeface="Glacial Indifference"/>
                <a:sym typeface="Glacial Indifference"/>
              </a:rPr>
              <a:t>m</a:t>
            </a:r>
            <a:r>
              <a:rPr lang="en-US" sz="2700" strike="noStrike" u="none">
                <a:solidFill>
                  <a:srgbClr val="D6B03D"/>
                </a:solidFill>
                <a:latin typeface="Glacial Indifference"/>
                <a:ea typeface="Glacial Indifference"/>
                <a:cs typeface="Glacial Indifference"/>
                <a:sym typeface="Glacial Indifference"/>
              </a:rPr>
              <a:t> assessmen</a:t>
            </a:r>
            <a:r>
              <a:rPr lang="en-US" sz="2700" strike="noStrike" u="none">
                <a:solidFill>
                  <a:srgbClr val="D6B03D"/>
                </a:solidFill>
                <a:latin typeface="Glacial Indifference"/>
                <a:ea typeface="Glacial Indifference"/>
                <a:cs typeface="Glacial Indifference"/>
                <a:sym typeface="Glacial Indifference"/>
              </a:rPr>
              <a:t>t</a:t>
            </a:r>
            <a:r>
              <a:rPr lang="en-US" sz="2700" strike="noStrike" u="none">
                <a:solidFill>
                  <a:srgbClr val="D6B03D"/>
                </a:solidFill>
                <a:latin typeface="Glacial Indifference"/>
                <a:ea typeface="Glacial Indifference"/>
                <a:cs typeface="Glacial Indifference"/>
                <a:sym typeface="Glacial Indifference"/>
              </a:rPr>
              <a:t>s</a:t>
            </a:r>
            <a:r>
              <a:rPr lang="en-US" sz="2700" strike="noStrike" u="none">
                <a:solidFill>
                  <a:srgbClr val="D6B03D"/>
                </a:solidFill>
                <a:latin typeface="Glacial Indifference"/>
                <a:ea typeface="Glacial Indifference"/>
                <a:cs typeface="Glacial Indifference"/>
                <a:sym typeface="Glacial Indifference"/>
              </a:rPr>
              <a:t>, </a:t>
            </a:r>
            <a:r>
              <a:rPr lang="en-US" sz="2700" strike="noStrike" u="none">
                <a:solidFill>
                  <a:srgbClr val="D6B03D"/>
                </a:solidFill>
                <a:latin typeface="Glacial Indifference"/>
                <a:ea typeface="Glacial Indifference"/>
                <a:cs typeface="Glacial Indifference"/>
                <a:sym typeface="Glacial Indifference"/>
              </a:rPr>
              <a:t>including tests, questions, or puzzle games that elicit </a:t>
            </a:r>
            <a:r>
              <a:rPr lang="en-US" sz="2700" strike="noStrike" u="none">
                <a:solidFill>
                  <a:srgbClr val="D6B03D"/>
                </a:solidFill>
                <a:latin typeface="Glacial Indifference"/>
                <a:ea typeface="Glacial Indifference"/>
                <a:cs typeface="Glacial Indifference"/>
                <a:sym typeface="Glacial Indifference"/>
              </a:rPr>
              <a:t>i</a:t>
            </a:r>
            <a:r>
              <a:rPr lang="en-US" sz="2700" strike="noStrike" u="none">
                <a:solidFill>
                  <a:srgbClr val="D6B03D"/>
                </a:solidFill>
                <a:latin typeface="Glacial Indifference"/>
                <a:ea typeface="Glacial Indifference"/>
                <a:cs typeface="Glacial Indifference"/>
                <a:sym typeface="Glacial Indifference"/>
              </a:rPr>
              <a:t>n</a:t>
            </a:r>
            <a:r>
              <a:rPr lang="en-US" sz="2700" strike="noStrike" u="none">
                <a:solidFill>
                  <a:srgbClr val="D6B03D"/>
                </a:solidFill>
                <a:latin typeface="Glacial Indifference"/>
                <a:ea typeface="Glacial Indifference"/>
                <a:cs typeface="Glacial Indifference"/>
                <a:sym typeface="Glacial Indifference"/>
              </a:rPr>
              <a:t>form</a:t>
            </a:r>
            <a:r>
              <a:rPr lang="en-US" sz="2700" strike="noStrike" u="none">
                <a:solidFill>
                  <a:srgbClr val="D6B03D"/>
                </a:solidFill>
                <a:latin typeface="Glacial Indifference"/>
                <a:ea typeface="Glacial Indifference"/>
                <a:cs typeface="Glacial Indifference"/>
                <a:sym typeface="Glacial Indifference"/>
              </a:rPr>
              <a:t>at</a:t>
            </a:r>
            <a:r>
              <a:rPr lang="en-US" sz="2700" strike="noStrike" u="none">
                <a:solidFill>
                  <a:srgbClr val="D6B03D"/>
                </a:solidFill>
                <a:latin typeface="Glacial Indifference"/>
                <a:ea typeface="Glacial Indifference"/>
                <a:cs typeface="Glacial Indifference"/>
                <a:sym typeface="Glacial Indifference"/>
              </a:rPr>
              <a:t>ion</a:t>
            </a:r>
            <a:r>
              <a:rPr lang="en-US" sz="2700" strike="noStrike" u="none">
                <a:solidFill>
                  <a:srgbClr val="D6B03D"/>
                </a:solidFill>
                <a:latin typeface="Glacial Indifference"/>
                <a:ea typeface="Glacial Indifference"/>
                <a:cs typeface="Glacial Indifference"/>
                <a:sym typeface="Glacial Indifference"/>
              </a:rPr>
              <a:t> about a disabil</a:t>
            </a:r>
            <a:r>
              <a:rPr lang="en-US" sz="2700" strike="noStrike" u="none">
                <a:solidFill>
                  <a:srgbClr val="D6B03D"/>
                </a:solidFill>
                <a:latin typeface="Glacial Indifference"/>
                <a:ea typeface="Glacial Indifference"/>
                <a:cs typeface="Glacial Indifference"/>
                <a:sym typeface="Glacial Indifference"/>
              </a:rPr>
              <a:t>ity, can</a:t>
            </a:r>
            <a:r>
              <a:rPr lang="en-US" sz="2700" strike="noStrike" u="none">
                <a:solidFill>
                  <a:srgbClr val="D6B03D"/>
                </a:solidFill>
                <a:latin typeface="Glacial Indifference"/>
                <a:ea typeface="Glacial Indifference"/>
                <a:cs typeface="Glacial Indifference"/>
                <a:sym typeface="Glacial Indifference"/>
              </a:rPr>
              <a:t> be </a:t>
            </a:r>
            <a:r>
              <a:rPr lang="en-US" sz="2700" strike="noStrike" u="none">
                <a:solidFill>
                  <a:srgbClr val="D6B03D"/>
                </a:solidFill>
                <a:latin typeface="Glacial Indifference"/>
                <a:ea typeface="Glacial Indifference"/>
                <a:cs typeface="Glacial Indifference"/>
                <a:sym typeface="Glacial Indifference"/>
              </a:rPr>
              <a:t>un</a:t>
            </a:r>
            <a:r>
              <a:rPr lang="en-US" sz="2700" strike="noStrike" u="none">
                <a:solidFill>
                  <a:srgbClr val="D6B03D"/>
                </a:solidFill>
                <a:latin typeface="Glacial Indifference"/>
                <a:ea typeface="Glacial Indifference"/>
                <a:cs typeface="Glacial Indifference"/>
                <a:sym typeface="Glacial Indifference"/>
              </a:rPr>
              <a:t>law</a:t>
            </a:r>
            <a:r>
              <a:rPr lang="en-US" sz="2700" strike="noStrike" u="none">
                <a:solidFill>
                  <a:srgbClr val="D6B03D"/>
                </a:solidFill>
                <a:latin typeface="Glacial Indifference"/>
                <a:ea typeface="Glacial Indifference"/>
                <a:cs typeface="Glacial Indifference"/>
                <a:sym typeface="Glacial Indifference"/>
              </a:rPr>
              <a:t>fu</a:t>
            </a:r>
            <a:r>
              <a:rPr lang="en-US" sz="2700" strike="noStrike" u="none">
                <a:solidFill>
                  <a:srgbClr val="D6B03D"/>
                </a:solidFill>
                <a:latin typeface="Glacial Indifference"/>
                <a:ea typeface="Glacial Indifference"/>
                <a:cs typeface="Glacial Indifference"/>
                <a:sym typeface="Glacial Indifference"/>
              </a:rPr>
              <a:t>l me</a:t>
            </a:r>
            <a:r>
              <a:rPr lang="en-US" sz="2700" strike="noStrike" u="none">
                <a:solidFill>
                  <a:srgbClr val="D6B03D"/>
                </a:solidFill>
                <a:latin typeface="Glacial Indifference"/>
                <a:ea typeface="Glacial Indifference"/>
                <a:cs typeface="Glacial Indifference"/>
                <a:sym typeface="Glacial Indifference"/>
              </a:rPr>
              <a:t>dic</a:t>
            </a:r>
            <a:r>
              <a:rPr lang="en-US" sz="2700" strike="noStrike" u="none">
                <a:solidFill>
                  <a:srgbClr val="D6B03D"/>
                </a:solidFill>
                <a:latin typeface="Glacial Indifference"/>
                <a:ea typeface="Glacial Indifference"/>
                <a:cs typeface="Glacial Indifference"/>
                <a:sym typeface="Glacial Indifference"/>
              </a:rPr>
              <a:t>al in</a:t>
            </a:r>
            <a:r>
              <a:rPr lang="en-US" sz="2700" strike="noStrike" u="none">
                <a:solidFill>
                  <a:srgbClr val="D6B03D"/>
                </a:solidFill>
                <a:latin typeface="Glacial Indifference"/>
                <a:ea typeface="Glacial Indifference"/>
                <a:cs typeface="Glacial Indifference"/>
                <a:sym typeface="Glacial Indifference"/>
              </a:rPr>
              <a:t>q</a:t>
            </a:r>
            <a:r>
              <a:rPr lang="en-US" sz="2700" strike="noStrike" u="none">
                <a:solidFill>
                  <a:srgbClr val="D6B03D"/>
                </a:solidFill>
                <a:latin typeface="Glacial Indifference"/>
                <a:ea typeface="Glacial Indifference"/>
                <a:cs typeface="Glacial Indifference"/>
                <a:sym typeface="Glacial Indifference"/>
              </a:rPr>
              <a:t>u</a:t>
            </a:r>
            <a:r>
              <a:rPr lang="en-US" sz="2700" strike="noStrike" u="none">
                <a:solidFill>
                  <a:srgbClr val="D6B03D"/>
                </a:solidFill>
                <a:latin typeface="Glacial Indifference"/>
                <a:ea typeface="Glacial Indifference"/>
                <a:cs typeface="Glacial Indifference"/>
                <a:sym typeface="Glacial Indifference"/>
              </a:rPr>
              <a:t>iries.</a:t>
            </a:r>
          </a:p>
        </p:txBody>
      </p:sp>
      <p:sp>
        <p:nvSpPr>
          <p:cNvPr name="TextBox 6" id="6"/>
          <p:cNvSpPr txBox="true"/>
          <p:nvPr/>
        </p:nvSpPr>
        <p:spPr>
          <a:xfrm rot="0">
            <a:off x="4345098" y="1948139"/>
            <a:ext cx="9597805" cy="1736090"/>
          </a:xfrm>
          <a:prstGeom prst="rect">
            <a:avLst/>
          </a:prstGeom>
        </p:spPr>
        <p:txBody>
          <a:bodyPr anchor="t" rtlCol="false" tIns="0" lIns="0" bIns="0" rIns="0">
            <a:spAutoFit/>
          </a:bodyPr>
          <a:lstStyle/>
          <a:p>
            <a:pPr algn="ctr" marL="0" indent="0" lvl="1">
              <a:lnSpc>
                <a:spcPts val="4479"/>
              </a:lnSpc>
              <a:spcBef>
                <a:spcPct val="0"/>
              </a:spcBef>
            </a:pPr>
            <a:r>
              <a:rPr lang="en-US" sz="3999" spc="19">
                <a:solidFill>
                  <a:srgbClr val="D6B03D"/>
                </a:solidFill>
                <a:latin typeface="Maharlika"/>
                <a:ea typeface="Maharlika"/>
                <a:cs typeface="Maharlika"/>
                <a:sym typeface="Maharlika"/>
              </a:rPr>
              <a:t>AI &amp; Automated Decision-Making (OAL Matter No. 2025-0515-01 (June 27, 2025))</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635126" y="1028700"/>
            <a:ext cx="17017748" cy="8398705"/>
            <a:chOff x="0" y="0"/>
            <a:chExt cx="3448001" cy="1701679"/>
          </a:xfrm>
        </p:grpSpPr>
        <p:sp>
          <p:nvSpPr>
            <p:cNvPr name="Freeform 3" id="3"/>
            <p:cNvSpPr/>
            <p:nvPr/>
          </p:nvSpPr>
          <p:spPr>
            <a:xfrm flipH="false" flipV="false" rot="0">
              <a:off x="0" y="0"/>
              <a:ext cx="3448001" cy="1701679"/>
            </a:xfrm>
            <a:custGeom>
              <a:avLst/>
              <a:gdLst/>
              <a:ahLst/>
              <a:cxnLst/>
              <a:rect r="r" b="b" t="t" l="l"/>
              <a:pathLst>
                <a:path h="1701679" w="3448001">
                  <a:moveTo>
                    <a:pt x="3368583" y="0"/>
                  </a:moveTo>
                  <a:lnTo>
                    <a:pt x="79418" y="0"/>
                  </a:lnTo>
                  <a:cubicBezTo>
                    <a:pt x="79418" y="43699"/>
                    <a:pt x="44079" y="79418"/>
                    <a:pt x="0" y="79418"/>
                  </a:cubicBezTo>
                  <a:lnTo>
                    <a:pt x="0" y="1622261"/>
                  </a:lnTo>
                  <a:cubicBezTo>
                    <a:pt x="43699" y="1622261"/>
                    <a:pt x="79418" y="1657600"/>
                    <a:pt x="79418" y="1701679"/>
                  </a:cubicBezTo>
                  <a:lnTo>
                    <a:pt x="3368583" y="1701679"/>
                  </a:lnTo>
                  <a:cubicBezTo>
                    <a:pt x="3368583" y="1657980"/>
                    <a:pt x="3403922" y="1622261"/>
                    <a:pt x="3448001" y="1622261"/>
                  </a:cubicBezTo>
                  <a:lnTo>
                    <a:pt x="3448001" y="79418"/>
                  </a:lnTo>
                  <a:cubicBezTo>
                    <a:pt x="3404302" y="79418"/>
                    <a:pt x="3368583" y="44079"/>
                    <a:pt x="3368583" y="0"/>
                  </a:cubicBezTo>
                  <a:close/>
                </a:path>
              </a:pathLst>
            </a:custGeom>
            <a:ln w="28575" cap="sq">
              <a:solidFill>
                <a:srgbClr val="D6B03D"/>
              </a:solidFill>
              <a:prstDash val="solid"/>
              <a:miter/>
            </a:ln>
          </p:spPr>
        </p:sp>
        <p:sp>
          <p:nvSpPr>
            <p:cNvPr name="TextBox 4" id="4"/>
            <p:cNvSpPr txBox="true"/>
            <p:nvPr/>
          </p:nvSpPr>
          <p:spPr>
            <a:xfrm>
              <a:off x="38100" y="-114300"/>
              <a:ext cx="3371801" cy="1777879"/>
            </a:xfrm>
            <a:prstGeom prst="rect">
              <a:avLst/>
            </a:prstGeom>
          </p:spPr>
          <p:txBody>
            <a:bodyPr anchor="ctr" rtlCol="false" tIns="50800" lIns="50800" bIns="50800" rIns="50800"/>
            <a:lstStyle/>
            <a:p>
              <a:pPr algn="ctr" marL="0" indent="0" lvl="0">
                <a:lnSpc>
                  <a:spcPts val="4697"/>
                </a:lnSpc>
                <a:spcBef>
                  <a:spcPct val="0"/>
                </a:spcBef>
              </a:pPr>
            </a:p>
          </p:txBody>
        </p:sp>
      </p:grpSp>
      <p:sp>
        <p:nvSpPr>
          <p:cNvPr name="TextBox 5" id="5"/>
          <p:cNvSpPr txBox="true"/>
          <p:nvPr/>
        </p:nvSpPr>
        <p:spPr>
          <a:xfrm rot="0">
            <a:off x="4345098" y="1245142"/>
            <a:ext cx="9597805" cy="2184400"/>
          </a:xfrm>
          <a:prstGeom prst="rect">
            <a:avLst/>
          </a:prstGeom>
        </p:spPr>
        <p:txBody>
          <a:bodyPr anchor="t" rtlCol="false" tIns="0" lIns="0" bIns="0" rIns="0">
            <a:spAutoFit/>
          </a:bodyPr>
          <a:lstStyle/>
          <a:p>
            <a:pPr algn="ctr" marL="0" indent="0" lvl="1">
              <a:lnSpc>
                <a:spcPts val="5600"/>
              </a:lnSpc>
              <a:spcBef>
                <a:spcPct val="0"/>
              </a:spcBef>
            </a:pPr>
            <a:r>
              <a:rPr lang="en-US" sz="5000" spc="25">
                <a:solidFill>
                  <a:srgbClr val="D6B03D"/>
                </a:solidFill>
                <a:latin typeface="Maharlika"/>
                <a:ea typeface="Maharlika"/>
                <a:cs typeface="Maharlika"/>
                <a:sym typeface="Maharlika"/>
              </a:rPr>
              <a:t>AI &amp; Automated Decision-Making (Conn. Pub. Act No. 26-15 (2026))</a:t>
            </a:r>
          </a:p>
        </p:txBody>
      </p:sp>
      <p:sp>
        <p:nvSpPr>
          <p:cNvPr name="TextBox 6" id="6"/>
          <p:cNvSpPr txBox="true"/>
          <p:nvPr/>
        </p:nvSpPr>
        <p:spPr>
          <a:xfrm rot="0">
            <a:off x="4345098" y="3381917"/>
            <a:ext cx="9597805" cy="5457829"/>
          </a:xfrm>
          <a:prstGeom prst="rect">
            <a:avLst/>
          </a:prstGeom>
        </p:spPr>
        <p:txBody>
          <a:bodyPr anchor="t" rtlCol="false" tIns="0" lIns="0" bIns="0" rIns="0">
            <a:spAutoFit/>
          </a:bodyPr>
          <a:lstStyle/>
          <a:p>
            <a:pPr algn="l">
              <a:lnSpc>
                <a:spcPts val="3149"/>
              </a:lnSpc>
            </a:pPr>
            <a:r>
              <a:rPr lang="en-US" sz="2249">
                <a:solidFill>
                  <a:srgbClr val="D6B03D"/>
                </a:solidFill>
                <a:latin typeface="Glacial Indifference"/>
                <a:ea typeface="Glacial Indifference"/>
                <a:cs typeface="Glacial Indifference"/>
                <a:sym typeface="Glacial Indifference"/>
              </a:rPr>
              <a:t>Under the Connecticut Artificial Intelligence Responsibility and Transparency Act: </a:t>
            </a:r>
          </a:p>
          <a:p>
            <a:pPr algn="l" marL="485744" indent="-242872" lvl="1">
              <a:lnSpc>
                <a:spcPts val="3149"/>
              </a:lnSpc>
              <a:buFont typeface="Arial"/>
              <a:buChar char="•"/>
            </a:pPr>
            <a:r>
              <a:rPr lang="en-US" sz="2249">
                <a:solidFill>
                  <a:srgbClr val="D6B03D"/>
                </a:solidFill>
                <a:latin typeface="Glacial Indifference"/>
                <a:ea typeface="Glacial Indifference"/>
                <a:cs typeface="Glacial Indifference"/>
                <a:sym typeface="Glacial Indifference"/>
              </a:rPr>
              <a:t>Entities that use a</a:t>
            </a:r>
            <a:r>
              <a:rPr lang="en-US" sz="2249" strike="noStrike" u="none">
                <a:solidFill>
                  <a:srgbClr val="D6B03D"/>
                </a:solidFill>
                <a:latin typeface="Glacial Indifference"/>
                <a:ea typeface="Glacial Indifference"/>
                <a:cs typeface="Glacial Indifference"/>
                <a:sym typeface="Glacial Indifference"/>
              </a:rPr>
              <a:t>u</a:t>
            </a:r>
            <a:r>
              <a:rPr lang="en-US" sz="2249" strike="noStrike" u="none">
                <a:solidFill>
                  <a:srgbClr val="D6B03D"/>
                </a:solidFill>
                <a:latin typeface="Glacial Indifference"/>
                <a:ea typeface="Glacial Indifference"/>
                <a:cs typeface="Glacial Indifference"/>
                <a:sym typeface="Glacial Indifference"/>
              </a:rPr>
              <a:t>tomat</a:t>
            </a:r>
            <a:r>
              <a:rPr lang="en-US" sz="2249" strike="noStrike" u="none">
                <a:solidFill>
                  <a:srgbClr val="D6B03D"/>
                </a:solidFill>
                <a:latin typeface="Glacial Indifference"/>
                <a:ea typeface="Glacial Indifference"/>
                <a:cs typeface="Glacial Indifference"/>
                <a:sym typeface="Glacial Indifference"/>
              </a:rPr>
              <a:t>e</a:t>
            </a:r>
            <a:r>
              <a:rPr lang="en-US" sz="2249" strike="noStrike" u="none">
                <a:solidFill>
                  <a:srgbClr val="D6B03D"/>
                </a:solidFill>
                <a:latin typeface="Glacial Indifference"/>
                <a:ea typeface="Glacial Indifference"/>
                <a:cs typeface="Glacial Indifference"/>
                <a:sym typeface="Glacial Indifference"/>
              </a:rPr>
              <a:t>d</a:t>
            </a:r>
            <a:r>
              <a:rPr lang="en-US" sz="2249" strike="noStrike" u="none">
                <a:solidFill>
                  <a:srgbClr val="D6B03D"/>
                </a:solidFill>
                <a:latin typeface="Glacial Indifference"/>
                <a:ea typeface="Glacial Indifference"/>
                <a:cs typeface="Glacial Indifference"/>
                <a:sym typeface="Glacial Indifference"/>
              </a:rPr>
              <a:t> </a:t>
            </a:r>
            <a:r>
              <a:rPr lang="en-US" sz="2249" strike="noStrike" u="none">
                <a:solidFill>
                  <a:srgbClr val="D6B03D"/>
                </a:solidFill>
                <a:latin typeface="Glacial Indifference"/>
                <a:ea typeface="Glacial Indifference"/>
                <a:cs typeface="Glacial Indifference"/>
                <a:sym typeface="Glacial Indifference"/>
              </a:rPr>
              <a:t>empl</a:t>
            </a:r>
            <a:r>
              <a:rPr lang="en-US" sz="2249" strike="noStrike" u="none">
                <a:solidFill>
                  <a:srgbClr val="D6B03D"/>
                </a:solidFill>
                <a:latin typeface="Glacial Indifference"/>
                <a:ea typeface="Glacial Indifference"/>
                <a:cs typeface="Glacial Indifference"/>
                <a:sym typeface="Glacial Indifference"/>
              </a:rPr>
              <a:t>o</a:t>
            </a:r>
            <a:r>
              <a:rPr lang="en-US" sz="2249" strike="noStrike" u="none">
                <a:solidFill>
                  <a:srgbClr val="D6B03D"/>
                </a:solidFill>
                <a:latin typeface="Glacial Indifference"/>
                <a:ea typeface="Glacial Indifference"/>
                <a:cs typeface="Glacial Indifference"/>
                <a:sym typeface="Glacial Indifference"/>
              </a:rPr>
              <a:t>yme</a:t>
            </a:r>
            <a:r>
              <a:rPr lang="en-US" sz="2249" strike="noStrike" u="none">
                <a:solidFill>
                  <a:srgbClr val="D6B03D"/>
                </a:solidFill>
                <a:latin typeface="Glacial Indifference"/>
                <a:ea typeface="Glacial Indifference"/>
                <a:cs typeface="Glacial Indifference"/>
                <a:sym typeface="Glacial Indifference"/>
              </a:rPr>
              <a:t>nt</a:t>
            </a:r>
            <a:r>
              <a:rPr lang="en-US" sz="2249" strike="noStrike" u="none">
                <a:solidFill>
                  <a:srgbClr val="D6B03D"/>
                </a:solidFill>
                <a:latin typeface="Glacial Indifference"/>
                <a:ea typeface="Glacial Indifference"/>
                <a:cs typeface="Glacial Indifference"/>
                <a:sym typeface="Glacial Indifference"/>
              </a:rPr>
              <a:t>-rel</a:t>
            </a:r>
            <a:r>
              <a:rPr lang="en-US" sz="2249" strike="noStrike" u="none">
                <a:solidFill>
                  <a:srgbClr val="D6B03D"/>
                </a:solidFill>
                <a:latin typeface="Glacial Indifference"/>
                <a:ea typeface="Glacial Indifference"/>
                <a:cs typeface="Glacial Indifference"/>
                <a:sym typeface="Glacial Indifference"/>
              </a:rPr>
              <a:t>ated decision technologies that are intended to interact with employees or applicants must disclose it in plain language except for when it is “obvious” that the employee or applicant is interacting with AI or an automated decision-making technology.</a:t>
            </a:r>
          </a:p>
          <a:p>
            <a:pPr algn="l" marL="485744" indent="-242872" lvl="1">
              <a:lnSpc>
                <a:spcPts val="3149"/>
              </a:lnSpc>
              <a:buFont typeface="Arial"/>
              <a:buChar char="•"/>
            </a:pPr>
            <a:r>
              <a:rPr lang="en-US" sz="2249" strike="noStrike" u="none">
                <a:solidFill>
                  <a:srgbClr val="D6B03D"/>
                </a:solidFill>
                <a:latin typeface="Glacial Indifference"/>
                <a:ea typeface="Glacial Indifference"/>
                <a:cs typeface="Glacial Indifference"/>
                <a:sym typeface="Glacial Indifference"/>
              </a:rPr>
              <a:t>Entities that use automated employment-related decision technology to generate any output for the purpose of making decisions, or as a substantial factor in making an employment-related decision concerning the employee or the applicant must provide written notice disclosing the purpose, categories, and sources.</a:t>
            </a:r>
          </a:p>
          <a:p>
            <a:pPr algn="l" marL="485744" indent="-242872" lvl="1">
              <a:lnSpc>
                <a:spcPts val="3149"/>
              </a:lnSpc>
              <a:buFont typeface="Arial"/>
              <a:buChar char="•"/>
            </a:pPr>
            <a:r>
              <a:rPr lang="en-US" sz="2249" strike="noStrike" u="none">
                <a:solidFill>
                  <a:srgbClr val="D6B03D"/>
                </a:solidFill>
                <a:latin typeface="Glacial Indifference"/>
                <a:ea typeface="Glacial Indifference"/>
                <a:cs typeface="Glacial Indifference"/>
                <a:sym typeface="Glacial Indifference"/>
              </a:rPr>
              <a:t>The use of an automated employment-related decision technology cannot be a defense against a complaint alleging a discriminatory practice.</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1395886" y="439745"/>
            <a:ext cx="9064542" cy="1541145"/>
          </a:xfrm>
          <a:prstGeom prst="rect">
            <a:avLst/>
          </a:prstGeom>
        </p:spPr>
        <p:txBody>
          <a:bodyPr anchor="t" rtlCol="false" tIns="0" lIns="0" bIns="0" rIns="0">
            <a:spAutoFit/>
          </a:bodyPr>
          <a:lstStyle/>
          <a:p>
            <a:pPr algn="l">
              <a:lnSpc>
                <a:spcPts val="5940"/>
              </a:lnSpc>
            </a:pPr>
            <a:r>
              <a:rPr lang="en-US" sz="4500" spc="22">
                <a:solidFill>
                  <a:srgbClr val="D6B03D"/>
                </a:solidFill>
                <a:latin typeface="Maharlika"/>
                <a:ea typeface="Maharlika"/>
                <a:cs typeface="Maharlika"/>
                <a:sym typeface="Maharlika"/>
              </a:rPr>
              <a:t>Washington My Health My Data Act</a:t>
            </a:r>
          </a:p>
        </p:txBody>
      </p:sp>
      <p:grpSp>
        <p:nvGrpSpPr>
          <p:cNvPr name="Group 3" id="3"/>
          <p:cNvGrpSpPr/>
          <p:nvPr/>
        </p:nvGrpSpPr>
        <p:grpSpPr>
          <a:xfrm rot="0">
            <a:off x="11356301" y="-182033"/>
            <a:ext cx="7171724" cy="10681049"/>
            <a:chOff x="0" y="0"/>
            <a:chExt cx="1672633" cy="2491098"/>
          </a:xfrm>
        </p:grpSpPr>
        <p:sp>
          <p:nvSpPr>
            <p:cNvPr name="Freeform 4" id="4"/>
            <p:cNvSpPr/>
            <p:nvPr/>
          </p:nvSpPr>
          <p:spPr>
            <a:xfrm flipH="false" flipV="false" rot="0">
              <a:off x="0" y="0"/>
              <a:ext cx="1672633" cy="2491098"/>
            </a:xfrm>
            <a:custGeom>
              <a:avLst/>
              <a:gdLst/>
              <a:ahLst/>
              <a:cxnLst/>
              <a:rect r="r" b="b" t="t" l="l"/>
              <a:pathLst>
                <a:path h="2491098" w="1672633">
                  <a:moveTo>
                    <a:pt x="0" y="0"/>
                  </a:moveTo>
                  <a:lnTo>
                    <a:pt x="1672633" y="0"/>
                  </a:lnTo>
                  <a:lnTo>
                    <a:pt x="1672633" y="2491098"/>
                  </a:lnTo>
                  <a:lnTo>
                    <a:pt x="0" y="2491098"/>
                  </a:lnTo>
                  <a:close/>
                </a:path>
              </a:pathLst>
            </a:custGeom>
            <a:blipFill>
              <a:blip r:embed="rId2"/>
              <a:stretch>
                <a:fillRect l="-75782" t="0" r="-47616" b="0"/>
              </a:stretch>
            </a:blipFill>
            <a:ln w="38100" cap="sq">
              <a:solidFill>
                <a:srgbClr val="D6B03D"/>
              </a:solidFill>
              <a:prstDash val="solid"/>
              <a:miter/>
            </a:ln>
          </p:spPr>
        </p:sp>
      </p:grpSp>
      <p:sp>
        <p:nvSpPr>
          <p:cNvPr name="TextBox 5" id="5"/>
          <p:cNvSpPr txBox="true"/>
          <p:nvPr/>
        </p:nvSpPr>
        <p:spPr>
          <a:xfrm rot="0">
            <a:off x="1028700" y="1923740"/>
            <a:ext cx="9826401" cy="7763510"/>
          </a:xfrm>
          <a:prstGeom prst="rect">
            <a:avLst/>
          </a:prstGeom>
        </p:spPr>
        <p:txBody>
          <a:bodyPr anchor="t" rtlCol="false" tIns="0" lIns="0" bIns="0" rIns="0">
            <a:spAutoFit/>
          </a:bodyPr>
          <a:lstStyle/>
          <a:p>
            <a:pPr algn="l" marL="561337" indent="-280669" lvl="1">
              <a:lnSpc>
                <a:spcPts val="3639"/>
              </a:lnSpc>
              <a:buFont typeface="Arial"/>
              <a:buChar char="•"/>
            </a:pPr>
            <a:r>
              <a:rPr lang="en-US" sz="2599">
                <a:solidFill>
                  <a:srgbClr val="D6B03D"/>
                </a:solidFill>
                <a:latin typeface="Glacial Indifference"/>
                <a:ea typeface="Glacial Indifference"/>
                <a:cs typeface="Glacial Indifference"/>
                <a:sym typeface="Glacial Indifference"/>
              </a:rPr>
              <a:t>Washington citizens view privacy as a fundamental right and an </a:t>
            </a:r>
            <a:r>
              <a:rPr lang="en-US" sz="2599">
                <a:solidFill>
                  <a:srgbClr val="D6B03D"/>
                </a:solidFill>
                <a:latin typeface="Glacial Indifference"/>
                <a:ea typeface="Glacial Indifference"/>
                <a:cs typeface="Glacial Indifference"/>
                <a:sym typeface="Glacial Indifference"/>
              </a:rPr>
              <a:t>essential element of their individual freedom.</a:t>
            </a:r>
          </a:p>
          <a:p>
            <a:pPr algn="l" marL="561337" indent="-280669" lvl="1">
              <a:lnSpc>
                <a:spcPts val="3639"/>
              </a:lnSpc>
              <a:buFont typeface="Arial"/>
              <a:buChar char="•"/>
            </a:pPr>
            <a:r>
              <a:rPr lang="en-US" sz="2599">
                <a:solidFill>
                  <a:srgbClr val="D6B03D"/>
                </a:solidFill>
                <a:latin typeface="Glacial Indifference"/>
                <a:ea typeface="Glacial Indifference"/>
                <a:cs typeface="Glacial Indifference"/>
                <a:sym typeface="Glacial Indifference"/>
              </a:rPr>
              <a:t>Information related to an individual's health conditions or attempts to obtain health care services is among the most personal and sensitive categories of data collected.</a:t>
            </a:r>
          </a:p>
          <a:p>
            <a:pPr algn="l" marL="561337" indent="-280669" lvl="1">
              <a:lnSpc>
                <a:spcPts val="3639"/>
              </a:lnSpc>
              <a:buFont typeface="Arial"/>
              <a:buChar char="•"/>
            </a:pPr>
            <a:r>
              <a:rPr lang="en-US" sz="2599">
                <a:solidFill>
                  <a:srgbClr val="D6B03D"/>
                </a:solidFill>
                <a:latin typeface="Glacial Indifference"/>
                <a:ea typeface="Glacial Indifference"/>
                <a:cs typeface="Glacial Indifference"/>
                <a:sym typeface="Glacial Indifference"/>
              </a:rPr>
              <a:t>HIPAA has a gap in coverage because it only covers health data collected by specific health care entities.</a:t>
            </a:r>
          </a:p>
          <a:p>
            <a:pPr algn="l" marL="561337" indent="-280669" lvl="1">
              <a:lnSpc>
                <a:spcPts val="3639"/>
              </a:lnSpc>
              <a:buFont typeface="Arial"/>
              <a:buChar char="•"/>
            </a:pPr>
            <a:r>
              <a:rPr lang="en-US" sz="2599">
                <a:solidFill>
                  <a:srgbClr val="D6B03D"/>
                </a:solidFill>
                <a:latin typeface="Glacial Indifference"/>
                <a:ea typeface="Glacial Indifference"/>
                <a:cs typeface="Glacial Indifference"/>
                <a:sym typeface="Glacial Indifference"/>
              </a:rPr>
              <a:t>This act seeks to protect health data collected by non-covered entities like wellness apps.</a:t>
            </a:r>
          </a:p>
          <a:p>
            <a:pPr algn="l" marL="561337" indent="-280669" lvl="1">
              <a:lnSpc>
                <a:spcPts val="3639"/>
              </a:lnSpc>
              <a:buFont typeface="Arial"/>
              <a:buChar char="•"/>
            </a:pPr>
            <a:r>
              <a:rPr lang="en-US" sz="2599">
                <a:solidFill>
                  <a:srgbClr val="D6B03D"/>
                </a:solidFill>
                <a:latin typeface="Glacial Indifference"/>
                <a:ea typeface="Glacial Indifference"/>
                <a:cs typeface="Glacial Indifference"/>
                <a:sym typeface="Glacial Indifference"/>
              </a:rPr>
              <a:t>Requires additional disclosures and consumer consent regarding the collection, sharing, and use of such information</a:t>
            </a:r>
          </a:p>
          <a:p>
            <a:pPr algn="l" marL="561337" indent="-280669" lvl="1">
              <a:lnSpc>
                <a:spcPts val="3639"/>
              </a:lnSpc>
              <a:buFont typeface="Arial"/>
              <a:buChar char="•"/>
            </a:pPr>
            <a:r>
              <a:rPr lang="en-US" sz="2599">
                <a:solidFill>
                  <a:srgbClr val="D6B03D"/>
                </a:solidFill>
                <a:latin typeface="Glacial Indifference"/>
                <a:ea typeface="Glacial Indifference"/>
                <a:cs typeface="Glacial Indifference"/>
                <a:sym typeface="Glacial Indifference"/>
              </a:rPr>
              <a:t>Requires the right to have their health data deleted</a:t>
            </a:r>
          </a:p>
          <a:p>
            <a:pPr algn="l" marL="561337" indent="-280669" lvl="1">
              <a:lnSpc>
                <a:spcPts val="3639"/>
              </a:lnSpc>
              <a:buFont typeface="Arial"/>
              <a:buChar char="•"/>
            </a:pPr>
            <a:r>
              <a:rPr lang="en-US" sz="2599">
                <a:solidFill>
                  <a:srgbClr val="D6B03D"/>
                </a:solidFill>
                <a:latin typeface="Glacial Indifference"/>
                <a:ea typeface="Glacial Indifference"/>
                <a:cs typeface="Glacial Indifference"/>
                <a:sym typeface="Glacial Indifference"/>
              </a:rPr>
              <a:t>Prohibits the selling of consumer health data without valid authorization signed by the consumer</a:t>
            </a:r>
          </a:p>
          <a:p>
            <a:pPr algn="l" marL="561337" indent="-280669" lvl="1">
              <a:lnSpc>
                <a:spcPts val="3639"/>
              </a:lnSpc>
              <a:buFont typeface="Arial"/>
              <a:buChar char="•"/>
            </a:pPr>
            <a:r>
              <a:rPr lang="en-US" sz="2599">
                <a:solidFill>
                  <a:srgbClr val="D6B03D"/>
                </a:solidFill>
                <a:latin typeface="Glacial Indifference"/>
                <a:ea typeface="Glacial Indifference"/>
                <a:cs typeface="Glacial Indifference"/>
                <a:sym typeface="Glacial Indifference"/>
              </a:rPr>
              <a:t>Prohibits utilizing a geofence around a facility that provides health care services</a:t>
            </a:r>
          </a:p>
          <a:p>
            <a:pPr algn="l">
              <a:lnSpc>
                <a:spcPts val="3639"/>
              </a:lnSpc>
            </a:pPr>
            <a:r>
              <a:rPr lang="en-US" sz="2599">
                <a:solidFill>
                  <a:srgbClr val="D6B03D"/>
                </a:solidFill>
                <a:latin typeface="Glacial Indifference"/>
                <a:ea typeface="Glacial Indifference"/>
                <a:cs typeface="Glacial Indifference"/>
                <a:sym typeface="Glacial Indifference"/>
              </a:rPr>
              <a:t>(Wash. Rev. Code §§ 19.373.005–19.373.900)</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1395886" y="439745"/>
            <a:ext cx="9064542" cy="788670"/>
          </a:xfrm>
          <a:prstGeom prst="rect">
            <a:avLst/>
          </a:prstGeom>
        </p:spPr>
        <p:txBody>
          <a:bodyPr anchor="t" rtlCol="false" tIns="0" lIns="0" bIns="0" rIns="0">
            <a:spAutoFit/>
          </a:bodyPr>
          <a:lstStyle/>
          <a:p>
            <a:pPr algn="l">
              <a:lnSpc>
                <a:spcPts val="5940"/>
              </a:lnSpc>
            </a:pPr>
            <a:r>
              <a:rPr lang="en-US" sz="4500" spc="22">
                <a:solidFill>
                  <a:srgbClr val="D6B03D"/>
                </a:solidFill>
                <a:latin typeface="Maharlika"/>
                <a:ea typeface="Maharlika"/>
                <a:cs typeface="Maharlika"/>
                <a:sym typeface="Maharlika"/>
              </a:rPr>
              <a:t>R</a:t>
            </a:r>
            <a:r>
              <a:rPr lang="en-US" sz="4500" spc="22">
                <a:solidFill>
                  <a:srgbClr val="D6B03D"/>
                </a:solidFill>
                <a:latin typeface="Maharlika"/>
                <a:ea typeface="Maharlika"/>
                <a:cs typeface="Maharlika"/>
                <a:sym typeface="Maharlika"/>
              </a:rPr>
              <a:t>hode Island Senate Bill 2197</a:t>
            </a:r>
          </a:p>
        </p:txBody>
      </p:sp>
      <p:grpSp>
        <p:nvGrpSpPr>
          <p:cNvPr name="Group 3" id="3"/>
          <p:cNvGrpSpPr/>
          <p:nvPr/>
        </p:nvGrpSpPr>
        <p:grpSpPr>
          <a:xfrm rot="0">
            <a:off x="11356301" y="-182033"/>
            <a:ext cx="7171724" cy="10681049"/>
            <a:chOff x="0" y="0"/>
            <a:chExt cx="1672633" cy="2491098"/>
          </a:xfrm>
        </p:grpSpPr>
        <p:sp>
          <p:nvSpPr>
            <p:cNvPr name="Freeform 4" id="4"/>
            <p:cNvSpPr/>
            <p:nvPr/>
          </p:nvSpPr>
          <p:spPr>
            <a:xfrm flipH="false" flipV="false" rot="0">
              <a:off x="0" y="0"/>
              <a:ext cx="1672633" cy="2491098"/>
            </a:xfrm>
            <a:custGeom>
              <a:avLst/>
              <a:gdLst/>
              <a:ahLst/>
              <a:cxnLst/>
              <a:rect r="r" b="b" t="t" l="l"/>
              <a:pathLst>
                <a:path h="2491098" w="1672633">
                  <a:moveTo>
                    <a:pt x="0" y="0"/>
                  </a:moveTo>
                  <a:lnTo>
                    <a:pt x="1672633" y="0"/>
                  </a:lnTo>
                  <a:lnTo>
                    <a:pt x="1672633" y="2491098"/>
                  </a:lnTo>
                  <a:lnTo>
                    <a:pt x="0" y="2491098"/>
                  </a:lnTo>
                  <a:close/>
                </a:path>
              </a:pathLst>
            </a:custGeom>
            <a:blipFill>
              <a:blip r:embed="rId2"/>
              <a:stretch>
                <a:fillRect l="-75782" t="0" r="-47616" b="0"/>
              </a:stretch>
            </a:blipFill>
            <a:ln w="38100" cap="sq">
              <a:solidFill>
                <a:srgbClr val="D6B03D"/>
              </a:solidFill>
              <a:prstDash val="solid"/>
              <a:miter/>
            </a:ln>
          </p:spPr>
        </p:sp>
      </p:grpSp>
      <p:sp>
        <p:nvSpPr>
          <p:cNvPr name="TextBox 5" id="5"/>
          <p:cNvSpPr txBox="true"/>
          <p:nvPr/>
        </p:nvSpPr>
        <p:spPr>
          <a:xfrm rot="0">
            <a:off x="1546611" y="1327261"/>
            <a:ext cx="9459215" cy="7839076"/>
          </a:xfrm>
          <a:prstGeom prst="rect">
            <a:avLst/>
          </a:prstGeom>
        </p:spPr>
        <p:txBody>
          <a:bodyPr anchor="t" rtlCol="false" tIns="0" lIns="0" bIns="0" rIns="0">
            <a:spAutoFit/>
          </a:bodyPr>
          <a:lstStyle/>
          <a:p>
            <a:pPr algn="l" marL="647695" indent="-323848" lvl="1">
              <a:lnSpc>
                <a:spcPts val="4199"/>
              </a:lnSpc>
              <a:buFont typeface="Arial"/>
              <a:buChar char="•"/>
            </a:pPr>
            <a:r>
              <a:rPr lang="en-US" sz="2999">
                <a:solidFill>
                  <a:srgbClr val="D6B03D"/>
                </a:solidFill>
                <a:latin typeface="Glacial Indifference"/>
                <a:ea typeface="Glacial Indifference"/>
                <a:cs typeface="Glacial Indifference"/>
                <a:sym typeface="Glacial Indifference"/>
              </a:rPr>
              <a:t>R</a:t>
            </a:r>
            <a:r>
              <a:rPr lang="en-US" sz="2999">
                <a:solidFill>
                  <a:srgbClr val="D6B03D"/>
                </a:solidFill>
                <a:latin typeface="Glacial Indifference"/>
                <a:ea typeface="Glacial Indifference"/>
                <a:cs typeface="Glacial Indifference"/>
                <a:sym typeface="Glacial Indifference"/>
              </a:rPr>
              <a:t>equires the patient or th</a:t>
            </a:r>
            <a:r>
              <a:rPr lang="en-US" sz="2999">
                <a:solidFill>
                  <a:srgbClr val="D6B03D"/>
                </a:solidFill>
                <a:latin typeface="Glacial Indifference"/>
                <a:ea typeface="Glacial Indifference"/>
                <a:cs typeface="Glacial Indifference"/>
                <a:sym typeface="Glacial Indifference"/>
              </a:rPr>
              <a:t>eir parent/guardian’s fully informed co</a:t>
            </a:r>
            <a:r>
              <a:rPr lang="en-US" sz="2999">
                <a:solidFill>
                  <a:srgbClr val="D6B03D"/>
                </a:solidFill>
                <a:latin typeface="Glacial Indifference"/>
                <a:ea typeface="Glacial Indifference"/>
                <a:cs typeface="Glacial Indifference"/>
                <a:sym typeface="Glacial Indifference"/>
              </a:rPr>
              <a:t>nsent before AI companion models can be used to assist in therapy or psychotherapy sessions</a:t>
            </a:r>
          </a:p>
          <a:p>
            <a:pPr algn="l" marL="647695" indent="-323848" lvl="1">
              <a:lnSpc>
                <a:spcPts val="4199"/>
              </a:lnSpc>
              <a:buFont typeface="Arial"/>
              <a:buChar char="•"/>
            </a:pPr>
            <a:r>
              <a:rPr lang="en-US" sz="2999">
                <a:solidFill>
                  <a:srgbClr val="D6B03D"/>
                </a:solidFill>
                <a:latin typeface="Glacial Indifference"/>
                <a:ea typeface="Glacial Indifference"/>
                <a:cs typeface="Glacial Indifference"/>
                <a:sym typeface="Glacial Indifference"/>
              </a:rPr>
              <a:t>Ensures that licensed mental health professionals, not AI, are always the ones making therapeutic decisions, determining therapeutic recommendations, and creating treatment plans</a:t>
            </a:r>
          </a:p>
          <a:p>
            <a:pPr algn="l" marL="647695" indent="-323848" lvl="1">
              <a:lnSpc>
                <a:spcPts val="4199"/>
              </a:lnSpc>
              <a:buFont typeface="Arial"/>
              <a:buChar char="•"/>
            </a:pPr>
            <a:r>
              <a:rPr lang="en-US" sz="2999">
                <a:solidFill>
                  <a:srgbClr val="D6B03D"/>
                </a:solidFill>
                <a:latin typeface="Glacial Indifference"/>
                <a:ea typeface="Glacial Indifference"/>
                <a:cs typeface="Glacial Indifference"/>
                <a:sym typeface="Glacial Indifference"/>
              </a:rPr>
              <a:t>Ensures that AI tools used in mental healthcare including those assisting in administrative tasks, note-taking, supplementary support, and therapeutic communication meet the same confidentiality standards that currently apply to all records and communications kept by licensed mental health professionals</a:t>
            </a:r>
          </a:p>
          <a:p>
            <a:pPr algn="l">
              <a:lnSpc>
                <a:spcPts val="4199"/>
              </a:lnSpc>
            </a:pPr>
            <a:r>
              <a:rPr lang="en-US" sz="2999">
                <a:solidFill>
                  <a:srgbClr val="D6B03D"/>
                </a:solidFill>
                <a:latin typeface="Glacial Indifference"/>
                <a:ea typeface="Glacial Indifference"/>
                <a:cs typeface="Glacial Indifference"/>
                <a:sym typeface="Glacial Indifference"/>
              </a:rPr>
              <a:t>(S. 2197, Gen. Assemb., Reg. Sess. (R.I. 2026))</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1395886" y="439745"/>
            <a:ext cx="9064542" cy="788670"/>
          </a:xfrm>
          <a:prstGeom prst="rect">
            <a:avLst/>
          </a:prstGeom>
        </p:spPr>
        <p:txBody>
          <a:bodyPr anchor="t" rtlCol="false" tIns="0" lIns="0" bIns="0" rIns="0">
            <a:spAutoFit/>
          </a:bodyPr>
          <a:lstStyle/>
          <a:p>
            <a:pPr algn="l">
              <a:lnSpc>
                <a:spcPts val="5940"/>
              </a:lnSpc>
            </a:pPr>
            <a:r>
              <a:rPr lang="en-US" sz="4500" spc="22">
                <a:solidFill>
                  <a:srgbClr val="D6B03D"/>
                </a:solidFill>
                <a:latin typeface="Maharlika"/>
                <a:ea typeface="Maharlika"/>
                <a:cs typeface="Maharlika"/>
                <a:sym typeface="Maharlika"/>
              </a:rPr>
              <a:t>Vermont House </a:t>
            </a:r>
            <a:r>
              <a:rPr lang="en-US" sz="4500" spc="22">
                <a:solidFill>
                  <a:srgbClr val="D6B03D"/>
                </a:solidFill>
                <a:latin typeface="Maharlika"/>
                <a:ea typeface="Maharlika"/>
                <a:cs typeface="Maharlika"/>
                <a:sym typeface="Maharlika"/>
              </a:rPr>
              <a:t>Bill 776</a:t>
            </a:r>
          </a:p>
        </p:txBody>
      </p:sp>
      <p:grpSp>
        <p:nvGrpSpPr>
          <p:cNvPr name="Group 3" id="3"/>
          <p:cNvGrpSpPr/>
          <p:nvPr/>
        </p:nvGrpSpPr>
        <p:grpSpPr>
          <a:xfrm rot="0">
            <a:off x="11356301" y="-182033"/>
            <a:ext cx="7171724" cy="10681049"/>
            <a:chOff x="0" y="0"/>
            <a:chExt cx="1672633" cy="2491098"/>
          </a:xfrm>
        </p:grpSpPr>
        <p:sp>
          <p:nvSpPr>
            <p:cNvPr name="Freeform 4" id="4"/>
            <p:cNvSpPr/>
            <p:nvPr/>
          </p:nvSpPr>
          <p:spPr>
            <a:xfrm flipH="false" flipV="false" rot="0">
              <a:off x="0" y="0"/>
              <a:ext cx="1672633" cy="2491098"/>
            </a:xfrm>
            <a:custGeom>
              <a:avLst/>
              <a:gdLst/>
              <a:ahLst/>
              <a:cxnLst/>
              <a:rect r="r" b="b" t="t" l="l"/>
              <a:pathLst>
                <a:path h="2491098" w="1672633">
                  <a:moveTo>
                    <a:pt x="0" y="0"/>
                  </a:moveTo>
                  <a:lnTo>
                    <a:pt x="1672633" y="0"/>
                  </a:lnTo>
                  <a:lnTo>
                    <a:pt x="1672633" y="2491098"/>
                  </a:lnTo>
                  <a:lnTo>
                    <a:pt x="0" y="2491098"/>
                  </a:lnTo>
                  <a:close/>
                </a:path>
              </a:pathLst>
            </a:custGeom>
            <a:blipFill>
              <a:blip r:embed="rId2"/>
              <a:stretch>
                <a:fillRect l="-75782" t="0" r="-47616" b="0"/>
              </a:stretch>
            </a:blipFill>
            <a:ln w="38100" cap="sq">
              <a:solidFill>
                <a:srgbClr val="D6B03D"/>
              </a:solidFill>
              <a:prstDash val="solid"/>
              <a:miter/>
            </a:ln>
          </p:spPr>
        </p:sp>
      </p:grpSp>
      <p:sp>
        <p:nvSpPr>
          <p:cNvPr name="TextBox 5" id="5"/>
          <p:cNvSpPr txBox="true"/>
          <p:nvPr/>
        </p:nvSpPr>
        <p:spPr>
          <a:xfrm rot="0">
            <a:off x="1546611" y="1327261"/>
            <a:ext cx="9459215" cy="8362951"/>
          </a:xfrm>
          <a:prstGeom prst="rect">
            <a:avLst/>
          </a:prstGeom>
        </p:spPr>
        <p:txBody>
          <a:bodyPr anchor="t" rtlCol="false" tIns="0" lIns="0" bIns="0" rIns="0">
            <a:spAutoFit/>
          </a:bodyPr>
          <a:lstStyle/>
          <a:p>
            <a:pPr algn="l" marL="647695" indent="-323848" lvl="1">
              <a:lnSpc>
                <a:spcPts val="4199"/>
              </a:lnSpc>
              <a:buFont typeface="Arial"/>
              <a:buChar char="•"/>
            </a:pPr>
            <a:r>
              <a:rPr lang="en-US" sz="2999">
                <a:solidFill>
                  <a:srgbClr val="D6B03D"/>
                </a:solidFill>
                <a:latin typeface="Glacial Indifference"/>
                <a:ea typeface="Glacial Indifference"/>
                <a:cs typeface="Glacial Indifference"/>
                <a:sym typeface="Glacial Indifference"/>
              </a:rPr>
              <a:t>When using AI in coverage decisions, AI should utilize patient history and medical records.</a:t>
            </a:r>
          </a:p>
          <a:p>
            <a:pPr algn="l" marL="647695" indent="-323848" lvl="1">
              <a:lnSpc>
                <a:spcPts val="4199"/>
              </a:lnSpc>
              <a:buFont typeface="Arial"/>
              <a:buChar char="•"/>
            </a:pPr>
            <a:r>
              <a:rPr lang="en-US" sz="2999">
                <a:solidFill>
                  <a:srgbClr val="D6B03D"/>
                </a:solidFill>
                <a:latin typeface="Glacial Indifference"/>
                <a:ea typeface="Glacial Indifference"/>
                <a:cs typeface="Glacial Indifference"/>
                <a:sym typeface="Glacial Indifference"/>
              </a:rPr>
              <a:t>When using AI in coverage decisions, AI cannot solely base its determination on a group dataset. </a:t>
            </a:r>
          </a:p>
          <a:p>
            <a:pPr algn="l" marL="647695" indent="-323848" lvl="1">
              <a:lnSpc>
                <a:spcPts val="4199"/>
              </a:lnSpc>
              <a:buFont typeface="Arial"/>
              <a:buChar char="•"/>
            </a:pPr>
            <a:r>
              <a:rPr lang="en-US" sz="2999">
                <a:solidFill>
                  <a:srgbClr val="D6B03D"/>
                </a:solidFill>
                <a:latin typeface="Glacial Indifference"/>
                <a:ea typeface="Glacial Indifference"/>
                <a:cs typeface="Glacial Indifference"/>
                <a:sym typeface="Glacial Indifference"/>
              </a:rPr>
              <a:t>When using AI in coverage decisions, AI must have fair application and meet applicable law.</a:t>
            </a:r>
          </a:p>
          <a:p>
            <a:pPr algn="l" marL="647695" indent="-323848" lvl="1">
              <a:lnSpc>
                <a:spcPts val="4199"/>
              </a:lnSpc>
              <a:buFont typeface="Arial"/>
              <a:buChar char="•"/>
            </a:pPr>
            <a:r>
              <a:rPr lang="en-US" sz="2999">
                <a:solidFill>
                  <a:srgbClr val="D6B03D"/>
                </a:solidFill>
                <a:latin typeface="Glacial Indifference"/>
                <a:ea typeface="Glacial Indifference"/>
                <a:cs typeface="Glacial Indifference"/>
                <a:sym typeface="Glacial Indifference"/>
              </a:rPr>
              <a:t>When using AI in coverage decisions, AI must be applied in a standard, consistent manner for all health plans and insureds so that the resulting decisions are the same for all patients with similar clinical presentation and considerations.</a:t>
            </a:r>
          </a:p>
          <a:p>
            <a:pPr algn="l" marL="647695" indent="-323848" lvl="1">
              <a:lnSpc>
                <a:spcPts val="4199"/>
              </a:lnSpc>
              <a:buFont typeface="Arial"/>
              <a:buChar char="•"/>
            </a:pPr>
            <a:r>
              <a:rPr lang="en-US" sz="2999">
                <a:solidFill>
                  <a:srgbClr val="D6B03D"/>
                </a:solidFill>
                <a:latin typeface="Glacial Indifference"/>
                <a:ea typeface="Glacial Indifference"/>
                <a:cs typeface="Glacial Indifference"/>
                <a:sym typeface="Glacial Indifference"/>
              </a:rPr>
              <a:t>AI used in coverage decisions has to be audited and quarterly checked for accuracy and reliability. </a:t>
            </a:r>
          </a:p>
          <a:p>
            <a:pPr algn="l" marL="647695" indent="-323848" lvl="1">
              <a:lnSpc>
                <a:spcPts val="4199"/>
              </a:lnSpc>
              <a:buFont typeface="Arial"/>
              <a:buChar char="•"/>
            </a:pPr>
            <a:r>
              <a:rPr lang="en-US" sz="2999">
                <a:solidFill>
                  <a:srgbClr val="D6B03D"/>
                </a:solidFill>
                <a:latin typeface="Glacial Indifference"/>
                <a:ea typeface="Glacial Indifference"/>
                <a:cs typeface="Glacial Indifference"/>
                <a:sym typeface="Glacial Indifference"/>
              </a:rPr>
              <a:t>AI used in coverage decisions cannot cause indirect or direct harm.</a:t>
            </a:r>
          </a:p>
          <a:p>
            <a:pPr algn="l">
              <a:lnSpc>
                <a:spcPts val="4199"/>
              </a:lnSpc>
            </a:pPr>
            <a:r>
              <a:rPr lang="en-US" sz="2999">
                <a:solidFill>
                  <a:srgbClr val="D6B03D"/>
                </a:solidFill>
                <a:latin typeface="Glacial Indifference"/>
                <a:ea typeface="Glacial Indifference"/>
                <a:cs typeface="Glacial Indifference"/>
                <a:sym typeface="Glacial Indifference"/>
              </a:rPr>
              <a:t>(H.R. 776, Gen. Assemb., Reg. Sess. (Vt. 2026))</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3915243" y="4333292"/>
            <a:ext cx="1545729" cy="1545729"/>
          </a:xfrm>
          <a:custGeom>
            <a:avLst/>
            <a:gdLst/>
            <a:ahLst/>
            <a:cxnLst/>
            <a:rect r="r" b="b" t="t" l="l"/>
            <a:pathLst>
              <a:path h="1545729" w="1545729">
                <a:moveTo>
                  <a:pt x="0" y="0"/>
                </a:moveTo>
                <a:lnTo>
                  <a:pt x="1545729" y="0"/>
                </a:lnTo>
                <a:lnTo>
                  <a:pt x="1545729" y="1545729"/>
                </a:lnTo>
                <a:lnTo>
                  <a:pt x="0" y="15457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410846" y="4253652"/>
            <a:ext cx="1466308" cy="1705010"/>
          </a:xfrm>
          <a:custGeom>
            <a:avLst/>
            <a:gdLst/>
            <a:ahLst/>
            <a:cxnLst/>
            <a:rect r="r" b="b" t="t" l="l"/>
            <a:pathLst>
              <a:path h="1705010" w="1466308">
                <a:moveTo>
                  <a:pt x="0" y="0"/>
                </a:moveTo>
                <a:lnTo>
                  <a:pt x="1466308" y="0"/>
                </a:lnTo>
                <a:lnTo>
                  <a:pt x="1466308" y="1705009"/>
                </a:lnTo>
                <a:lnTo>
                  <a:pt x="0" y="17050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13032510" y="4450825"/>
            <a:ext cx="1134766" cy="1428196"/>
          </a:xfrm>
          <a:custGeom>
            <a:avLst/>
            <a:gdLst/>
            <a:ahLst/>
            <a:cxnLst/>
            <a:rect r="r" b="b" t="t" l="l"/>
            <a:pathLst>
              <a:path h="1428196" w="1134766">
                <a:moveTo>
                  <a:pt x="0" y="0"/>
                </a:moveTo>
                <a:lnTo>
                  <a:pt x="1134766" y="0"/>
                </a:lnTo>
                <a:lnTo>
                  <a:pt x="1134766" y="1428196"/>
                </a:lnTo>
                <a:lnTo>
                  <a:pt x="0" y="142819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TextBox 5" id="5"/>
          <p:cNvSpPr txBox="true"/>
          <p:nvPr/>
        </p:nvSpPr>
        <p:spPr>
          <a:xfrm rot="0">
            <a:off x="3555657" y="2437377"/>
            <a:ext cx="11176687" cy="1049433"/>
          </a:xfrm>
          <a:prstGeom prst="rect">
            <a:avLst/>
          </a:prstGeom>
        </p:spPr>
        <p:txBody>
          <a:bodyPr anchor="t" rtlCol="false" tIns="0" lIns="0" bIns="0" rIns="0">
            <a:spAutoFit/>
          </a:bodyPr>
          <a:lstStyle/>
          <a:p>
            <a:pPr algn="ctr">
              <a:lnSpc>
                <a:spcPts val="7535"/>
              </a:lnSpc>
            </a:pPr>
            <a:r>
              <a:rPr lang="en-US" sz="6728" spc="33">
                <a:solidFill>
                  <a:srgbClr val="D6B03D"/>
                </a:solidFill>
                <a:latin typeface="Maharlika"/>
                <a:ea typeface="Maharlika"/>
                <a:cs typeface="Maharlika"/>
                <a:sym typeface="Maharlika"/>
              </a:rPr>
              <a:t>State</a:t>
            </a:r>
            <a:r>
              <a:rPr lang="en-US" sz="6728" spc="33">
                <a:solidFill>
                  <a:srgbClr val="D6B03D"/>
                </a:solidFill>
                <a:latin typeface="Maharlika"/>
                <a:ea typeface="Maharlika"/>
                <a:cs typeface="Maharlika"/>
                <a:sym typeface="Maharlika"/>
              </a:rPr>
              <a:t> Law Improvements</a:t>
            </a:r>
          </a:p>
        </p:txBody>
      </p:sp>
      <p:sp>
        <p:nvSpPr>
          <p:cNvPr name="TextBox 6" id="6"/>
          <p:cNvSpPr txBox="true"/>
          <p:nvPr/>
        </p:nvSpPr>
        <p:spPr>
          <a:xfrm rot="0">
            <a:off x="2906884" y="6221295"/>
            <a:ext cx="3562447" cy="2076558"/>
          </a:xfrm>
          <a:prstGeom prst="rect">
            <a:avLst/>
          </a:prstGeom>
        </p:spPr>
        <p:txBody>
          <a:bodyPr anchor="t" rtlCol="false" tIns="0" lIns="0" bIns="0" rIns="0">
            <a:spAutoFit/>
          </a:bodyPr>
          <a:lstStyle/>
          <a:p>
            <a:pPr algn="ctr">
              <a:lnSpc>
                <a:spcPts val="4194"/>
              </a:lnSpc>
            </a:pPr>
            <a:r>
              <a:rPr lang="en-US" sz="2995">
                <a:solidFill>
                  <a:srgbClr val="D6B03D"/>
                </a:solidFill>
                <a:latin typeface="Glacial Indifference"/>
                <a:ea typeface="Glacial Indifference"/>
                <a:cs typeface="Glacial Indifference"/>
                <a:sym typeface="Glacial Indifference"/>
              </a:rPr>
              <a:t>Providing users with autonomy and affirmative methods of consent</a:t>
            </a:r>
          </a:p>
        </p:txBody>
      </p:sp>
      <p:sp>
        <p:nvSpPr>
          <p:cNvPr name="TextBox 7" id="7"/>
          <p:cNvSpPr txBox="true"/>
          <p:nvPr/>
        </p:nvSpPr>
        <p:spPr>
          <a:xfrm rot="0">
            <a:off x="7360873" y="6221295"/>
            <a:ext cx="3562447" cy="2076558"/>
          </a:xfrm>
          <a:prstGeom prst="rect">
            <a:avLst/>
          </a:prstGeom>
        </p:spPr>
        <p:txBody>
          <a:bodyPr anchor="t" rtlCol="false" tIns="0" lIns="0" bIns="0" rIns="0">
            <a:spAutoFit/>
          </a:bodyPr>
          <a:lstStyle/>
          <a:p>
            <a:pPr algn="ctr">
              <a:lnSpc>
                <a:spcPts val="4194"/>
              </a:lnSpc>
            </a:pPr>
            <a:r>
              <a:rPr lang="en-US" sz="2995">
                <a:solidFill>
                  <a:srgbClr val="D6B03D"/>
                </a:solidFill>
                <a:latin typeface="Glacial Indifference"/>
                <a:ea typeface="Glacial Indifference"/>
                <a:cs typeface="Glacial Indifference"/>
                <a:sym typeface="Glacial Indifference"/>
              </a:rPr>
              <a:t>Limiting AI manipulation and unhealthy social behaviors</a:t>
            </a:r>
          </a:p>
        </p:txBody>
      </p:sp>
      <p:sp>
        <p:nvSpPr>
          <p:cNvPr name="TextBox 8" id="8"/>
          <p:cNvSpPr txBox="true"/>
          <p:nvPr/>
        </p:nvSpPr>
        <p:spPr>
          <a:xfrm rot="0">
            <a:off x="11818669" y="6221295"/>
            <a:ext cx="3562447" cy="1552683"/>
          </a:xfrm>
          <a:prstGeom prst="rect">
            <a:avLst/>
          </a:prstGeom>
        </p:spPr>
        <p:txBody>
          <a:bodyPr anchor="t" rtlCol="false" tIns="0" lIns="0" bIns="0" rIns="0">
            <a:spAutoFit/>
          </a:bodyPr>
          <a:lstStyle/>
          <a:p>
            <a:pPr algn="ctr">
              <a:lnSpc>
                <a:spcPts val="4194"/>
              </a:lnSpc>
            </a:pPr>
            <a:r>
              <a:rPr lang="en-US" sz="2995">
                <a:solidFill>
                  <a:srgbClr val="D6B03D"/>
                </a:solidFill>
                <a:latin typeface="Glacial Indifference"/>
                <a:ea typeface="Glacial Indifference"/>
                <a:cs typeface="Glacial Indifference"/>
                <a:sym typeface="Glacial Indifference"/>
              </a:rPr>
              <a:t>Expanding AI protection to </a:t>
            </a:r>
            <a:r>
              <a:rPr lang="en-US" sz="2995">
                <a:solidFill>
                  <a:srgbClr val="D6B03D"/>
                </a:solidFill>
                <a:latin typeface="Glacial Indifference"/>
                <a:ea typeface="Glacial Indifference"/>
                <a:cs typeface="Glacial Indifference"/>
                <a:sym typeface="Glacial Indifference"/>
              </a:rPr>
              <a:t>prevention and use</a:t>
            </a:r>
          </a:p>
        </p:txBody>
      </p:sp>
    </p:spTree>
  </p:cSld>
  <p:clrMapOvr>
    <a:masterClrMapping/>
  </p:clrMapOvr>
</p:sld>
</file>

<file path=ppt/slides/slide21.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028700" y="1905813"/>
            <a:ext cx="16380891" cy="6840615"/>
            <a:chOff x="0" y="0"/>
            <a:chExt cx="3448001" cy="1439876"/>
          </a:xfrm>
        </p:grpSpPr>
        <p:sp>
          <p:nvSpPr>
            <p:cNvPr name="Freeform 3" id="3"/>
            <p:cNvSpPr/>
            <p:nvPr/>
          </p:nvSpPr>
          <p:spPr>
            <a:xfrm flipH="false" flipV="false" rot="0">
              <a:off x="0" y="0"/>
              <a:ext cx="3448001" cy="1439876"/>
            </a:xfrm>
            <a:custGeom>
              <a:avLst/>
              <a:gdLst/>
              <a:ahLst/>
              <a:cxnLst/>
              <a:rect r="r" b="b" t="t" l="l"/>
              <a:pathLst>
                <a:path h="1439876" w="3448001">
                  <a:moveTo>
                    <a:pt x="3368583" y="0"/>
                  </a:moveTo>
                  <a:lnTo>
                    <a:pt x="79418" y="0"/>
                  </a:lnTo>
                  <a:cubicBezTo>
                    <a:pt x="79418" y="43699"/>
                    <a:pt x="44079" y="79418"/>
                    <a:pt x="0" y="79418"/>
                  </a:cubicBezTo>
                  <a:lnTo>
                    <a:pt x="0" y="1360458"/>
                  </a:lnTo>
                  <a:cubicBezTo>
                    <a:pt x="43699" y="1360458"/>
                    <a:pt x="79418" y="1395797"/>
                    <a:pt x="79418" y="1439876"/>
                  </a:cubicBezTo>
                  <a:lnTo>
                    <a:pt x="3368583" y="1439876"/>
                  </a:lnTo>
                  <a:cubicBezTo>
                    <a:pt x="3368583" y="1396177"/>
                    <a:pt x="3403922" y="1360458"/>
                    <a:pt x="3448001" y="1360458"/>
                  </a:cubicBezTo>
                  <a:lnTo>
                    <a:pt x="3448001" y="79418"/>
                  </a:lnTo>
                  <a:cubicBezTo>
                    <a:pt x="3404302" y="79418"/>
                    <a:pt x="3368583" y="44079"/>
                    <a:pt x="3368583" y="0"/>
                  </a:cubicBezTo>
                  <a:close/>
                </a:path>
              </a:pathLst>
            </a:custGeom>
            <a:ln w="28575" cap="sq">
              <a:solidFill>
                <a:srgbClr val="D6B03D"/>
              </a:solidFill>
              <a:prstDash val="solid"/>
              <a:miter/>
            </a:ln>
          </p:spPr>
        </p:sp>
        <p:sp>
          <p:nvSpPr>
            <p:cNvPr name="TextBox 4" id="4"/>
            <p:cNvSpPr txBox="true"/>
            <p:nvPr/>
          </p:nvSpPr>
          <p:spPr>
            <a:xfrm>
              <a:off x="38100" y="-114300"/>
              <a:ext cx="3371801" cy="1516076"/>
            </a:xfrm>
            <a:prstGeom prst="rect">
              <a:avLst/>
            </a:prstGeom>
          </p:spPr>
          <p:txBody>
            <a:bodyPr anchor="ctr" rtlCol="false" tIns="50800" lIns="50800" bIns="50800" rIns="50800"/>
            <a:lstStyle/>
            <a:p>
              <a:pPr algn="ctr" marL="0" indent="0" lvl="0">
                <a:lnSpc>
                  <a:spcPts val="4697"/>
                </a:lnSpc>
                <a:spcBef>
                  <a:spcPct val="0"/>
                </a:spcBef>
              </a:pPr>
            </a:p>
          </p:txBody>
        </p:sp>
      </p:grpSp>
      <p:sp>
        <p:nvSpPr>
          <p:cNvPr name="TextBox 5" id="5"/>
          <p:cNvSpPr txBox="true"/>
          <p:nvPr/>
        </p:nvSpPr>
        <p:spPr>
          <a:xfrm rot="0">
            <a:off x="4857597" y="4413673"/>
            <a:ext cx="8723096" cy="3505204"/>
          </a:xfrm>
          <a:prstGeom prst="rect">
            <a:avLst/>
          </a:prstGeom>
        </p:spPr>
        <p:txBody>
          <a:bodyPr anchor="t" rtlCol="false" tIns="0" lIns="0" bIns="0" rIns="0">
            <a:spAutoFit/>
          </a:bodyPr>
          <a:lstStyle/>
          <a:p>
            <a:pPr algn="l" marL="485744" indent="-242872" lvl="1">
              <a:lnSpc>
                <a:spcPts val="3149"/>
              </a:lnSpc>
              <a:buFont typeface="Arial"/>
              <a:buChar char="•"/>
            </a:pPr>
            <a:r>
              <a:rPr lang="en-US" sz="2249" strike="noStrike" u="none">
                <a:solidFill>
                  <a:srgbClr val="D6B03D"/>
                </a:solidFill>
                <a:latin typeface="Glacial Indifference"/>
                <a:ea typeface="Glacial Indifference"/>
                <a:cs typeface="Glacial Indifference"/>
                <a:sym typeface="Glacial Indifference"/>
              </a:rPr>
              <a:t>L</a:t>
            </a:r>
            <a:r>
              <a:rPr lang="en-US" sz="2249" strike="noStrike" u="none">
                <a:solidFill>
                  <a:srgbClr val="D6B03D"/>
                </a:solidFill>
                <a:latin typeface="Glacial Indifference"/>
                <a:ea typeface="Glacial Indifference"/>
                <a:cs typeface="Glacial Indifference"/>
                <a:sym typeface="Glacial Indifference"/>
              </a:rPr>
              <a:t>i</a:t>
            </a:r>
            <a:r>
              <a:rPr lang="en-US" sz="2249" strike="noStrike" u="none">
                <a:solidFill>
                  <a:srgbClr val="D6B03D"/>
                </a:solidFill>
                <a:latin typeface="Glacial Indifference"/>
                <a:ea typeface="Glacial Indifference"/>
                <a:cs typeface="Glacial Indifference"/>
                <a:sym typeface="Glacial Indifference"/>
              </a:rPr>
              <a:t>m</a:t>
            </a:r>
            <a:r>
              <a:rPr lang="en-US" sz="2249" strike="noStrike" u="none">
                <a:solidFill>
                  <a:srgbClr val="D6B03D"/>
                </a:solidFill>
                <a:latin typeface="Glacial Indifference"/>
                <a:ea typeface="Glacial Indifference"/>
                <a:cs typeface="Glacial Indifference"/>
                <a:sym typeface="Glacial Indifference"/>
              </a:rPr>
              <a:t>it </a:t>
            </a:r>
            <a:r>
              <a:rPr lang="en-US" sz="2249" strike="noStrike" u="none">
                <a:solidFill>
                  <a:srgbClr val="D6B03D"/>
                </a:solidFill>
                <a:latin typeface="Glacial Indifference"/>
                <a:ea typeface="Glacial Indifference"/>
                <a:cs typeface="Glacial Indifference"/>
                <a:sym typeface="Glacial Indifference"/>
              </a:rPr>
              <a:t>o</a:t>
            </a:r>
            <a:r>
              <a:rPr lang="en-US" sz="2249" strike="noStrike" u="none">
                <a:solidFill>
                  <a:srgbClr val="D6B03D"/>
                </a:solidFill>
                <a:latin typeface="Glacial Indifference"/>
                <a:ea typeface="Glacial Indifference"/>
                <a:cs typeface="Glacial Indifference"/>
                <a:sym typeface="Glacial Indifference"/>
              </a:rPr>
              <a:t>n</a:t>
            </a:r>
            <a:r>
              <a:rPr lang="en-US" sz="2249" strike="noStrike" u="none">
                <a:solidFill>
                  <a:srgbClr val="D6B03D"/>
                </a:solidFill>
                <a:latin typeface="Glacial Indifference"/>
                <a:ea typeface="Glacial Indifference"/>
                <a:cs typeface="Glacial Indifference"/>
                <a:sym typeface="Glacial Indifference"/>
              </a:rPr>
              <a:t>l</a:t>
            </a:r>
            <a:r>
              <a:rPr lang="en-US" sz="2249" strike="noStrike" u="none">
                <a:solidFill>
                  <a:srgbClr val="D6B03D"/>
                </a:solidFill>
                <a:latin typeface="Glacial Indifference"/>
                <a:ea typeface="Glacial Indifference"/>
                <a:cs typeface="Glacial Indifference"/>
                <a:sym typeface="Glacial Indifference"/>
              </a:rPr>
              <a:t>ine tracking</a:t>
            </a:r>
          </a:p>
          <a:p>
            <a:pPr algn="l" marL="485744" indent="-242872" lvl="1">
              <a:lnSpc>
                <a:spcPts val="3149"/>
              </a:lnSpc>
              <a:buFont typeface="Arial"/>
              <a:buChar char="•"/>
            </a:pPr>
            <a:r>
              <a:rPr lang="en-US" sz="2249" strike="noStrike" u="none">
                <a:solidFill>
                  <a:srgbClr val="D6B03D"/>
                </a:solidFill>
                <a:latin typeface="Glacial Indifference"/>
                <a:ea typeface="Glacial Indifference"/>
                <a:cs typeface="Glacial Indifference"/>
                <a:sym typeface="Glacial Indifference"/>
              </a:rPr>
              <a:t>Encourage preventative training of the public</a:t>
            </a:r>
          </a:p>
          <a:p>
            <a:pPr algn="l" marL="485744" indent="-242872" lvl="1">
              <a:lnSpc>
                <a:spcPts val="3149"/>
              </a:lnSpc>
              <a:buFont typeface="Arial"/>
              <a:buChar char="•"/>
            </a:pPr>
            <a:r>
              <a:rPr lang="en-US" sz="2249" strike="noStrike" u="none">
                <a:solidFill>
                  <a:srgbClr val="D6B03D"/>
                </a:solidFill>
                <a:latin typeface="Glacial Indifference"/>
                <a:ea typeface="Glacial Indifference"/>
                <a:cs typeface="Glacial Indifference"/>
                <a:sym typeface="Glacial Indifference"/>
              </a:rPr>
              <a:t>Enc</a:t>
            </a:r>
            <a:r>
              <a:rPr lang="en-US" sz="2249" strike="noStrike" u="none">
                <a:solidFill>
                  <a:srgbClr val="D6B03D"/>
                </a:solidFill>
                <a:latin typeface="Glacial Indifference"/>
                <a:ea typeface="Glacial Indifference"/>
                <a:cs typeface="Glacial Indifference"/>
                <a:sym typeface="Glacial Indifference"/>
              </a:rPr>
              <a:t>o</a:t>
            </a:r>
            <a:r>
              <a:rPr lang="en-US" sz="2249" strike="noStrike" u="none">
                <a:solidFill>
                  <a:srgbClr val="D6B03D"/>
                </a:solidFill>
                <a:latin typeface="Glacial Indifference"/>
                <a:ea typeface="Glacial Indifference"/>
                <a:cs typeface="Glacial Indifference"/>
                <a:sym typeface="Glacial Indifference"/>
              </a:rPr>
              <a:t>u</a:t>
            </a:r>
            <a:r>
              <a:rPr lang="en-US" sz="2249" strike="noStrike" u="none">
                <a:solidFill>
                  <a:srgbClr val="D6B03D"/>
                </a:solidFill>
                <a:latin typeface="Glacial Indifference"/>
                <a:ea typeface="Glacial Indifference"/>
                <a:cs typeface="Glacial Indifference"/>
                <a:sym typeface="Glacial Indifference"/>
              </a:rPr>
              <a:t>r</a:t>
            </a:r>
            <a:r>
              <a:rPr lang="en-US" sz="2249" strike="noStrike" u="none">
                <a:solidFill>
                  <a:srgbClr val="D6B03D"/>
                </a:solidFill>
                <a:latin typeface="Glacial Indifference"/>
                <a:ea typeface="Glacial Indifference"/>
                <a:cs typeface="Glacial Indifference"/>
                <a:sym typeface="Glacial Indifference"/>
              </a:rPr>
              <a:t>age</a:t>
            </a:r>
            <a:r>
              <a:rPr lang="en-US" sz="2249" strike="noStrike" u="none">
                <a:solidFill>
                  <a:srgbClr val="D6B03D"/>
                </a:solidFill>
                <a:latin typeface="Glacial Indifference"/>
                <a:ea typeface="Glacial Indifference"/>
                <a:cs typeface="Glacial Indifference"/>
                <a:sym typeface="Glacial Indifference"/>
              </a:rPr>
              <a:t> m</a:t>
            </a:r>
            <a:r>
              <a:rPr lang="en-US" sz="2249" strike="noStrike" u="none">
                <a:solidFill>
                  <a:srgbClr val="D6B03D"/>
                </a:solidFill>
                <a:latin typeface="Glacial Indifference"/>
                <a:ea typeface="Glacial Indifference"/>
                <a:cs typeface="Glacial Indifference"/>
                <a:sym typeface="Glacial Indifference"/>
              </a:rPr>
              <a:t>or</a:t>
            </a:r>
            <a:r>
              <a:rPr lang="en-US" sz="2249" strike="noStrike" u="none">
                <a:solidFill>
                  <a:srgbClr val="D6B03D"/>
                </a:solidFill>
                <a:latin typeface="Glacial Indifference"/>
                <a:ea typeface="Glacial Indifference"/>
                <a:cs typeface="Glacial Indifference"/>
                <a:sym typeface="Glacial Indifference"/>
              </a:rPr>
              <a:t>e </a:t>
            </a:r>
            <a:r>
              <a:rPr lang="en-US" sz="2249" strike="noStrike" u="none">
                <a:solidFill>
                  <a:srgbClr val="D6B03D"/>
                </a:solidFill>
                <a:latin typeface="Glacial Indifference"/>
                <a:ea typeface="Glacial Indifference"/>
                <a:cs typeface="Glacial Indifference"/>
                <a:sym typeface="Glacial Indifference"/>
              </a:rPr>
              <a:t>priva</a:t>
            </a:r>
            <a:r>
              <a:rPr lang="en-US" sz="2249" strike="noStrike" u="none">
                <a:solidFill>
                  <a:srgbClr val="D6B03D"/>
                </a:solidFill>
                <a:latin typeface="Glacial Indifference"/>
                <a:ea typeface="Glacial Indifference"/>
                <a:cs typeface="Glacial Indifference"/>
                <a:sym typeface="Glacial Indifference"/>
              </a:rPr>
              <a:t>c</a:t>
            </a:r>
            <a:r>
              <a:rPr lang="en-US" sz="2249" strike="noStrike" u="none">
                <a:solidFill>
                  <a:srgbClr val="D6B03D"/>
                </a:solidFill>
                <a:latin typeface="Glacial Indifference"/>
                <a:ea typeface="Glacial Indifference"/>
                <a:cs typeface="Glacial Indifference"/>
                <a:sym typeface="Glacial Indifference"/>
              </a:rPr>
              <a:t>y-pr</a:t>
            </a:r>
            <a:r>
              <a:rPr lang="en-US" sz="2249" strike="noStrike" u="none">
                <a:solidFill>
                  <a:srgbClr val="D6B03D"/>
                </a:solidFill>
                <a:latin typeface="Glacial Indifference"/>
                <a:ea typeface="Glacial Indifference"/>
                <a:cs typeface="Glacial Indifference"/>
                <a:sym typeface="Glacial Indifference"/>
              </a:rPr>
              <a:t>o</a:t>
            </a:r>
            <a:r>
              <a:rPr lang="en-US" sz="2249" strike="noStrike" u="none">
                <a:solidFill>
                  <a:srgbClr val="D6B03D"/>
                </a:solidFill>
                <a:latin typeface="Glacial Indifference"/>
                <a:ea typeface="Glacial Indifference"/>
                <a:cs typeface="Glacial Indifference"/>
                <a:sym typeface="Glacial Indifference"/>
              </a:rPr>
              <a:t>t</a:t>
            </a:r>
            <a:r>
              <a:rPr lang="en-US" sz="2249" strike="noStrike" u="none">
                <a:solidFill>
                  <a:srgbClr val="D6B03D"/>
                </a:solidFill>
                <a:latin typeface="Glacial Indifference"/>
                <a:ea typeface="Glacial Indifference"/>
                <a:cs typeface="Glacial Indifference"/>
                <a:sym typeface="Glacial Indifference"/>
              </a:rPr>
              <a:t>ect</a:t>
            </a:r>
            <a:r>
              <a:rPr lang="en-US" sz="2249" strike="noStrike" u="none">
                <a:solidFill>
                  <a:srgbClr val="D6B03D"/>
                </a:solidFill>
                <a:latin typeface="Glacial Indifference"/>
                <a:ea typeface="Glacial Indifference"/>
                <a:cs typeface="Glacial Indifference"/>
                <a:sym typeface="Glacial Indifference"/>
              </a:rPr>
              <a:t>ive m</a:t>
            </a:r>
            <a:r>
              <a:rPr lang="en-US" sz="2249" strike="noStrike" u="none">
                <a:solidFill>
                  <a:srgbClr val="D6B03D"/>
                </a:solidFill>
                <a:latin typeface="Glacial Indifference"/>
                <a:ea typeface="Glacial Indifference"/>
                <a:cs typeface="Glacial Indifference"/>
                <a:sym typeface="Glacial Indifference"/>
              </a:rPr>
              <a:t>et</a:t>
            </a:r>
            <a:r>
              <a:rPr lang="en-US" sz="2249" strike="noStrike" u="none">
                <a:solidFill>
                  <a:srgbClr val="D6B03D"/>
                </a:solidFill>
                <a:latin typeface="Glacial Indifference"/>
                <a:ea typeface="Glacial Indifference"/>
                <a:cs typeface="Glacial Indifference"/>
                <a:sym typeface="Glacial Indifference"/>
              </a:rPr>
              <a:t>hods for online</a:t>
            </a:r>
            <a:r>
              <a:rPr lang="en-US" sz="2249" strike="noStrike" u="none">
                <a:solidFill>
                  <a:srgbClr val="D6B03D"/>
                </a:solidFill>
                <a:latin typeface="Glacial Indifference"/>
                <a:ea typeface="Glacial Indifference"/>
                <a:cs typeface="Glacial Indifference"/>
                <a:sym typeface="Glacial Indifference"/>
              </a:rPr>
              <a:t> ad</a:t>
            </a:r>
            <a:r>
              <a:rPr lang="en-US" sz="2249" strike="noStrike" u="none">
                <a:solidFill>
                  <a:srgbClr val="D6B03D"/>
                </a:solidFill>
                <a:latin typeface="Glacial Indifference"/>
                <a:ea typeface="Glacial Indifference"/>
                <a:cs typeface="Glacial Indifference"/>
                <a:sym typeface="Glacial Indifference"/>
              </a:rPr>
              <a:t>vert</a:t>
            </a:r>
            <a:r>
              <a:rPr lang="en-US" sz="2249" strike="noStrike" u="none">
                <a:solidFill>
                  <a:srgbClr val="D6B03D"/>
                </a:solidFill>
                <a:latin typeface="Glacial Indifference"/>
                <a:ea typeface="Glacial Indifference"/>
                <a:cs typeface="Glacial Indifference"/>
                <a:sym typeface="Glacial Indifference"/>
              </a:rPr>
              <a:t>ising</a:t>
            </a:r>
          </a:p>
          <a:p>
            <a:pPr algn="l" marL="485744" indent="-242872" lvl="1">
              <a:lnSpc>
                <a:spcPts val="3149"/>
              </a:lnSpc>
              <a:buFont typeface="Arial"/>
              <a:buChar char="•"/>
            </a:pPr>
            <a:r>
              <a:rPr lang="en-US" sz="2249" strike="noStrike" u="none">
                <a:solidFill>
                  <a:srgbClr val="D6B03D"/>
                </a:solidFill>
                <a:latin typeface="Glacial Indifference"/>
                <a:ea typeface="Glacial Indifference"/>
                <a:cs typeface="Glacial Indifference"/>
                <a:sym typeface="Glacial Indifference"/>
              </a:rPr>
              <a:t>Prioritize data minimization obligations</a:t>
            </a:r>
          </a:p>
          <a:p>
            <a:pPr algn="l" marL="485744" indent="-242872" lvl="1">
              <a:lnSpc>
                <a:spcPts val="3149"/>
              </a:lnSpc>
              <a:buFont typeface="Arial"/>
              <a:buChar char="•"/>
            </a:pPr>
            <a:r>
              <a:rPr lang="en-US" sz="2249" strike="noStrike" u="none">
                <a:solidFill>
                  <a:srgbClr val="D6B03D"/>
                </a:solidFill>
                <a:latin typeface="Glacial Indifference"/>
                <a:ea typeface="Glacial Indifference"/>
                <a:cs typeface="Glacial Indifference"/>
                <a:sym typeface="Glacial Indifference"/>
              </a:rPr>
              <a:t>Protect</a:t>
            </a:r>
            <a:r>
              <a:rPr lang="en-US" sz="2249" strike="noStrike" u="none">
                <a:solidFill>
                  <a:srgbClr val="D6B03D"/>
                </a:solidFill>
                <a:latin typeface="Glacial Indifference"/>
                <a:ea typeface="Glacial Indifference"/>
                <a:cs typeface="Glacial Indifference"/>
                <a:sym typeface="Glacial Indifference"/>
              </a:rPr>
              <a:t> se</a:t>
            </a:r>
            <a:r>
              <a:rPr lang="en-US" sz="2249" strike="noStrike" u="none">
                <a:solidFill>
                  <a:srgbClr val="D6B03D"/>
                </a:solidFill>
                <a:latin typeface="Glacial Indifference"/>
                <a:ea typeface="Glacial Indifference"/>
                <a:cs typeface="Glacial Indifference"/>
                <a:sym typeface="Glacial Indifference"/>
              </a:rPr>
              <a:t>ns</a:t>
            </a:r>
            <a:r>
              <a:rPr lang="en-US" sz="2249" strike="noStrike" u="none">
                <a:solidFill>
                  <a:srgbClr val="D6B03D"/>
                </a:solidFill>
                <a:latin typeface="Glacial Indifference"/>
                <a:ea typeface="Glacial Indifference"/>
                <a:cs typeface="Glacial Indifference"/>
                <a:sym typeface="Glacial Indifference"/>
              </a:rPr>
              <a:t>iti</a:t>
            </a:r>
            <a:r>
              <a:rPr lang="en-US" sz="2249" strike="noStrike" u="none">
                <a:solidFill>
                  <a:srgbClr val="D6B03D"/>
                </a:solidFill>
                <a:latin typeface="Glacial Indifference"/>
                <a:ea typeface="Glacial Indifference"/>
                <a:cs typeface="Glacial Indifference"/>
                <a:sym typeface="Glacial Indifference"/>
              </a:rPr>
              <a:t>v</a:t>
            </a:r>
            <a:r>
              <a:rPr lang="en-US" sz="2249" strike="noStrike" u="none">
                <a:solidFill>
                  <a:srgbClr val="D6B03D"/>
                </a:solidFill>
                <a:latin typeface="Glacial Indifference"/>
                <a:ea typeface="Glacial Indifference"/>
                <a:cs typeface="Glacial Indifference"/>
                <a:sym typeface="Glacial Indifference"/>
              </a:rPr>
              <a:t>e </a:t>
            </a:r>
            <a:r>
              <a:rPr lang="en-US" sz="2249" strike="noStrike" u="none">
                <a:solidFill>
                  <a:srgbClr val="D6B03D"/>
                </a:solidFill>
                <a:latin typeface="Glacial Indifference"/>
                <a:ea typeface="Glacial Indifference"/>
                <a:cs typeface="Glacial Indifference"/>
                <a:sym typeface="Glacial Indifference"/>
              </a:rPr>
              <a:t>dat</a:t>
            </a:r>
            <a:r>
              <a:rPr lang="en-US" sz="2249" strike="noStrike" u="none">
                <a:solidFill>
                  <a:srgbClr val="D6B03D"/>
                </a:solidFill>
                <a:latin typeface="Glacial Indifference"/>
                <a:ea typeface="Glacial Indifference"/>
                <a:cs typeface="Glacial Indifference"/>
                <a:sym typeface="Glacial Indifference"/>
              </a:rPr>
              <a:t>a especially biometric d</a:t>
            </a:r>
            <a:r>
              <a:rPr lang="en-US" sz="2249" strike="noStrike" u="none">
                <a:solidFill>
                  <a:srgbClr val="D6B03D"/>
                </a:solidFill>
                <a:latin typeface="Glacial Indifference"/>
                <a:ea typeface="Glacial Indifference"/>
                <a:cs typeface="Glacial Indifference"/>
                <a:sym typeface="Glacial Indifference"/>
              </a:rPr>
              <a:t>ata and data abo</a:t>
            </a:r>
            <a:r>
              <a:rPr lang="en-US" sz="2249" strike="noStrike" u="none">
                <a:solidFill>
                  <a:srgbClr val="D6B03D"/>
                </a:solidFill>
                <a:latin typeface="Glacial Indifference"/>
                <a:ea typeface="Glacial Indifference"/>
                <a:cs typeface="Glacial Indifference"/>
                <a:sym typeface="Glacial Indifference"/>
              </a:rPr>
              <a:t>ut </a:t>
            </a:r>
            <a:r>
              <a:rPr lang="en-US" sz="2249" strike="noStrike" u="none">
                <a:solidFill>
                  <a:srgbClr val="D6B03D"/>
                </a:solidFill>
                <a:latin typeface="Glacial Indifference"/>
                <a:ea typeface="Glacial Indifference"/>
                <a:cs typeface="Glacial Indifference"/>
                <a:sym typeface="Glacial Indifference"/>
              </a:rPr>
              <a:t>k</a:t>
            </a:r>
            <a:r>
              <a:rPr lang="en-US" sz="2249" strike="noStrike" u="none">
                <a:solidFill>
                  <a:srgbClr val="D6B03D"/>
                </a:solidFill>
                <a:latin typeface="Glacial Indifference"/>
                <a:ea typeface="Glacial Indifference"/>
                <a:cs typeface="Glacial Indifference"/>
                <a:sym typeface="Glacial Indifference"/>
              </a:rPr>
              <a:t>i</a:t>
            </a:r>
            <a:r>
              <a:rPr lang="en-US" sz="2249" strike="noStrike" u="none">
                <a:solidFill>
                  <a:srgbClr val="D6B03D"/>
                </a:solidFill>
                <a:latin typeface="Glacial Indifference"/>
                <a:ea typeface="Glacial Indifference"/>
                <a:cs typeface="Glacial Indifference"/>
                <a:sym typeface="Glacial Indifference"/>
              </a:rPr>
              <a:t>d</a:t>
            </a:r>
            <a:r>
              <a:rPr lang="en-US" sz="2249" strike="noStrike" u="none">
                <a:solidFill>
                  <a:srgbClr val="D6B03D"/>
                </a:solidFill>
                <a:latin typeface="Glacial Indifference"/>
                <a:ea typeface="Glacial Indifference"/>
                <a:cs typeface="Glacial Indifference"/>
                <a:sym typeface="Glacial Indifference"/>
              </a:rPr>
              <a:t>s</a:t>
            </a:r>
            <a:r>
              <a:rPr lang="en-US" sz="2249" strike="noStrike" u="none">
                <a:solidFill>
                  <a:srgbClr val="D6B03D"/>
                </a:solidFill>
                <a:latin typeface="Glacial Indifference"/>
                <a:ea typeface="Glacial Indifference"/>
                <a:cs typeface="Glacial Indifference"/>
                <a:sym typeface="Glacial Indifference"/>
              </a:rPr>
              <a:t> and teen</a:t>
            </a:r>
            <a:r>
              <a:rPr lang="en-US" sz="2249" strike="noStrike" u="none">
                <a:solidFill>
                  <a:srgbClr val="D6B03D"/>
                </a:solidFill>
                <a:latin typeface="Glacial Indifference"/>
                <a:ea typeface="Glacial Indifference"/>
                <a:cs typeface="Glacial Indifference"/>
                <a:sym typeface="Glacial Indifference"/>
              </a:rPr>
              <a:t>s</a:t>
            </a:r>
          </a:p>
          <a:p>
            <a:pPr algn="l" marL="485744" indent="-242872" lvl="1">
              <a:lnSpc>
                <a:spcPts val="3149"/>
              </a:lnSpc>
              <a:buFont typeface="Arial"/>
              <a:buChar char="•"/>
            </a:pPr>
            <a:r>
              <a:rPr lang="en-US" sz="2249" strike="noStrike" u="none">
                <a:solidFill>
                  <a:srgbClr val="D6B03D"/>
                </a:solidFill>
                <a:latin typeface="Glacial Indifference"/>
                <a:ea typeface="Glacial Indifference"/>
                <a:cs typeface="Glacial Indifference"/>
                <a:sym typeface="Glacial Indifference"/>
              </a:rPr>
              <a:t>Combine l</a:t>
            </a:r>
            <a:r>
              <a:rPr lang="en-US" sz="2249" strike="noStrike" u="none">
                <a:solidFill>
                  <a:srgbClr val="D6B03D"/>
                </a:solidFill>
                <a:latin typeface="Glacial Indifference"/>
                <a:ea typeface="Glacial Indifference"/>
                <a:cs typeface="Glacial Indifference"/>
                <a:sym typeface="Glacial Indifference"/>
              </a:rPr>
              <a:t>a</a:t>
            </a:r>
            <a:r>
              <a:rPr lang="en-US" sz="2249" strike="noStrike" u="none">
                <a:solidFill>
                  <a:srgbClr val="D6B03D"/>
                </a:solidFill>
                <a:latin typeface="Glacial Indifference"/>
                <a:ea typeface="Glacial Indifference"/>
                <a:cs typeface="Glacial Indifference"/>
                <a:sym typeface="Glacial Indifference"/>
              </a:rPr>
              <a:t>nguage fro</a:t>
            </a:r>
            <a:r>
              <a:rPr lang="en-US" sz="2249" strike="noStrike" u="none">
                <a:solidFill>
                  <a:srgbClr val="D6B03D"/>
                </a:solidFill>
                <a:latin typeface="Glacial Indifference"/>
                <a:ea typeface="Glacial Indifference"/>
                <a:cs typeface="Glacial Indifference"/>
                <a:sym typeface="Glacial Indifference"/>
              </a:rPr>
              <a:t>m</a:t>
            </a:r>
            <a:r>
              <a:rPr lang="en-US" sz="2249" strike="noStrike" u="none">
                <a:solidFill>
                  <a:srgbClr val="D6B03D"/>
                </a:solidFill>
                <a:latin typeface="Glacial Indifference"/>
                <a:ea typeface="Glacial Indifference"/>
                <a:cs typeface="Glacial Indifference"/>
                <a:sym typeface="Glacial Indifference"/>
              </a:rPr>
              <a:t> </a:t>
            </a:r>
            <a:r>
              <a:rPr lang="en-US" sz="2249" strike="noStrike" u="none">
                <a:solidFill>
                  <a:srgbClr val="D6B03D"/>
                </a:solidFill>
                <a:latin typeface="Glacial Indifference"/>
                <a:ea typeface="Glacial Indifference"/>
                <a:cs typeface="Glacial Indifference"/>
                <a:sym typeface="Glacial Indifference"/>
              </a:rPr>
              <a:t>e</a:t>
            </a:r>
            <a:r>
              <a:rPr lang="en-US" sz="2249" strike="noStrike" u="none">
                <a:solidFill>
                  <a:srgbClr val="D6B03D"/>
                </a:solidFill>
                <a:latin typeface="Glacial Indifference"/>
                <a:ea typeface="Glacial Indifference"/>
                <a:cs typeface="Glacial Indifference"/>
                <a:sym typeface="Glacial Indifference"/>
              </a:rPr>
              <a:t>xis</a:t>
            </a:r>
            <a:r>
              <a:rPr lang="en-US" sz="2249" strike="noStrike" u="none">
                <a:solidFill>
                  <a:srgbClr val="D6B03D"/>
                </a:solidFill>
                <a:latin typeface="Glacial Indifference"/>
                <a:ea typeface="Glacial Indifference"/>
                <a:cs typeface="Glacial Indifference"/>
                <a:sym typeface="Glacial Indifference"/>
              </a:rPr>
              <a:t>t</a:t>
            </a:r>
            <a:r>
              <a:rPr lang="en-US" sz="2249" strike="noStrike" u="none">
                <a:solidFill>
                  <a:srgbClr val="D6B03D"/>
                </a:solidFill>
                <a:latin typeface="Glacial Indifference"/>
                <a:ea typeface="Glacial Indifference"/>
                <a:cs typeface="Glacial Indifference"/>
                <a:sym typeface="Glacial Indifference"/>
              </a:rPr>
              <a:t>ing</a:t>
            </a:r>
            <a:r>
              <a:rPr lang="en-US" sz="2249" strike="noStrike" u="none">
                <a:solidFill>
                  <a:srgbClr val="D6B03D"/>
                </a:solidFill>
                <a:latin typeface="Glacial Indifference"/>
                <a:ea typeface="Glacial Indifference"/>
                <a:cs typeface="Glacial Indifference"/>
                <a:sym typeface="Glacial Indifference"/>
              </a:rPr>
              <a:t> st</a:t>
            </a:r>
            <a:r>
              <a:rPr lang="en-US" sz="2249" strike="noStrike" u="none">
                <a:solidFill>
                  <a:srgbClr val="D6B03D"/>
                </a:solidFill>
                <a:latin typeface="Glacial Indifference"/>
                <a:ea typeface="Glacial Indifference"/>
                <a:cs typeface="Glacial Indifference"/>
                <a:sym typeface="Glacial Indifference"/>
              </a:rPr>
              <a:t>a</a:t>
            </a:r>
            <a:r>
              <a:rPr lang="en-US" sz="2249" strike="noStrike" u="none">
                <a:solidFill>
                  <a:srgbClr val="D6B03D"/>
                </a:solidFill>
                <a:latin typeface="Glacial Indifference"/>
                <a:ea typeface="Glacial Indifference"/>
                <a:cs typeface="Glacial Indifference"/>
                <a:sym typeface="Glacial Indifference"/>
              </a:rPr>
              <a:t>t</a:t>
            </a:r>
            <a:r>
              <a:rPr lang="en-US" sz="2249" strike="noStrike" u="none">
                <a:solidFill>
                  <a:srgbClr val="D6B03D"/>
                </a:solidFill>
                <a:latin typeface="Glacial Indifference"/>
                <a:ea typeface="Glacial Indifference"/>
                <a:cs typeface="Glacial Indifference"/>
                <a:sym typeface="Glacial Indifference"/>
              </a:rPr>
              <a:t>e law</a:t>
            </a:r>
          </a:p>
          <a:p>
            <a:pPr algn="l" marL="485744" indent="-242872" lvl="1">
              <a:lnSpc>
                <a:spcPts val="3149"/>
              </a:lnSpc>
              <a:buFont typeface="Arial"/>
              <a:buChar char="•"/>
            </a:pPr>
            <a:r>
              <a:rPr lang="en-US" sz="2249" strike="noStrike" u="none">
                <a:solidFill>
                  <a:srgbClr val="D6B03D"/>
                </a:solidFill>
                <a:latin typeface="Glacial Indifference"/>
                <a:ea typeface="Glacial Indifference"/>
                <a:cs typeface="Glacial Indifference"/>
                <a:sym typeface="Glacial Indifference"/>
              </a:rPr>
              <a:t>Allow</a:t>
            </a:r>
            <a:r>
              <a:rPr lang="en-US" sz="2249" strike="noStrike" u="none">
                <a:solidFill>
                  <a:srgbClr val="D6B03D"/>
                </a:solidFill>
                <a:latin typeface="Glacial Indifference"/>
                <a:ea typeface="Glacial Indifference"/>
                <a:cs typeface="Glacial Indifference"/>
                <a:sym typeface="Glacial Indifference"/>
              </a:rPr>
              <a:t> </a:t>
            </a:r>
            <a:r>
              <a:rPr lang="en-US" sz="2249" strike="noStrike" u="none">
                <a:solidFill>
                  <a:srgbClr val="D6B03D"/>
                </a:solidFill>
                <a:latin typeface="Glacial Indifference"/>
                <a:ea typeface="Glacial Indifference"/>
                <a:cs typeface="Glacial Indifference"/>
                <a:sym typeface="Glacial Indifference"/>
              </a:rPr>
              <a:t>fo</a:t>
            </a:r>
            <a:r>
              <a:rPr lang="en-US" sz="2249" strike="noStrike" u="none">
                <a:solidFill>
                  <a:srgbClr val="D6B03D"/>
                </a:solidFill>
                <a:latin typeface="Glacial Indifference"/>
                <a:ea typeface="Glacial Indifference"/>
                <a:cs typeface="Glacial Indifference"/>
                <a:sym typeface="Glacial Indifference"/>
              </a:rPr>
              <a:t>r</a:t>
            </a:r>
            <a:r>
              <a:rPr lang="en-US" sz="2249" strike="noStrike" u="none">
                <a:solidFill>
                  <a:srgbClr val="D6B03D"/>
                </a:solidFill>
                <a:latin typeface="Glacial Indifference"/>
                <a:ea typeface="Glacial Indifference"/>
                <a:cs typeface="Glacial Indifference"/>
                <a:sym typeface="Glacial Indifference"/>
              </a:rPr>
              <a:t> me</a:t>
            </a:r>
            <a:r>
              <a:rPr lang="en-US" sz="2249" strike="noStrike" u="none">
                <a:solidFill>
                  <a:srgbClr val="D6B03D"/>
                </a:solidFill>
                <a:latin typeface="Glacial Indifference"/>
                <a:ea typeface="Glacial Indifference"/>
                <a:cs typeface="Glacial Indifference"/>
                <a:sym typeface="Glacial Indifference"/>
              </a:rPr>
              <a:t>a</a:t>
            </a:r>
            <a:r>
              <a:rPr lang="en-US" sz="2249" strike="noStrike" u="none">
                <a:solidFill>
                  <a:srgbClr val="D6B03D"/>
                </a:solidFill>
                <a:latin typeface="Glacial Indifference"/>
                <a:ea typeface="Glacial Indifference"/>
                <a:cs typeface="Glacial Indifference"/>
                <a:sym typeface="Glacial Indifference"/>
              </a:rPr>
              <a:t>ningful </a:t>
            </a:r>
            <a:r>
              <a:rPr lang="en-US" sz="2249" strike="noStrike" u="none">
                <a:solidFill>
                  <a:srgbClr val="D6B03D"/>
                </a:solidFill>
                <a:latin typeface="Glacial Indifference"/>
                <a:ea typeface="Glacial Indifference"/>
                <a:cs typeface="Glacial Indifference"/>
                <a:sym typeface="Glacial Indifference"/>
              </a:rPr>
              <a:t>e</a:t>
            </a:r>
            <a:r>
              <a:rPr lang="en-US" sz="2249" strike="noStrike" u="none">
                <a:solidFill>
                  <a:srgbClr val="D6B03D"/>
                </a:solidFill>
                <a:latin typeface="Glacial Indifference"/>
                <a:ea typeface="Glacial Indifference"/>
                <a:cs typeface="Glacial Indifference"/>
                <a:sym typeface="Glacial Indifference"/>
              </a:rPr>
              <a:t>nforcem</a:t>
            </a:r>
            <a:r>
              <a:rPr lang="en-US" sz="2249" strike="noStrike" u="none">
                <a:solidFill>
                  <a:srgbClr val="D6B03D"/>
                </a:solidFill>
                <a:latin typeface="Glacial Indifference"/>
                <a:ea typeface="Glacial Indifference"/>
                <a:cs typeface="Glacial Indifference"/>
                <a:sym typeface="Glacial Indifference"/>
              </a:rPr>
              <a:t>ent </a:t>
            </a:r>
            <a:r>
              <a:rPr lang="en-US" sz="2249" strike="noStrike" u="none">
                <a:solidFill>
                  <a:srgbClr val="D6B03D"/>
                </a:solidFill>
                <a:latin typeface="Glacial Indifference"/>
                <a:ea typeface="Glacial Indifference"/>
                <a:cs typeface="Glacial Indifference"/>
                <a:sym typeface="Glacial Indifference"/>
              </a:rPr>
              <a:t>of </a:t>
            </a:r>
            <a:r>
              <a:rPr lang="en-US" sz="2249" strike="noStrike" u="none">
                <a:solidFill>
                  <a:srgbClr val="D6B03D"/>
                </a:solidFill>
                <a:latin typeface="Glacial Indifference"/>
                <a:ea typeface="Glacial Indifference"/>
                <a:cs typeface="Glacial Indifference"/>
                <a:sym typeface="Glacial Indifference"/>
              </a:rPr>
              <a:t>t</a:t>
            </a:r>
            <a:r>
              <a:rPr lang="en-US" sz="2249" strike="noStrike" u="none">
                <a:solidFill>
                  <a:srgbClr val="D6B03D"/>
                </a:solidFill>
                <a:latin typeface="Glacial Indifference"/>
                <a:ea typeface="Glacial Indifference"/>
                <a:cs typeface="Glacial Indifference"/>
                <a:sym typeface="Glacial Indifference"/>
              </a:rPr>
              <a:t>h</a:t>
            </a:r>
            <a:r>
              <a:rPr lang="en-US" sz="2249" strike="noStrike" u="none">
                <a:solidFill>
                  <a:srgbClr val="D6B03D"/>
                </a:solidFill>
                <a:latin typeface="Glacial Indifference"/>
                <a:ea typeface="Glacial Indifference"/>
                <a:cs typeface="Glacial Indifference"/>
                <a:sym typeface="Glacial Indifference"/>
              </a:rPr>
              <a:t>e </a:t>
            </a:r>
            <a:r>
              <a:rPr lang="en-US" sz="2249" strike="noStrike" u="none">
                <a:solidFill>
                  <a:srgbClr val="D6B03D"/>
                </a:solidFill>
                <a:latin typeface="Glacial Indifference"/>
                <a:ea typeface="Glacial Indifference"/>
                <a:cs typeface="Glacial Indifference"/>
                <a:sym typeface="Glacial Indifference"/>
              </a:rPr>
              <a:t>law </a:t>
            </a:r>
            <a:r>
              <a:rPr lang="en-US" sz="2249" strike="noStrike" u="none">
                <a:solidFill>
                  <a:srgbClr val="D6B03D"/>
                </a:solidFill>
                <a:latin typeface="Glacial Indifference"/>
                <a:ea typeface="Glacial Indifference"/>
                <a:cs typeface="Glacial Indifference"/>
                <a:sym typeface="Glacial Indifference"/>
              </a:rPr>
              <a:t>t</a:t>
            </a:r>
            <a:r>
              <a:rPr lang="en-US" sz="2249" strike="noStrike" u="none">
                <a:solidFill>
                  <a:srgbClr val="D6B03D"/>
                </a:solidFill>
                <a:latin typeface="Glacial Indifference"/>
                <a:ea typeface="Glacial Indifference"/>
                <a:cs typeface="Glacial Indifference"/>
                <a:sym typeface="Glacial Indifference"/>
              </a:rPr>
              <a:t>o</a:t>
            </a:r>
            <a:r>
              <a:rPr lang="en-US" sz="2249" strike="noStrike" u="none">
                <a:solidFill>
                  <a:srgbClr val="D6B03D"/>
                </a:solidFill>
                <a:latin typeface="Glacial Indifference"/>
                <a:ea typeface="Glacial Indifference"/>
                <a:cs typeface="Glacial Indifference"/>
                <a:sym typeface="Glacial Indifference"/>
              </a:rPr>
              <a:t> e</a:t>
            </a:r>
            <a:r>
              <a:rPr lang="en-US" sz="2249" strike="noStrike" u="none">
                <a:solidFill>
                  <a:srgbClr val="D6B03D"/>
                </a:solidFill>
                <a:latin typeface="Glacial Indifference"/>
                <a:ea typeface="Glacial Indifference"/>
                <a:cs typeface="Glacial Indifference"/>
                <a:sym typeface="Glacial Indifference"/>
              </a:rPr>
              <a:t>n</a:t>
            </a:r>
            <a:r>
              <a:rPr lang="en-US" sz="2249" strike="noStrike" u="none">
                <a:solidFill>
                  <a:srgbClr val="D6B03D"/>
                </a:solidFill>
                <a:latin typeface="Glacial Indifference"/>
                <a:ea typeface="Glacial Indifference"/>
                <a:cs typeface="Glacial Indifference"/>
                <a:sym typeface="Glacial Indifference"/>
              </a:rPr>
              <a:t>su</a:t>
            </a:r>
            <a:r>
              <a:rPr lang="en-US" sz="2249" strike="noStrike" u="none">
                <a:solidFill>
                  <a:srgbClr val="D6B03D"/>
                </a:solidFill>
                <a:latin typeface="Glacial Indifference"/>
                <a:ea typeface="Glacial Indifference"/>
                <a:cs typeface="Glacial Indifference"/>
                <a:sym typeface="Glacial Indifference"/>
              </a:rPr>
              <a:t>re</a:t>
            </a:r>
            <a:r>
              <a:rPr lang="en-US" sz="2249" strike="noStrike" u="none">
                <a:solidFill>
                  <a:srgbClr val="D6B03D"/>
                </a:solidFill>
                <a:latin typeface="Glacial Indifference"/>
                <a:ea typeface="Glacial Indifference"/>
                <a:cs typeface="Glacial Indifference"/>
                <a:sym typeface="Glacial Indifference"/>
              </a:rPr>
              <a:t> </a:t>
            </a:r>
            <a:r>
              <a:rPr lang="en-US" sz="2249" strike="noStrike" u="none">
                <a:solidFill>
                  <a:srgbClr val="D6B03D"/>
                </a:solidFill>
                <a:latin typeface="Glacial Indifference"/>
                <a:ea typeface="Glacial Indifference"/>
                <a:cs typeface="Glacial Indifference"/>
                <a:sym typeface="Glacial Indifference"/>
              </a:rPr>
              <a:t>com</a:t>
            </a:r>
            <a:r>
              <a:rPr lang="en-US" sz="2249" strike="noStrike" u="none">
                <a:solidFill>
                  <a:srgbClr val="D6B03D"/>
                </a:solidFill>
                <a:latin typeface="Glacial Indifference"/>
                <a:ea typeface="Glacial Indifference"/>
                <a:cs typeface="Glacial Indifference"/>
                <a:sym typeface="Glacial Indifference"/>
              </a:rPr>
              <a:t>p</a:t>
            </a:r>
            <a:r>
              <a:rPr lang="en-US" sz="2249" strike="noStrike" u="none">
                <a:solidFill>
                  <a:srgbClr val="D6B03D"/>
                </a:solidFill>
                <a:latin typeface="Glacial Indifference"/>
                <a:ea typeface="Glacial Indifference"/>
                <a:cs typeface="Glacial Indifference"/>
                <a:sym typeface="Glacial Indifference"/>
              </a:rPr>
              <a:t>lianc</a:t>
            </a:r>
            <a:r>
              <a:rPr lang="en-US" sz="2249" strike="noStrike" u="none">
                <a:solidFill>
                  <a:srgbClr val="D6B03D"/>
                </a:solidFill>
                <a:latin typeface="Glacial Indifference"/>
                <a:ea typeface="Glacial Indifference"/>
                <a:cs typeface="Glacial Indifference"/>
                <a:sym typeface="Glacial Indifference"/>
              </a:rPr>
              <a:t>e, paperwork compliance is not enough</a:t>
            </a:r>
          </a:p>
        </p:txBody>
      </p:sp>
      <p:sp>
        <p:nvSpPr>
          <p:cNvPr name="TextBox 6" id="6"/>
          <p:cNvSpPr txBox="true"/>
          <p:nvPr/>
        </p:nvSpPr>
        <p:spPr>
          <a:xfrm rot="0">
            <a:off x="4345098" y="2607319"/>
            <a:ext cx="9597805" cy="1853979"/>
          </a:xfrm>
          <a:prstGeom prst="rect">
            <a:avLst/>
          </a:prstGeom>
        </p:spPr>
        <p:txBody>
          <a:bodyPr anchor="t" rtlCol="false" tIns="0" lIns="0" bIns="0" rIns="0">
            <a:spAutoFit/>
          </a:bodyPr>
          <a:lstStyle/>
          <a:p>
            <a:pPr algn="ctr" marL="0" indent="0" lvl="1">
              <a:lnSpc>
                <a:spcPts val="6975"/>
              </a:lnSpc>
              <a:spcBef>
                <a:spcPct val="0"/>
              </a:spcBef>
            </a:pPr>
            <a:r>
              <a:rPr lang="en-US" sz="6228" spc="31">
                <a:solidFill>
                  <a:srgbClr val="D6B03D"/>
                </a:solidFill>
                <a:latin typeface="Maharlika"/>
                <a:ea typeface="Maharlika"/>
                <a:cs typeface="Maharlika"/>
                <a:sym typeface="Maharlika"/>
              </a:rPr>
              <a:t>Mod</a:t>
            </a:r>
            <a:r>
              <a:rPr lang="en-US" sz="6228" spc="31" strike="noStrike" u="none">
                <a:solidFill>
                  <a:srgbClr val="D6B03D"/>
                </a:solidFill>
                <a:latin typeface="Maharlika"/>
                <a:ea typeface="Maharlika"/>
                <a:cs typeface="Maharlika"/>
                <a:sym typeface="Maharlika"/>
              </a:rPr>
              <a:t>el</a:t>
            </a:r>
            <a:r>
              <a:rPr lang="en-US" sz="6228" spc="31" strike="noStrike" u="none">
                <a:solidFill>
                  <a:srgbClr val="D6B03D"/>
                </a:solidFill>
                <a:latin typeface="Maharlika"/>
                <a:ea typeface="Maharlika"/>
                <a:cs typeface="Maharlika"/>
                <a:sym typeface="Maharlika"/>
              </a:rPr>
              <a:t> State Da</a:t>
            </a:r>
            <a:r>
              <a:rPr lang="en-US" sz="6228" spc="31" strike="noStrike" u="none">
                <a:solidFill>
                  <a:srgbClr val="D6B03D"/>
                </a:solidFill>
                <a:latin typeface="Maharlika"/>
                <a:ea typeface="Maharlika"/>
                <a:cs typeface="Maharlika"/>
                <a:sym typeface="Maharlika"/>
              </a:rPr>
              <a:t>ta Privacy Act</a:t>
            </a:r>
          </a:p>
        </p:txBody>
      </p:sp>
    </p:spTree>
  </p:cSld>
  <p:clrMapOvr>
    <a:masterClrMapping/>
  </p:clrMapOvr>
</p:sld>
</file>

<file path=ppt/slides/slide22.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1731973" y="840484"/>
            <a:ext cx="11223890" cy="702945"/>
          </a:xfrm>
          <a:prstGeom prst="rect">
            <a:avLst/>
          </a:prstGeom>
        </p:spPr>
        <p:txBody>
          <a:bodyPr anchor="t" rtlCol="false" tIns="0" lIns="0" bIns="0" rIns="0">
            <a:spAutoFit/>
          </a:bodyPr>
          <a:lstStyle/>
          <a:p>
            <a:pPr algn="l">
              <a:lnSpc>
                <a:spcPts val="5040"/>
              </a:lnSpc>
              <a:spcBef>
                <a:spcPct val="0"/>
              </a:spcBef>
            </a:pPr>
            <a:r>
              <a:rPr lang="en-US" sz="4500" spc="22">
                <a:solidFill>
                  <a:srgbClr val="D6B03D"/>
                </a:solidFill>
                <a:latin typeface="Maharlika"/>
                <a:ea typeface="Maharlika"/>
                <a:cs typeface="Maharlika"/>
                <a:sym typeface="Maharlika"/>
              </a:rPr>
              <a:t>GDPR &amp; AI Act</a:t>
            </a:r>
          </a:p>
        </p:txBody>
      </p:sp>
      <p:sp>
        <p:nvSpPr>
          <p:cNvPr name="TextBox 3" id="3"/>
          <p:cNvSpPr txBox="true"/>
          <p:nvPr/>
        </p:nvSpPr>
        <p:spPr>
          <a:xfrm rot="0">
            <a:off x="1731973" y="2611370"/>
            <a:ext cx="6708755" cy="6309467"/>
          </a:xfrm>
          <a:prstGeom prst="rect">
            <a:avLst/>
          </a:prstGeom>
        </p:spPr>
        <p:txBody>
          <a:bodyPr anchor="t" rtlCol="false" tIns="0" lIns="0" bIns="0" rIns="0">
            <a:spAutoFit/>
          </a:bodyPr>
          <a:lstStyle/>
          <a:p>
            <a:pPr algn="l" marL="452480" indent="-226240" lvl="1">
              <a:lnSpc>
                <a:spcPts val="2934"/>
              </a:lnSpc>
              <a:buFont typeface="Arial"/>
              <a:buChar char="•"/>
            </a:pPr>
            <a:r>
              <a:rPr lang="en-US" sz="2095">
                <a:solidFill>
                  <a:srgbClr val="D6B03D"/>
                </a:solidFill>
                <a:latin typeface="Glacial Indifference"/>
                <a:ea typeface="Glacial Indifference"/>
                <a:cs typeface="Glacial Indifference"/>
                <a:sym typeface="Glacial Indifference"/>
              </a:rPr>
              <a:t>The Commission and supervisory authorities will </a:t>
            </a:r>
            <a:r>
              <a:rPr lang="en-US" sz="2095" strike="noStrike" u="none">
                <a:solidFill>
                  <a:srgbClr val="D6B03D"/>
                </a:solidFill>
                <a:latin typeface="Glacial Indifference"/>
                <a:ea typeface="Glacial Indifference"/>
                <a:cs typeface="Glacial Indifference"/>
                <a:sym typeface="Glacial Indifference"/>
              </a:rPr>
              <a:t>develop international cooperation mechanisms to facilitate the effective enforcement of the GDPR.</a:t>
            </a:r>
          </a:p>
          <a:p>
            <a:pPr algn="l" marL="452480" indent="-226240" lvl="1">
              <a:lnSpc>
                <a:spcPts val="2934"/>
              </a:lnSpc>
              <a:buFont typeface="Arial"/>
              <a:buChar char="•"/>
            </a:pPr>
            <a:r>
              <a:rPr lang="en-US" sz="2095" strike="noStrike" u="none">
                <a:solidFill>
                  <a:srgbClr val="D6B03D"/>
                </a:solidFill>
                <a:latin typeface="Glacial Indifference"/>
                <a:ea typeface="Glacial Indifference"/>
                <a:cs typeface="Glacial Indifference"/>
                <a:sym typeface="Glacial Indifference"/>
              </a:rPr>
              <a:t>The Commission and supervisory authorities will </a:t>
            </a:r>
            <a:r>
              <a:rPr lang="en-US" sz="2095" strike="noStrike" u="none">
                <a:solidFill>
                  <a:srgbClr val="D6B03D"/>
                </a:solidFill>
                <a:latin typeface="Glacial Indifference"/>
                <a:ea typeface="Glacial Indifference"/>
                <a:cs typeface="Glacial Indifference"/>
                <a:sym typeface="Glacial Indifference"/>
              </a:rPr>
              <a:t>provide international mutual assistance in the enforcement of the GDPR through notification, complaint referral, investigative assistance, and information exchange. They will balance these efforts with safeguarding personal data, and protecting fundamental rights and freedoms.</a:t>
            </a:r>
          </a:p>
          <a:p>
            <a:pPr algn="l" marL="452480" indent="-226240" lvl="1">
              <a:lnSpc>
                <a:spcPts val="2934"/>
              </a:lnSpc>
              <a:buFont typeface="Arial"/>
              <a:buChar char="•"/>
            </a:pPr>
            <a:r>
              <a:rPr lang="en-US" sz="2095" strike="noStrike" u="none">
                <a:solidFill>
                  <a:srgbClr val="D6B03D"/>
                </a:solidFill>
                <a:latin typeface="Glacial Indifference"/>
                <a:ea typeface="Glacial Indifference"/>
                <a:cs typeface="Glacial Indifference"/>
                <a:sym typeface="Glacial Indifference"/>
              </a:rPr>
              <a:t>The Commission and supervisory authorities will </a:t>
            </a:r>
            <a:r>
              <a:rPr lang="en-US" sz="2095" strike="noStrike" u="none">
                <a:solidFill>
                  <a:srgbClr val="D6B03D"/>
                </a:solidFill>
                <a:latin typeface="Glacial Indifference"/>
                <a:ea typeface="Glacial Indifference"/>
                <a:cs typeface="Glacial Indifference"/>
                <a:sym typeface="Glacial Indifference"/>
              </a:rPr>
              <a:t>engage relevant stakeholders in discussion and activities aimed at furthering international cooperation in the enforcement of the GDPR. </a:t>
            </a:r>
          </a:p>
          <a:p>
            <a:pPr algn="l" marL="452480" indent="-226240" lvl="1">
              <a:lnSpc>
                <a:spcPts val="2934"/>
              </a:lnSpc>
              <a:buFont typeface="Arial"/>
              <a:buChar char="•"/>
            </a:pPr>
            <a:r>
              <a:rPr lang="en-US" sz="2095" strike="noStrike" u="none">
                <a:solidFill>
                  <a:srgbClr val="D6B03D"/>
                </a:solidFill>
                <a:latin typeface="Glacial Indifference"/>
                <a:ea typeface="Glacial Indifference"/>
                <a:cs typeface="Glacial Indifference"/>
                <a:sym typeface="Glacial Indifference"/>
              </a:rPr>
              <a:t>The Commission and supervisory authorities will </a:t>
            </a:r>
            <a:r>
              <a:rPr lang="en-US" sz="2095" strike="noStrike" u="none">
                <a:solidFill>
                  <a:srgbClr val="D6B03D"/>
                </a:solidFill>
                <a:latin typeface="Glacial Indifference"/>
                <a:ea typeface="Glacial Indifference"/>
                <a:cs typeface="Glacial Indifference"/>
                <a:sym typeface="Glacial Indifference"/>
              </a:rPr>
              <a:t>promote the exchange and documentation of the enforcement of the GDPR and effective practices.</a:t>
            </a:r>
          </a:p>
        </p:txBody>
      </p:sp>
      <p:sp>
        <p:nvSpPr>
          <p:cNvPr name="TextBox 4" id="4"/>
          <p:cNvSpPr txBox="true"/>
          <p:nvPr/>
        </p:nvSpPr>
        <p:spPr>
          <a:xfrm rot="0">
            <a:off x="9847273" y="2620895"/>
            <a:ext cx="6708755" cy="6990822"/>
          </a:xfrm>
          <a:prstGeom prst="rect">
            <a:avLst/>
          </a:prstGeom>
        </p:spPr>
        <p:txBody>
          <a:bodyPr anchor="t" rtlCol="false" tIns="0" lIns="0" bIns="0" rIns="0">
            <a:spAutoFit/>
          </a:bodyPr>
          <a:lstStyle/>
          <a:p>
            <a:pPr algn="l" marL="409301" indent="-204651" lvl="1">
              <a:lnSpc>
                <a:spcPts val="2654"/>
              </a:lnSpc>
              <a:buFont typeface="Arial"/>
              <a:buChar char="•"/>
            </a:pPr>
            <a:r>
              <a:rPr lang="en-US" sz="1895">
                <a:solidFill>
                  <a:srgbClr val="D6B03D"/>
                </a:solidFill>
                <a:latin typeface="Glacial Indifference"/>
                <a:ea typeface="Glacial Indifference"/>
                <a:cs typeface="Glacial Indifference"/>
                <a:sym typeface="Glacial Indifference"/>
              </a:rPr>
              <a:t>Deployers of an AI system that generates or manipulates image, audio or video content constituting a deep fake, shall disclose that the content has been artificially generated or manipulated. </a:t>
            </a:r>
          </a:p>
          <a:p>
            <a:pPr algn="l" marL="409301" indent="-204651" lvl="1">
              <a:lnSpc>
                <a:spcPts val="2654"/>
              </a:lnSpc>
              <a:buFont typeface="Arial"/>
              <a:buChar char="•"/>
            </a:pPr>
            <a:r>
              <a:rPr lang="en-US" sz="1895">
                <a:solidFill>
                  <a:srgbClr val="D6B03D"/>
                </a:solidFill>
                <a:latin typeface="Glacial Indifference"/>
                <a:ea typeface="Glacial Indifference"/>
                <a:cs typeface="Glacial Indifference"/>
                <a:sym typeface="Glacial Indifference"/>
              </a:rPr>
              <a:t>When the content forms part of an evidently artistic, creative, satirical, fictional or analogous work or program, the transparency obligations are limited to disclosure of the existence of such generated or manipulated content in an appropriate manner that does not impede the display or enjoyment of the work.</a:t>
            </a:r>
          </a:p>
          <a:p>
            <a:pPr algn="l" marL="409301" indent="-204651" lvl="1">
              <a:lnSpc>
                <a:spcPts val="2654"/>
              </a:lnSpc>
              <a:buFont typeface="Arial"/>
              <a:buChar char="•"/>
            </a:pPr>
            <a:r>
              <a:rPr lang="en-US" sz="1895">
                <a:solidFill>
                  <a:srgbClr val="D6B03D"/>
                </a:solidFill>
                <a:latin typeface="Glacial Indifference"/>
                <a:ea typeface="Glacial Indifference"/>
                <a:cs typeface="Glacial Indifference"/>
                <a:sym typeface="Glacial Indifference"/>
              </a:rPr>
              <a:t>When it is published with the purpose of informing the public on matters of public interest, disclosure that the text has been artificially generated or manipulated is required. </a:t>
            </a:r>
          </a:p>
          <a:p>
            <a:pPr algn="l" marL="409301" indent="-204651" lvl="1">
              <a:lnSpc>
                <a:spcPts val="2654"/>
              </a:lnSpc>
              <a:buFont typeface="Arial"/>
              <a:buChar char="•"/>
            </a:pPr>
            <a:r>
              <a:rPr lang="en-US" sz="1895">
                <a:solidFill>
                  <a:srgbClr val="D6B03D"/>
                </a:solidFill>
                <a:latin typeface="Glacial Indifference"/>
                <a:ea typeface="Glacial Indifference"/>
                <a:cs typeface="Glacial Indifference"/>
                <a:sym typeface="Glacial Indifference"/>
              </a:rPr>
              <a:t>The act of using an AI system to make risk assessments of people in order to assess or predict the risk of them committing a criminal offense, based solely on the profiling  or on assessing their personality traits and characteristics is prohibited. </a:t>
            </a:r>
          </a:p>
          <a:p>
            <a:pPr algn="l" marL="409301" indent="-204651" lvl="1">
              <a:lnSpc>
                <a:spcPts val="2654"/>
              </a:lnSpc>
              <a:buFont typeface="Arial"/>
              <a:buChar char="•"/>
            </a:pPr>
            <a:r>
              <a:rPr lang="en-US" sz="1895">
                <a:solidFill>
                  <a:srgbClr val="D6B03D"/>
                </a:solidFill>
                <a:latin typeface="Glacial Indifference"/>
                <a:ea typeface="Glacial Indifference"/>
                <a:cs typeface="Glacial Indifference"/>
                <a:sym typeface="Glacial Indifference"/>
              </a:rPr>
              <a:t>The act of using an AI system to infer emotions of people in the areas of workplace and education institutions is prohibited. There are medical and safety exceptions.</a:t>
            </a:r>
          </a:p>
        </p:txBody>
      </p:sp>
      <p:sp>
        <p:nvSpPr>
          <p:cNvPr name="TextBox 5" id="5"/>
          <p:cNvSpPr txBox="true"/>
          <p:nvPr/>
        </p:nvSpPr>
        <p:spPr>
          <a:xfrm rot="0">
            <a:off x="1731973" y="1772029"/>
            <a:ext cx="5611945" cy="427482"/>
          </a:xfrm>
          <a:prstGeom prst="rect">
            <a:avLst/>
          </a:prstGeom>
        </p:spPr>
        <p:txBody>
          <a:bodyPr anchor="t" rtlCol="false" tIns="0" lIns="0" bIns="0" rIns="0">
            <a:spAutoFit/>
          </a:bodyPr>
          <a:lstStyle/>
          <a:p>
            <a:pPr algn="l" marL="0" indent="0" lvl="1">
              <a:lnSpc>
                <a:spcPts val="3023"/>
              </a:lnSpc>
              <a:spcBef>
                <a:spcPct val="0"/>
              </a:spcBef>
            </a:pPr>
            <a:r>
              <a:rPr lang="en-US" sz="2699" spc="13">
                <a:solidFill>
                  <a:srgbClr val="D6B03D"/>
                </a:solidFill>
                <a:latin typeface="Maharlika"/>
                <a:ea typeface="Maharlika"/>
                <a:cs typeface="Maharlika"/>
                <a:sym typeface="Maharlika"/>
              </a:rPr>
              <a:t>Regulation (EU) 2016/679, art. 50</a:t>
            </a:r>
          </a:p>
        </p:txBody>
      </p:sp>
      <p:sp>
        <p:nvSpPr>
          <p:cNvPr name="TextBox 6" id="6"/>
          <p:cNvSpPr txBox="true"/>
          <p:nvPr/>
        </p:nvSpPr>
        <p:spPr>
          <a:xfrm rot="0">
            <a:off x="9847273" y="1687446"/>
            <a:ext cx="7728198" cy="808482"/>
          </a:xfrm>
          <a:prstGeom prst="rect">
            <a:avLst/>
          </a:prstGeom>
        </p:spPr>
        <p:txBody>
          <a:bodyPr anchor="t" rtlCol="false" tIns="0" lIns="0" bIns="0" rIns="0">
            <a:spAutoFit/>
          </a:bodyPr>
          <a:lstStyle/>
          <a:p>
            <a:pPr algn="l" marL="0" indent="0" lvl="1">
              <a:lnSpc>
                <a:spcPts val="3023"/>
              </a:lnSpc>
              <a:spcBef>
                <a:spcPct val="0"/>
              </a:spcBef>
            </a:pPr>
            <a:r>
              <a:rPr lang="en-US" sz="2699" spc="13">
                <a:solidFill>
                  <a:srgbClr val="D6B03D"/>
                </a:solidFill>
                <a:latin typeface="Maharlika"/>
                <a:ea typeface="Maharlika"/>
                <a:cs typeface="Maharlika"/>
                <a:sym typeface="Maharlika"/>
              </a:rPr>
              <a:t>Regulation 2024/1689, art. 50 &amp; Regulation 2024/1689, art. 5</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898953" y="523228"/>
            <a:ext cx="9656467" cy="1341120"/>
          </a:xfrm>
          <a:prstGeom prst="rect">
            <a:avLst/>
          </a:prstGeom>
        </p:spPr>
        <p:txBody>
          <a:bodyPr anchor="t" rtlCol="false" tIns="0" lIns="0" bIns="0" rIns="0">
            <a:spAutoFit/>
          </a:bodyPr>
          <a:lstStyle/>
          <a:p>
            <a:pPr algn="l">
              <a:lnSpc>
                <a:spcPts val="5040"/>
              </a:lnSpc>
              <a:spcBef>
                <a:spcPct val="0"/>
              </a:spcBef>
            </a:pPr>
            <a:r>
              <a:rPr lang="en-US" sz="4500" spc="22">
                <a:solidFill>
                  <a:srgbClr val="D6B03D"/>
                </a:solidFill>
                <a:latin typeface="Maharlika"/>
                <a:ea typeface="Maharlika"/>
                <a:cs typeface="Maharlika"/>
                <a:sym typeface="Maharlika"/>
              </a:rPr>
              <a:t>Cumulative Privacy &amp; Compliance Framework for State X</a:t>
            </a:r>
          </a:p>
        </p:txBody>
      </p:sp>
      <p:sp>
        <p:nvSpPr>
          <p:cNvPr name="TextBox 3" id="3"/>
          <p:cNvSpPr txBox="true"/>
          <p:nvPr/>
        </p:nvSpPr>
        <p:spPr>
          <a:xfrm rot="0">
            <a:off x="898953" y="1992225"/>
            <a:ext cx="8245047" cy="7425055"/>
          </a:xfrm>
          <a:prstGeom prst="rect">
            <a:avLst/>
          </a:prstGeom>
        </p:spPr>
        <p:txBody>
          <a:bodyPr anchor="t" rtlCol="false" tIns="0" lIns="0" bIns="0" rIns="0">
            <a:spAutoFit/>
          </a:bodyPr>
          <a:lstStyle/>
          <a:p>
            <a:pPr algn="l" marL="604516" indent="-302258" lvl="1">
              <a:lnSpc>
                <a:spcPts val="3919"/>
              </a:lnSpc>
              <a:buFont typeface="Arial"/>
              <a:buChar char="•"/>
            </a:pPr>
            <a:r>
              <a:rPr lang="en-US" sz="2799">
                <a:solidFill>
                  <a:srgbClr val="D6B03D"/>
                </a:solidFill>
                <a:latin typeface="Glacial Indifference"/>
                <a:ea typeface="Glacial Indifference"/>
                <a:cs typeface="Glacial Indifference"/>
                <a:sym typeface="Glacial Indifference"/>
              </a:rPr>
              <a:t>No expansion of the definitions provisions in any of the laws or regulations discussed. </a:t>
            </a:r>
          </a:p>
          <a:p>
            <a:pPr algn="l" marL="604516" indent="-302258" lvl="1">
              <a:lnSpc>
                <a:spcPts val="3919"/>
              </a:lnSpc>
              <a:buFont typeface="Arial"/>
              <a:buChar char="•"/>
            </a:pPr>
            <a:r>
              <a:rPr lang="en-US" sz="2799">
                <a:solidFill>
                  <a:srgbClr val="D6B03D"/>
                </a:solidFill>
                <a:latin typeface="Glacial Indifference"/>
                <a:ea typeface="Glacial Indifference"/>
                <a:cs typeface="Glacial Indifference"/>
                <a:sym typeface="Glacial Indifference"/>
              </a:rPr>
              <a:t>Extend protection to private action </a:t>
            </a:r>
          </a:p>
          <a:p>
            <a:pPr algn="l" marL="604516" indent="-302258" lvl="1">
              <a:lnSpc>
                <a:spcPts val="3919"/>
              </a:lnSpc>
              <a:buFont typeface="Arial"/>
              <a:buChar char="•"/>
            </a:pPr>
            <a:r>
              <a:rPr lang="en-US" sz="2799">
                <a:solidFill>
                  <a:srgbClr val="D6B03D"/>
                </a:solidFill>
                <a:latin typeface="Glacial Indifference"/>
                <a:ea typeface="Glacial Indifference"/>
                <a:cs typeface="Glacial Indifference"/>
                <a:sym typeface="Glacial Indifference"/>
              </a:rPr>
              <a:t>Maintain dual penalties, civil and criminal</a:t>
            </a:r>
          </a:p>
          <a:p>
            <a:pPr algn="l" marL="604516" indent="-302258" lvl="1">
              <a:lnSpc>
                <a:spcPts val="3919"/>
              </a:lnSpc>
              <a:buFont typeface="Arial"/>
              <a:buChar char="•"/>
            </a:pPr>
            <a:r>
              <a:rPr lang="en-US" sz="2799">
                <a:solidFill>
                  <a:srgbClr val="D6B03D"/>
                </a:solidFill>
                <a:latin typeface="Glacial Indifference"/>
                <a:ea typeface="Glacial Indifference"/>
                <a:cs typeface="Glacial Indifference"/>
                <a:sym typeface="Glacial Indifference"/>
              </a:rPr>
              <a:t>Use Florida’s civil penalty of $50,000 for violations involving child sensitive data as a minimum threshold for violations involving all sensitive data </a:t>
            </a:r>
          </a:p>
          <a:p>
            <a:pPr algn="l" marL="604516" indent="-302258" lvl="1">
              <a:lnSpc>
                <a:spcPts val="3919"/>
              </a:lnSpc>
              <a:buFont typeface="Arial"/>
              <a:buChar char="•"/>
            </a:pPr>
            <a:r>
              <a:rPr lang="en-US" sz="2799">
                <a:solidFill>
                  <a:srgbClr val="D6B03D"/>
                </a:solidFill>
                <a:latin typeface="Glacial Indifference"/>
                <a:ea typeface="Glacial Indifference"/>
                <a:cs typeface="Glacial Indifference"/>
                <a:sym typeface="Glacial Indifference"/>
              </a:rPr>
              <a:t>Implement a total ban on the sale of sensitive information</a:t>
            </a:r>
          </a:p>
          <a:p>
            <a:pPr algn="l" marL="604516" indent="-302258" lvl="1">
              <a:lnSpc>
                <a:spcPts val="3919"/>
              </a:lnSpc>
              <a:buFont typeface="Arial"/>
              <a:buChar char="•"/>
            </a:pPr>
            <a:r>
              <a:rPr lang="en-US" sz="2799">
                <a:solidFill>
                  <a:srgbClr val="D6B03D"/>
                </a:solidFill>
                <a:latin typeface="Glacial Indifference"/>
                <a:ea typeface="Glacial Indifference"/>
                <a:cs typeface="Glacial Indifference"/>
                <a:sym typeface="Glacial Indifference"/>
              </a:rPr>
              <a:t>Keep the CCPA, CPRA, and other state rights for individuals and employees except for right to opt out</a:t>
            </a:r>
          </a:p>
          <a:p>
            <a:pPr algn="l" marL="604516" indent="-302258" lvl="1">
              <a:lnSpc>
                <a:spcPts val="3919"/>
              </a:lnSpc>
              <a:buFont typeface="Arial"/>
              <a:buChar char="•"/>
            </a:pPr>
            <a:r>
              <a:rPr lang="en-US" sz="2799">
                <a:solidFill>
                  <a:srgbClr val="D6B03D"/>
                </a:solidFill>
                <a:latin typeface="Glacial Indifference"/>
                <a:ea typeface="Glacial Indifference"/>
                <a:cs typeface="Glacial Indifference"/>
                <a:sym typeface="Glacial Indifference"/>
              </a:rPr>
              <a:t>Implement affirmative consent and the right to opt in for all sensitive data</a:t>
            </a:r>
          </a:p>
        </p:txBody>
      </p:sp>
      <p:grpSp>
        <p:nvGrpSpPr>
          <p:cNvPr name="Group 4" id="4"/>
          <p:cNvGrpSpPr>
            <a:grpSpLocks noChangeAspect="true"/>
          </p:cNvGrpSpPr>
          <p:nvPr/>
        </p:nvGrpSpPr>
        <p:grpSpPr>
          <a:xfrm rot="0">
            <a:off x="9954738" y="1028700"/>
            <a:ext cx="7601127" cy="7601127"/>
            <a:chOff x="0" y="0"/>
            <a:chExt cx="8916670" cy="8916670"/>
          </a:xfrm>
        </p:grpSpPr>
        <p:sp>
          <p:nvSpPr>
            <p:cNvPr name="Freeform 5" id="5"/>
            <p:cNvSpPr/>
            <p:nvPr/>
          </p:nvSpPr>
          <p:spPr>
            <a:xfrm flipH="false" flipV="false" rot="0">
              <a:off x="154940" y="154940"/>
              <a:ext cx="8605520" cy="8605520"/>
            </a:xfrm>
            <a:custGeom>
              <a:avLst/>
              <a:gdLst/>
              <a:ahLst/>
              <a:cxnLst/>
              <a:rect r="r" b="b" t="t" l="l"/>
              <a:pathLst>
                <a:path h="8605520" w="8605520">
                  <a:moveTo>
                    <a:pt x="8605520" y="4302760"/>
                  </a:moveTo>
                  <a:cubicBezTo>
                    <a:pt x="8605520" y="6678930"/>
                    <a:pt x="6678930" y="8605520"/>
                    <a:pt x="4302760" y="8605520"/>
                  </a:cubicBezTo>
                  <a:cubicBezTo>
                    <a:pt x="1926590" y="8605520"/>
                    <a:pt x="0" y="6680200"/>
                    <a:pt x="0" y="4302760"/>
                  </a:cubicBezTo>
                  <a:cubicBezTo>
                    <a:pt x="0" y="1925320"/>
                    <a:pt x="1926590" y="0"/>
                    <a:pt x="4302760" y="0"/>
                  </a:cubicBezTo>
                  <a:cubicBezTo>
                    <a:pt x="6678930" y="0"/>
                    <a:pt x="8605520" y="1926590"/>
                    <a:pt x="8605520" y="4302760"/>
                  </a:cubicBezTo>
                  <a:close/>
                </a:path>
              </a:pathLst>
            </a:custGeom>
            <a:blipFill>
              <a:blip r:embed="rId2"/>
              <a:stretch>
                <a:fillRect l="-20011" t="0" r="-20011" b="0"/>
              </a:stretch>
            </a:blipFill>
          </p:spPr>
        </p:sp>
        <p:sp>
          <p:nvSpPr>
            <p:cNvPr name="Freeform 6" id="6"/>
            <p:cNvSpPr/>
            <p:nvPr/>
          </p:nvSpPr>
          <p:spPr>
            <a:xfrm flipH="false" flipV="false" rot="0">
              <a:off x="6350" y="6350"/>
              <a:ext cx="8903970" cy="8903970"/>
            </a:xfrm>
            <a:custGeom>
              <a:avLst/>
              <a:gdLst/>
              <a:ahLst/>
              <a:cxnLst/>
              <a:rect r="r" b="b" t="t" l="l"/>
              <a:pathLst>
                <a:path h="8903970" w="8903970">
                  <a:moveTo>
                    <a:pt x="4451350" y="8903970"/>
                  </a:moveTo>
                  <a:cubicBezTo>
                    <a:pt x="1997710" y="8903970"/>
                    <a:pt x="0" y="6906260"/>
                    <a:pt x="0" y="4451350"/>
                  </a:cubicBezTo>
                  <a:cubicBezTo>
                    <a:pt x="0" y="1996440"/>
                    <a:pt x="1997710" y="0"/>
                    <a:pt x="4451350" y="0"/>
                  </a:cubicBezTo>
                  <a:cubicBezTo>
                    <a:pt x="6904990" y="0"/>
                    <a:pt x="8903970" y="1997710"/>
                    <a:pt x="8903970" y="4451350"/>
                  </a:cubicBezTo>
                  <a:cubicBezTo>
                    <a:pt x="8903970" y="6904990"/>
                    <a:pt x="6906260" y="8903970"/>
                    <a:pt x="4451350" y="8903970"/>
                  </a:cubicBezTo>
                  <a:close/>
                  <a:moveTo>
                    <a:pt x="4451350" y="19050"/>
                  </a:moveTo>
                  <a:cubicBezTo>
                    <a:pt x="2007870" y="19050"/>
                    <a:pt x="19050" y="2007870"/>
                    <a:pt x="19050" y="4451350"/>
                  </a:cubicBezTo>
                  <a:cubicBezTo>
                    <a:pt x="19050" y="6894830"/>
                    <a:pt x="2007870" y="8883650"/>
                    <a:pt x="4451350" y="8883650"/>
                  </a:cubicBezTo>
                  <a:cubicBezTo>
                    <a:pt x="6894830" y="8883650"/>
                    <a:pt x="8883650" y="6894830"/>
                    <a:pt x="8883650" y="4451350"/>
                  </a:cubicBezTo>
                  <a:cubicBezTo>
                    <a:pt x="8883650" y="2007870"/>
                    <a:pt x="6896100" y="19050"/>
                    <a:pt x="4451350" y="19050"/>
                  </a:cubicBezTo>
                  <a:close/>
                  <a:moveTo>
                    <a:pt x="4451350" y="8764270"/>
                  </a:moveTo>
                  <a:cubicBezTo>
                    <a:pt x="2073910" y="8764270"/>
                    <a:pt x="139700" y="6830060"/>
                    <a:pt x="139700" y="4451350"/>
                  </a:cubicBezTo>
                  <a:cubicBezTo>
                    <a:pt x="139700" y="2072640"/>
                    <a:pt x="2073910" y="139700"/>
                    <a:pt x="4451350" y="139700"/>
                  </a:cubicBezTo>
                  <a:cubicBezTo>
                    <a:pt x="6828790" y="139700"/>
                    <a:pt x="8764270" y="2073910"/>
                    <a:pt x="8764270" y="4451350"/>
                  </a:cubicBezTo>
                  <a:cubicBezTo>
                    <a:pt x="8764270" y="6828790"/>
                    <a:pt x="6830060" y="8764270"/>
                    <a:pt x="4451350" y="8764270"/>
                  </a:cubicBezTo>
                  <a:close/>
                  <a:moveTo>
                    <a:pt x="4451350" y="158750"/>
                  </a:moveTo>
                  <a:cubicBezTo>
                    <a:pt x="2084070" y="158750"/>
                    <a:pt x="158750" y="2084070"/>
                    <a:pt x="158750" y="4451350"/>
                  </a:cubicBezTo>
                  <a:cubicBezTo>
                    <a:pt x="158750" y="6818630"/>
                    <a:pt x="2084070" y="8743950"/>
                    <a:pt x="4451350" y="8743950"/>
                  </a:cubicBezTo>
                  <a:cubicBezTo>
                    <a:pt x="6818630" y="8743950"/>
                    <a:pt x="8743950" y="6818630"/>
                    <a:pt x="8743950" y="4451350"/>
                  </a:cubicBezTo>
                  <a:cubicBezTo>
                    <a:pt x="8743950" y="2084070"/>
                    <a:pt x="6819900" y="158750"/>
                    <a:pt x="4451350" y="158750"/>
                  </a:cubicBezTo>
                  <a:close/>
                </a:path>
              </a:pathLst>
            </a:custGeom>
            <a:solidFill>
              <a:srgbClr val="D6B03D"/>
            </a:solidFill>
          </p:spPr>
        </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1028700" y="774437"/>
            <a:ext cx="9656467" cy="1341120"/>
          </a:xfrm>
          <a:prstGeom prst="rect">
            <a:avLst/>
          </a:prstGeom>
        </p:spPr>
        <p:txBody>
          <a:bodyPr anchor="t" rtlCol="false" tIns="0" lIns="0" bIns="0" rIns="0">
            <a:spAutoFit/>
          </a:bodyPr>
          <a:lstStyle/>
          <a:p>
            <a:pPr algn="l">
              <a:lnSpc>
                <a:spcPts val="5040"/>
              </a:lnSpc>
              <a:spcBef>
                <a:spcPct val="0"/>
              </a:spcBef>
            </a:pPr>
            <a:r>
              <a:rPr lang="en-US" sz="4500" spc="22">
                <a:solidFill>
                  <a:srgbClr val="D6B03D"/>
                </a:solidFill>
                <a:latin typeface="Maharlika"/>
                <a:ea typeface="Maharlika"/>
                <a:cs typeface="Maharlika"/>
                <a:sym typeface="Maharlika"/>
              </a:rPr>
              <a:t>Cumulative Privacy &amp; Compliance Framework for State X</a:t>
            </a:r>
          </a:p>
        </p:txBody>
      </p:sp>
      <p:sp>
        <p:nvSpPr>
          <p:cNvPr name="TextBox 3" id="3"/>
          <p:cNvSpPr txBox="true"/>
          <p:nvPr/>
        </p:nvSpPr>
        <p:spPr>
          <a:xfrm rot="0">
            <a:off x="898953" y="2243137"/>
            <a:ext cx="8245047" cy="5743576"/>
          </a:xfrm>
          <a:prstGeom prst="rect">
            <a:avLst/>
          </a:prstGeom>
        </p:spPr>
        <p:txBody>
          <a:bodyPr anchor="t" rtlCol="false" tIns="0" lIns="0" bIns="0" rIns="0">
            <a:spAutoFit/>
          </a:bodyPr>
          <a:lstStyle/>
          <a:p>
            <a:pPr algn="l" marL="647695" indent="-323848" lvl="1">
              <a:lnSpc>
                <a:spcPts val="4199"/>
              </a:lnSpc>
              <a:buFont typeface="Arial"/>
              <a:buChar char="•"/>
            </a:pPr>
            <a:r>
              <a:rPr lang="en-US" sz="2999">
                <a:solidFill>
                  <a:srgbClr val="D6B03D"/>
                </a:solidFill>
                <a:latin typeface="Glacial Indifference"/>
                <a:ea typeface="Glacial Indifference"/>
                <a:cs typeface="Glacial Indifference"/>
                <a:sym typeface="Glacial Indifference"/>
              </a:rPr>
              <a:t>Implement the requirements in the Washington My Health My Data Act</a:t>
            </a:r>
          </a:p>
          <a:p>
            <a:pPr algn="l" marL="647695" indent="-323848" lvl="1">
              <a:lnSpc>
                <a:spcPts val="4199"/>
              </a:lnSpc>
              <a:buFont typeface="Arial"/>
              <a:buChar char="•"/>
            </a:pPr>
            <a:r>
              <a:rPr lang="en-US" sz="2999">
                <a:solidFill>
                  <a:srgbClr val="D6B03D"/>
                </a:solidFill>
                <a:latin typeface="Glacial Indifference"/>
                <a:ea typeface="Glacial Indifference"/>
                <a:cs typeface="Glacial Indifference"/>
                <a:sym typeface="Glacial Indifference"/>
              </a:rPr>
              <a:t>Include all aforementioned model state data privacy act changes</a:t>
            </a:r>
          </a:p>
          <a:p>
            <a:pPr algn="l" marL="647695" indent="-323848" lvl="1">
              <a:lnSpc>
                <a:spcPts val="4199"/>
              </a:lnSpc>
              <a:buFont typeface="Arial"/>
              <a:buChar char="•"/>
            </a:pPr>
            <a:r>
              <a:rPr lang="en-US" sz="2999">
                <a:solidFill>
                  <a:srgbClr val="D6B03D"/>
                </a:solidFill>
                <a:latin typeface="Glacial Indifference"/>
                <a:ea typeface="Glacial Indifference"/>
                <a:cs typeface="Glacial Indifference"/>
                <a:sym typeface="Glacial Indifference"/>
              </a:rPr>
              <a:t>Include all AI bill protections</a:t>
            </a:r>
          </a:p>
          <a:p>
            <a:pPr algn="l" marL="647695" indent="-323848" lvl="1">
              <a:lnSpc>
                <a:spcPts val="4199"/>
              </a:lnSpc>
              <a:buFont typeface="Arial"/>
              <a:buChar char="•"/>
            </a:pPr>
            <a:r>
              <a:rPr lang="en-US" sz="2999">
                <a:solidFill>
                  <a:srgbClr val="D6B03D"/>
                </a:solidFill>
                <a:latin typeface="Glacial Indifference"/>
                <a:ea typeface="Glacial Indifference"/>
                <a:cs typeface="Glacial Indifference"/>
                <a:sym typeface="Glacial Indifference"/>
              </a:rPr>
              <a:t>Facilitate cooperation between states to ensure citizens of State X are protected</a:t>
            </a:r>
          </a:p>
          <a:p>
            <a:pPr algn="l" marL="647695" indent="-323848" lvl="1">
              <a:lnSpc>
                <a:spcPts val="4199"/>
              </a:lnSpc>
              <a:buFont typeface="Arial"/>
              <a:buChar char="•"/>
            </a:pPr>
            <a:r>
              <a:rPr lang="en-US" sz="2999">
                <a:solidFill>
                  <a:srgbClr val="D6B03D"/>
                </a:solidFill>
                <a:latin typeface="Glacial Indifference"/>
                <a:ea typeface="Glacial Indifference"/>
                <a:cs typeface="Glacial Indifference"/>
                <a:sym typeface="Glacial Indifference"/>
              </a:rPr>
              <a:t>Include protection from AI deepfakes</a:t>
            </a:r>
          </a:p>
          <a:p>
            <a:pPr algn="l" marL="647695" indent="-323848" lvl="1">
              <a:lnSpc>
                <a:spcPts val="4199"/>
              </a:lnSpc>
              <a:buFont typeface="Arial"/>
              <a:buChar char="•"/>
            </a:pPr>
            <a:r>
              <a:rPr lang="en-US" sz="2999">
                <a:solidFill>
                  <a:srgbClr val="D6B03D"/>
                </a:solidFill>
                <a:latin typeface="Glacial Indifference"/>
                <a:ea typeface="Glacial Indifference"/>
                <a:cs typeface="Glacial Indifference"/>
                <a:sym typeface="Glacial Indifference"/>
              </a:rPr>
              <a:t>Protect workplaces, educational institutions, and the notion of innocent until proven guilty from AI </a:t>
            </a:r>
          </a:p>
        </p:txBody>
      </p:sp>
      <p:grpSp>
        <p:nvGrpSpPr>
          <p:cNvPr name="Group 4" id="4"/>
          <p:cNvGrpSpPr>
            <a:grpSpLocks noChangeAspect="true"/>
          </p:cNvGrpSpPr>
          <p:nvPr/>
        </p:nvGrpSpPr>
        <p:grpSpPr>
          <a:xfrm rot="0">
            <a:off x="9954738" y="1028700"/>
            <a:ext cx="7601127" cy="7601127"/>
            <a:chOff x="0" y="0"/>
            <a:chExt cx="8916670" cy="8916670"/>
          </a:xfrm>
        </p:grpSpPr>
        <p:sp>
          <p:nvSpPr>
            <p:cNvPr name="Freeform 5" id="5"/>
            <p:cNvSpPr/>
            <p:nvPr/>
          </p:nvSpPr>
          <p:spPr>
            <a:xfrm flipH="false" flipV="false" rot="0">
              <a:off x="154940" y="154940"/>
              <a:ext cx="8605520" cy="8605520"/>
            </a:xfrm>
            <a:custGeom>
              <a:avLst/>
              <a:gdLst/>
              <a:ahLst/>
              <a:cxnLst/>
              <a:rect r="r" b="b" t="t" l="l"/>
              <a:pathLst>
                <a:path h="8605520" w="8605520">
                  <a:moveTo>
                    <a:pt x="8605520" y="4302760"/>
                  </a:moveTo>
                  <a:cubicBezTo>
                    <a:pt x="8605520" y="6678930"/>
                    <a:pt x="6678930" y="8605520"/>
                    <a:pt x="4302760" y="8605520"/>
                  </a:cubicBezTo>
                  <a:cubicBezTo>
                    <a:pt x="1926590" y="8605520"/>
                    <a:pt x="0" y="6680200"/>
                    <a:pt x="0" y="4302760"/>
                  </a:cubicBezTo>
                  <a:cubicBezTo>
                    <a:pt x="0" y="1925320"/>
                    <a:pt x="1926590" y="0"/>
                    <a:pt x="4302760" y="0"/>
                  </a:cubicBezTo>
                  <a:cubicBezTo>
                    <a:pt x="6678930" y="0"/>
                    <a:pt x="8605520" y="1926590"/>
                    <a:pt x="8605520" y="4302760"/>
                  </a:cubicBezTo>
                  <a:close/>
                </a:path>
              </a:pathLst>
            </a:custGeom>
            <a:blipFill>
              <a:blip r:embed="rId2"/>
              <a:stretch>
                <a:fillRect l="-20011" t="0" r="-20011" b="0"/>
              </a:stretch>
            </a:blipFill>
          </p:spPr>
        </p:sp>
        <p:sp>
          <p:nvSpPr>
            <p:cNvPr name="Freeform 6" id="6"/>
            <p:cNvSpPr/>
            <p:nvPr/>
          </p:nvSpPr>
          <p:spPr>
            <a:xfrm flipH="false" flipV="false" rot="0">
              <a:off x="6350" y="6350"/>
              <a:ext cx="8903970" cy="8903970"/>
            </a:xfrm>
            <a:custGeom>
              <a:avLst/>
              <a:gdLst/>
              <a:ahLst/>
              <a:cxnLst/>
              <a:rect r="r" b="b" t="t" l="l"/>
              <a:pathLst>
                <a:path h="8903970" w="8903970">
                  <a:moveTo>
                    <a:pt x="4451350" y="8903970"/>
                  </a:moveTo>
                  <a:cubicBezTo>
                    <a:pt x="1997710" y="8903970"/>
                    <a:pt x="0" y="6906260"/>
                    <a:pt x="0" y="4451350"/>
                  </a:cubicBezTo>
                  <a:cubicBezTo>
                    <a:pt x="0" y="1996440"/>
                    <a:pt x="1997710" y="0"/>
                    <a:pt x="4451350" y="0"/>
                  </a:cubicBezTo>
                  <a:cubicBezTo>
                    <a:pt x="6904990" y="0"/>
                    <a:pt x="8903970" y="1997710"/>
                    <a:pt x="8903970" y="4451350"/>
                  </a:cubicBezTo>
                  <a:cubicBezTo>
                    <a:pt x="8903970" y="6904990"/>
                    <a:pt x="6906260" y="8903970"/>
                    <a:pt x="4451350" y="8903970"/>
                  </a:cubicBezTo>
                  <a:close/>
                  <a:moveTo>
                    <a:pt x="4451350" y="19050"/>
                  </a:moveTo>
                  <a:cubicBezTo>
                    <a:pt x="2007870" y="19050"/>
                    <a:pt x="19050" y="2007870"/>
                    <a:pt x="19050" y="4451350"/>
                  </a:cubicBezTo>
                  <a:cubicBezTo>
                    <a:pt x="19050" y="6894830"/>
                    <a:pt x="2007870" y="8883650"/>
                    <a:pt x="4451350" y="8883650"/>
                  </a:cubicBezTo>
                  <a:cubicBezTo>
                    <a:pt x="6894830" y="8883650"/>
                    <a:pt x="8883650" y="6894830"/>
                    <a:pt x="8883650" y="4451350"/>
                  </a:cubicBezTo>
                  <a:cubicBezTo>
                    <a:pt x="8883650" y="2007870"/>
                    <a:pt x="6896100" y="19050"/>
                    <a:pt x="4451350" y="19050"/>
                  </a:cubicBezTo>
                  <a:close/>
                  <a:moveTo>
                    <a:pt x="4451350" y="8764270"/>
                  </a:moveTo>
                  <a:cubicBezTo>
                    <a:pt x="2073910" y="8764270"/>
                    <a:pt x="139700" y="6830060"/>
                    <a:pt x="139700" y="4451350"/>
                  </a:cubicBezTo>
                  <a:cubicBezTo>
                    <a:pt x="139700" y="2072640"/>
                    <a:pt x="2073910" y="139700"/>
                    <a:pt x="4451350" y="139700"/>
                  </a:cubicBezTo>
                  <a:cubicBezTo>
                    <a:pt x="6828790" y="139700"/>
                    <a:pt x="8764270" y="2073910"/>
                    <a:pt x="8764270" y="4451350"/>
                  </a:cubicBezTo>
                  <a:cubicBezTo>
                    <a:pt x="8764270" y="6828790"/>
                    <a:pt x="6830060" y="8764270"/>
                    <a:pt x="4451350" y="8764270"/>
                  </a:cubicBezTo>
                  <a:close/>
                  <a:moveTo>
                    <a:pt x="4451350" y="158750"/>
                  </a:moveTo>
                  <a:cubicBezTo>
                    <a:pt x="2084070" y="158750"/>
                    <a:pt x="158750" y="2084070"/>
                    <a:pt x="158750" y="4451350"/>
                  </a:cubicBezTo>
                  <a:cubicBezTo>
                    <a:pt x="158750" y="6818630"/>
                    <a:pt x="2084070" y="8743950"/>
                    <a:pt x="4451350" y="8743950"/>
                  </a:cubicBezTo>
                  <a:cubicBezTo>
                    <a:pt x="6818630" y="8743950"/>
                    <a:pt x="8743950" y="6818630"/>
                    <a:pt x="8743950" y="4451350"/>
                  </a:cubicBezTo>
                  <a:cubicBezTo>
                    <a:pt x="8743950" y="2084070"/>
                    <a:pt x="6819900" y="158750"/>
                    <a:pt x="4451350" y="158750"/>
                  </a:cubicBezTo>
                  <a:close/>
                </a:path>
              </a:pathLst>
            </a:custGeom>
            <a:solidFill>
              <a:srgbClr val="D6B03D"/>
            </a:solidFill>
          </p:spPr>
        </p:sp>
      </p:grpSp>
    </p:spTree>
  </p:cSld>
  <p:clrMapOvr>
    <a:masterClrMapping/>
  </p:clrMapOvr>
</p:sld>
</file>

<file path=ppt/slides/slide25.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458667" y="886871"/>
            <a:ext cx="15177207" cy="7705848"/>
            <a:chOff x="0" y="0"/>
            <a:chExt cx="2525418" cy="1282218"/>
          </a:xfrm>
        </p:grpSpPr>
        <p:sp>
          <p:nvSpPr>
            <p:cNvPr name="Freeform 3" id="3"/>
            <p:cNvSpPr/>
            <p:nvPr/>
          </p:nvSpPr>
          <p:spPr>
            <a:xfrm flipH="false" flipV="false" rot="0">
              <a:off x="0" y="0"/>
              <a:ext cx="2525418" cy="1282218"/>
            </a:xfrm>
            <a:custGeom>
              <a:avLst/>
              <a:gdLst/>
              <a:ahLst/>
              <a:cxnLst/>
              <a:rect r="r" b="b" t="t" l="l"/>
              <a:pathLst>
                <a:path h="1282218" w="2525418">
                  <a:moveTo>
                    <a:pt x="2446000" y="0"/>
                  </a:moveTo>
                  <a:lnTo>
                    <a:pt x="79418" y="0"/>
                  </a:lnTo>
                  <a:cubicBezTo>
                    <a:pt x="79418" y="43699"/>
                    <a:pt x="44079" y="79418"/>
                    <a:pt x="0" y="79418"/>
                  </a:cubicBezTo>
                  <a:lnTo>
                    <a:pt x="0" y="1202800"/>
                  </a:lnTo>
                  <a:cubicBezTo>
                    <a:pt x="43699" y="1202800"/>
                    <a:pt x="79418" y="1238139"/>
                    <a:pt x="79418" y="1282218"/>
                  </a:cubicBezTo>
                  <a:lnTo>
                    <a:pt x="2446000" y="1282218"/>
                  </a:lnTo>
                  <a:cubicBezTo>
                    <a:pt x="2446000" y="1238519"/>
                    <a:pt x="2481339" y="1202800"/>
                    <a:pt x="2525418" y="1202800"/>
                  </a:cubicBezTo>
                  <a:lnTo>
                    <a:pt x="2525418" y="79418"/>
                  </a:lnTo>
                  <a:cubicBezTo>
                    <a:pt x="2481719" y="79418"/>
                    <a:pt x="2446000" y="44079"/>
                    <a:pt x="2446000" y="0"/>
                  </a:cubicBezTo>
                  <a:close/>
                </a:path>
              </a:pathLst>
            </a:custGeom>
            <a:ln w="28575" cap="sq">
              <a:solidFill>
                <a:srgbClr val="D6B03D"/>
              </a:solidFill>
              <a:prstDash val="solid"/>
              <a:miter/>
            </a:ln>
          </p:spPr>
        </p:sp>
        <p:sp>
          <p:nvSpPr>
            <p:cNvPr name="TextBox 4" id="4"/>
            <p:cNvSpPr txBox="true"/>
            <p:nvPr/>
          </p:nvSpPr>
          <p:spPr>
            <a:xfrm>
              <a:off x="38100" y="-114300"/>
              <a:ext cx="2449218" cy="1358418"/>
            </a:xfrm>
            <a:prstGeom prst="rect">
              <a:avLst/>
            </a:prstGeom>
          </p:spPr>
          <p:txBody>
            <a:bodyPr anchor="ctr" rtlCol="false" tIns="50800" lIns="50800" bIns="50800" rIns="50800"/>
            <a:lstStyle/>
            <a:p>
              <a:pPr algn="ctr">
                <a:lnSpc>
                  <a:spcPts val="4697"/>
                </a:lnSpc>
              </a:pPr>
            </a:p>
          </p:txBody>
        </p:sp>
      </p:grpSp>
      <p:sp>
        <p:nvSpPr>
          <p:cNvPr name="TextBox 5" id="5"/>
          <p:cNvSpPr txBox="true"/>
          <p:nvPr/>
        </p:nvSpPr>
        <p:spPr>
          <a:xfrm rot="0">
            <a:off x="4631295" y="1233366"/>
            <a:ext cx="8831951" cy="728349"/>
          </a:xfrm>
          <a:prstGeom prst="rect">
            <a:avLst/>
          </a:prstGeom>
        </p:spPr>
        <p:txBody>
          <a:bodyPr anchor="t" rtlCol="false" tIns="0" lIns="0" bIns="0" rIns="0">
            <a:spAutoFit/>
          </a:bodyPr>
          <a:lstStyle/>
          <a:p>
            <a:pPr algn="ctr">
              <a:lnSpc>
                <a:spcPts val="5286"/>
              </a:lnSpc>
              <a:spcBef>
                <a:spcPct val="0"/>
              </a:spcBef>
            </a:pPr>
            <a:r>
              <a:rPr lang="en-US" sz="4720" spc="23">
                <a:solidFill>
                  <a:srgbClr val="D6B03D"/>
                </a:solidFill>
                <a:latin typeface="Maharlika"/>
                <a:ea typeface="Maharlika"/>
                <a:cs typeface="Maharlika"/>
                <a:sym typeface="Maharlika"/>
              </a:rPr>
              <a:t>Sources</a:t>
            </a:r>
          </a:p>
        </p:txBody>
      </p:sp>
      <p:sp>
        <p:nvSpPr>
          <p:cNvPr name="TextBox 6" id="6"/>
          <p:cNvSpPr txBox="true"/>
          <p:nvPr/>
        </p:nvSpPr>
        <p:spPr>
          <a:xfrm rot="0">
            <a:off x="2187172" y="1923615"/>
            <a:ext cx="13720196" cy="6323965"/>
          </a:xfrm>
          <a:prstGeom prst="rect">
            <a:avLst/>
          </a:prstGeom>
        </p:spPr>
        <p:txBody>
          <a:bodyPr anchor="t" rtlCol="false" tIns="0" lIns="0" bIns="0" rIns="0">
            <a:spAutoFit/>
          </a:bodyPr>
          <a:lstStyle/>
          <a:p>
            <a:pPr algn="l" marL="410208" indent="-205104" lvl="1">
              <a:lnSpc>
                <a:spcPts val="2659"/>
              </a:lnSpc>
              <a:buFont typeface="Arial"/>
              <a:buChar char="•"/>
            </a:pPr>
            <a:r>
              <a:rPr lang="en-US" sz="1899">
                <a:solidFill>
                  <a:srgbClr val="D6B03D"/>
                </a:solidFill>
                <a:latin typeface="Glacial Indifference"/>
                <a:ea typeface="Glacial Indifference"/>
                <a:cs typeface="Glacial Indifference"/>
                <a:sym typeface="Glacial Indifference"/>
              </a:rPr>
              <a:t>Rec</a:t>
            </a:r>
            <a:r>
              <a:rPr lang="en-US" sz="1899" strike="noStrike" u="none">
                <a:solidFill>
                  <a:srgbClr val="D6B03D"/>
                </a:solidFill>
                <a:latin typeface="Glacial Indifference"/>
                <a:ea typeface="Glacial Indifference"/>
                <a:cs typeface="Glacial Indifference"/>
                <a:sym typeface="Glacial Indifference"/>
              </a:rPr>
              <a:t>ords maintained </a:t>
            </a:r>
            <a:r>
              <a:rPr lang="en-US" sz="1899" strike="noStrike" u="none">
                <a:solidFill>
                  <a:srgbClr val="D6B03D"/>
                </a:solidFill>
                <a:latin typeface="Glacial Indifference"/>
                <a:ea typeface="Glacial Indifference"/>
                <a:cs typeface="Glacial Indifference"/>
                <a:sym typeface="Glacial Indifference"/>
              </a:rPr>
              <a:t>on</a:t>
            </a:r>
            <a:r>
              <a:rPr lang="en-US" sz="1899" strike="noStrike" u="none">
                <a:solidFill>
                  <a:srgbClr val="D6B03D"/>
                </a:solidFill>
                <a:latin typeface="Glacial Indifference"/>
                <a:ea typeface="Glacial Indifference"/>
                <a:cs typeface="Glacial Indifference"/>
                <a:sym typeface="Glacial Indifference"/>
              </a:rPr>
              <a:t> </a:t>
            </a:r>
            <a:r>
              <a:rPr lang="en-US" sz="1899" strike="noStrike" u="none">
                <a:solidFill>
                  <a:srgbClr val="D6B03D"/>
                </a:solidFill>
                <a:latin typeface="Glacial Indifference"/>
                <a:ea typeface="Glacial Indifference"/>
                <a:cs typeface="Glacial Indifference"/>
                <a:sym typeface="Glacial Indifference"/>
              </a:rPr>
              <a:t>i</a:t>
            </a:r>
            <a:r>
              <a:rPr lang="en-US" sz="1899" strike="noStrike" u="none">
                <a:solidFill>
                  <a:srgbClr val="D6B03D"/>
                </a:solidFill>
                <a:latin typeface="Glacial Indifference"/>
                <a:ea typeface="Glacial Indifference"/>
                <a:cs typeface="Glacial Indifference"/>
                <a:sym typeface="Glacial Indifference"/>
              </a:rPr>
              <a:t>n</a:t>
            </a:r>
            <a:r>
              <a:rPr lang="en-US" sz="1899" strike="noStrike" u="none">
                <a:solidFill>
                  <a:srgbClr val="D6B03D"/>
                </a:solidFill>
                <a:latin typeface="Glacial Indifference"/>
                <a:ea typeface="Glacial Indifference"/>
                <a:cs typeface="Glacial Indifference"/>
                <a:sym typeface="Glacial Indifference"/>
              </a:rPr>
              <a:t>d</a:t>
            </a:r>
            <a:r>
              <a:rPr lang="en-US" sz="1899" strike="noStrike" u="none">
                <a:solidFill>
                  <a:srgbClr val="D6B03D"/>
                </a:solidFill>
                <a:latin typeface="Glacial Indifference"/>
                <a:ea typeface="Glacial Indifference"/>
                <a:cs typeface="Glacial Indifference"/>
                <a:sym typeface="Glacial Indifference"/>
              </a:rPr>
              <a:t>ivi</a:t>
            </a:r>
            <a:r>
              <a:rPr lang="en-US" sz="1899" strike="noStrike" u="none">
                <a:solidFill>
                  <a:srgbClr val="D6B03D"/>
                </a:solidFill>
                <a:latin typeface="Glacial Indifference"/>
                <a:ea typeface="Glacial Indifference"/>
                <a:cs typeface="Glacial Indifference"/>
                <a:sym typeface="Glacial Indifference"/>
              </a:rPr>
              <a:t>du</a:t>
            </a:r>
            <a:r>
              <a:rPr lang="en-US" sz="1899" strike="noStrike" u="none">
                <a:solidFill>
                  <a:srgbClr val="D6B03D"/>
                </a:solidFill>
                <a:latin typeface="Glacial Indifference"/>
                <a:ea typeface="Glacial Indifference"/>
                <a:cs typeface="Glacial Indifference"/>
                <a:sym typeface="Glacial Indifference"/>
              </a:rPr>
              <a:t>als,</a:t>
            </a:r>
            <a:r>
              <a:rPr lang="en-US" sz="1899" strike="noStrike" u="none">
                <a:solidFill>
                  <a:srgbClr val="D6B03D"/>
                </a:solidFill>
                <a:latin typeface="Glacial Indifference"/>
                <a:ea typeface="Glacial Indifference"/>
                <a:cs typeface="Glacial Indifference"/>
                <a:sym typeface="Glacial Indifference"/>
              </a:rPr>
              <a:t> </a:t>
            </a:r>
            <a:r>
              <a:rPr lang="en-US" sz="1899" strike="noStrike" u="none">
                <a:solidFill>
                  <a:srgbClr val="D6B03D"/>
                </a:solidFill>
                <a:latin typeface="Glacial Indifference"/>
                <a:ea typeface="Glacial Indifference"/>
                <a:cs typeface="Glacial Indifference"/>
                <a:sym typeface="Glacial Indifference"/>
              </a:rPr>
              <a:t> U.S. </a:t>
            </a:r>
            <a:r>
              <a:rPr lang="en-US" sz="1899" strike="noStrike" u="none">
                <a:solidFill>
                  <a:srgbClr val="D6B03D"/>
                </a:solidFill>
                <a:latin typeface="Glacial Indifference"/>
                <a:ea typeface="Glacial Indifference"/>
                <a:cs typeface="Glacial Indifference"/>
                <a:sym typeface="Glacial Indifference"/>
              </a:rPr>
              <a:t>C</a:t>
            </a:r>
            <a:r>
              <a:rPr lang="en-US" sz="1899" strike="noStrike" u="none">
                <a:solidFill>
                  <a:srgbClr val="D6B03D"/>
                </a:solidFill>
                <a:latin typeface="Glacial Indifference"/>
                <a:ea typeface="Glacial Indifference"/>
                <a:cs typeface="Glacial Indifference"/>
                <a:sym typeface="Glacial Indifference"/>
              </a:rPr>
              <a:t>ode </a:t>
            </a:r>
            <a:r>
              <a:rPr lang="en-US" sz="1899" strike="noStrike" u="none">
                <a:solidFill>
                  <a:srgbClr val="D6B03D"/>
                </a:solidFill>
                <a:latin typeface="Glacial Indifference"/>
                <a:ea typeface="Glacial Indifference"/>
                <a:cs typeface="Glacial Indifference"/>
                <a:sym typeface="Glacial Indifference"/>
              </a:rPr>
              <a:t>5  § 552</a:t>
            </a:r>
            <a:r>
              <a:rPr lang="en-US" sz="1899" strike="noStrike" u="none">
                <a:solidFill>
                  <a:srgbClr val="D6B03D"/>
                </a:solidFill>
                <a:latin typeface="Glacial Indifference"/>
                <a:ea typeface="Glacial Indifference"/>
                <a:cs typeface="Glacial Indifference"/>
                <a:sym typeface="Glacial Indifference"/>
              </a:rPr>
              <a:t>a</a:t>
            </a:r>
            <a:r>
              <a:rPr lang="en-US" sz="1899" strike="noStrike" u="none">
                <a:solidFill>
                  <a:srgbClr val="D6B03D"/>
                </a:solidFill>
                <a:latin typeface="Glacial Indifference"/>
                <a:ea typeface="Glacial Indifference"/>
                <a:cs typeface="Glacial Indifference"/>
                <a:sym typeface="Glacial Indifference"/>
              </a:rPr>
              <a:t>  (2024) ,</a:t>
            </a:r>
            <a:r>
              <a:rPr lang="en-US" sz="1899" strike="noStrike" u="none">
                <a:solidFill>
                  <a:srgbClr val="D6B03D"/>
                </a:solidFill>
                <a:latin typeface="Glacial Indifference"/>
                <a:ea typeface="Glacial Indifference"/>
                <a:cs typeface="Glacial Indifference"/>
                <a:sym typeface="Glacial Indifference"/>
              </a:rPr>
              <a:t> </a:t>
            </a:r>
            <a:r>
              <a:rPr lang="en-US" sz="1899" strike="noStrike" u="none">
                <a:solidFill>
                  <a:srgbClr val="D6B03D"/>
                </a:solidFill>
                <a:latin typeface="Glacial Indifference"/>
                <a:ea typeface="Glacial Indifference"/>
                <a:cs typeface="Glacial Indifference"/>
                <a:sym typeface="Glacial Indifference"/>
              </a:rPr>
              <a:t>h</a:t>
            </a:r>
            <a:r>
              <a:rPr lang="en-US" sz="1899" strike="noStrike" u="none">
                <a:solidFill>
                  <a:srgbClr val="D6B03D"/>
                </a:solidFill>
                <a:latin typeface="Glacial Indifference"/>
                <a:ea typeface="Glacial Indifference"/>
                <a:cs typeface="Glacial Indifference"/>
                <a:sym typeface="Glacial Indifference"/>
              </a:rPr>
              <a:t>t</a:t>
            </a:r>
            <a:r>
              <a:rPr lang="en-US" sz="1899" strike="noStrike" u="none">
                <a:solidFill>
                  <a:srgbClr val="D6B03D"/>
                </a:solidFill>
                <a:latin typeface="Glacial Indifference"/>
                <a:ea typeface="Glacial Indifference"/>
                <a:cs typeface="Glacial Indifference"/>
                <a:sym typeface="Glacial Indifference"/>
              </a:rPr>
              <a:t>t</a:t>
            </a:r>
            <a:r>
              <a:rPr lang="en-US" sz="1899" strike="noStrike" u="none">
                <a:solidFill>
                  <a:srgbClr val="D6B03D"/>
                </a:solidFill>
                <a:latin typeface="Glacial Indifference"/>
                <a:ea typeface="Glacial Indifference"/>
                <a:cs typeface="Glacial Indifference"/>
                <a:sym typeface="Glacial Indifference"/>
              </a:rPr>
              <a:t>ps</a:t>
            </a:r>
            <a:r>
              <a:rPr lang="en-US" sz="1899" strike="noStrike" u="none">
                <a:solidFill>
                  <a:srgbClr val="D6B03D"/>
                </a:solidFill>
                <a:latin typeface="Glacial Indifference"/>
                <a:ea typeface="Glacial Indifference"/>
                <a:cs typeface="Glacial Indifference"/>
                <a:sym typeface="Glacial Indifference"/>
              </a:rPr>
              <a:t>://www.go</a:t>
            </a:r>
            <a:r>
              <a:rPr lang="en-US" sz="1899" strike="noStrike" u="none">
                <a:solidFill>
                  <a:srgbClr val="D6B03D"/>
                </a:solidFill>
                <a:latin typeface="Glacial Indifference"/>
                <a:ea typeface="Glacial Indifference"/>
                <a:cs typeface="Glacial Indifference"/>
                <a:sym typeface="Glacial Indifference"/>
              </a:rPr>
              <a:t>vin</a:t>
            </a:r>
            <a:r>
              <a:rPr lang="en-US" sz="1899" strike="noStrike" u="none">
                <a:solidFill>
                  <a:srgbClr val="D6B03D"/>
                </a:solidFill>
                <a:latin typeface="Glacial Indifference"/>
                <a:ea typeface="Glacial Indifference"/>
                <a:cs typeface="Glacial Indifference"/>
                <a:sym typeface="Glacial Indifference"/>
              </a:rPr>
              <a:t>fo</a:t>
            </a:r>
            <a:r>
              <a:rPr lang="en-US" sz="1899" strike="noStrike" u="none">
                <a:solidFill>
                  <a:srgbClr val="D6B03D"/>
                </a:solidFill>
                <a:latin typeface="Glacial Indifference"/>
                <a:ea typeface="Glacial Indifference"/>
                <a:cs typeface="Glacial Indifference"/>
                <a:sym typeface="Glacial Indifference"/>
              </a:rPr>
              <a:t>.</a:t>
            </a:r>
            <a:r>
              <a:rPr lang="en-US" sz="1899" strike="noStrike" u="none">
                <a:solidFill>
                  <a:srgbClr val="D6B03D"/>
                </a:solidFill>
                <a:latin typeface="Glacial Indifference"/>
                <a:ea typeface="Glacial Indifference"/>
                <a:cs typeface="Glacial Indifference"/>
                <a:sym typeface="Glacial Indifference"/>
              </a:rPr>
              <a:t>g</a:t>
            </a:r>
            <a:r>
              <a:rPr lang="en-US" sz="1899" strike="noStrike" u="none">
                <a:solidFill>
                  <a:srgbClr val="D6B03D"/>
                </a:solidFill>
                <a:latin typeface="Glacial Indifference"/>
                <a:ea typeface="Glacial Indifference"/>
                <a:cs typeface="Glacial Indifference"/>
                <a:sym typeface="Glacial Indifference"/>
              </a:rPr>
              <a:t>ov</a:t>
            </a:r>
            <a:r>
              <a:rPr lang="en-US" sz="1899" strike="noStrike" u="none">
                <a:solidFill>
                  <a:srgbClr val="D6B03D"/>
                </a:solidFill>
                <a:latin typeface="Glacial Indifference"/>
                <a:ea typeface="Glacial Indifference"/>
                <a:cs typeface="Glacial Indifference"/>
                <a:sym typeface="Glacial Indifference"/>
              </a:rPr>
              <a:t>/</a:t>
            </a:r>
            <a:r>
              <a:rPr lang="en-US" sz="1899" strike="noStrike" u="none">
                <a:solidFill>
                  <a:srgbClr val="D6B03D"/>
                </a:solidFill>
                <a:latin typeface="Glacial Indifference"/>
                <a:ea typeface="Glacial Indifference"/>
                <a:cs typeface="Glacial Indifference"/>
                <a:sym typeface="Glacial Indifference"/>
              </a:rPr>
              <a:t>ap</a:t>
            </a:r>
            <a:r>
              <a:rPr lang="en-US" sz="1899" strike="noStrike" u="none">
                <a:solidFill>
                  <a:srgbClr val="D6B03D"/>
                </a:solidFill>
                <a:latin typeface="Glacial Indifference"/>
                <a:ea typeface="Glacial Indifference"/>
                <a:cs typeface="Glacial Indifference"/>
                <a:sym typeface="Glacial Indifference"/>
              </a:rPr>
              <a:t>p/</a:t>
            </a:r>
            <a:r>
              <a:rPr lang="en-US" sz="1899" strike="noStrike" u="none">
                <a:solidFill>
                  <a:srgbClr val="D6B03D"/>
                </a:solidFill>
                <a:latin typeface="Glacial Indifference"/>
                <a:ea typeface="Glacial Indifference"/>
                <a:cs typeface="Glacial Indifference"/>
                <a:sym typeface="Glacial Indifference"/>
              </a:rPr>
              <a:t>detail</a:t>
            </a:r>
            <a:r>
              <a:rPr lang="en-US" sz="1899" strike="noStrike" u="none">
                <a:solidFill>
                  <a:srgbClr val="D6B03D"/>
                </a:solidFill>
                <a:latin typeface="Glacial Indifference"/>
                <a:ea typeface="Glacial Indifference"/>
                <a:cs typeface="Glacial Indifference"/>
                <a:sym typeface="Glacial Indifference"/>
              </a:rPr>
              <a:t>s/USCODE-2024-</a:t>
            </a:r>
            <a:r>
              <a:rPr lang="en-US" sz="1899" strike="noStrike" u="none">
                <a:solidFill>
                  <a:srgbClr val="D6B03D"/>
                </a:solidFill>
                <a:latin typeface="Glacial Indifference"/>
                <a:ea typeface="Glacial Indifference"/>
                <a:cs typeface="Glacial Indifference"/>
                <a:sym typeface="Glacial Indifference"/>
              </a:rPr>
              <a:t>title</a:t>
            </a:r>
            <a:r>
              <a:rPr lang="en-US" sz="1899" strike="noStrike" u="none">
                <a:solidFill>
                  <a:srgbClr val="D6B03D"/>
                </a:solidFill>
                <a:latin typeface="Glacial Indifference"/>
                <a:ea typeface="Glacial Indifference"/>
                <a:cs typeface="Glacial Indifference"/>
                <a:sym typeface="Glacial Indifference"/>
              </a:rPr>
              <a:t>5/USCODE-2024-</a:t>
            </a:r>
            <a:r>
              <a:rPr lang="en-US" sz="1899" strike="noStrike" u="none">
                <a:solidFill>
                  <a:srgbClr val="D6B03D"/>
                </a:solidFill>
                <a:latin typeface="Glacial Indifference"/>
                <a:ea typeface="Glacial Indifference"/>
                <a:cs typeface="Glacial Indifference"/>
                <a:sym typeface="Glacial Indifference"/>
              </a:rPr>
              <a:t>ti</a:t>
            </a:r>
            <a:r>
              <a:rPr lang="en-US" sz="1899" strike="noStrike" u="none">
                <a:solidFill>
                  <a:srgbClr val="D6B03D"/>
                </a:solidFill>
                <a:latin typeface="Glacial Indifference"/>
                <a:ea typeface="Glacial Indifference"/>
                <a:cs typeface="Glacial Indifference"/>
                <a:sym typeface="Glacial Indifference"/>
              </a:rPr>
              <a:t>t</a:t>
            </a:r>
            <a:r>
              <a:rPr lang="en-US" sz="1899" strike="noStrike" u="none">
                <a:solidFill>
                  <a:srgbClr val="D6B03D"/>
                </a:solidFill>
                <a:latin typeface="Glacial Indifference"/>
                <a:ea typeface="Glacial Indifference"/>
                <a:cs typeface="Glacial Indifference"/>
                <a:sym typeface="Glacial Indifference"/>
              </a:rPr>
              <a:t>l</a:t>
            </a:r>
            <a:r>
              <a:rPr lang="en-US" sz="1899" strike="noStrike" u="none">
                <a:solidFill>
                  <a:srgbClr val="D6B03D"/>
                </a:solidFill>
                <a:latin typeface="Glacial Indifference"/>
                <a:ea typeface="Glacial Indifference"/>
                <a:cs typeface="Glacial Indifference"/>
                <a:sym typeface="Glacial Indifference"/>
              </a:rPr>
              <a:t>e5-</a:t>
            </a:r>
            <a:r>
              <a:rPr lang="en-US" sz="1899" strike="noStrike" u="none">
                <a:solidFill>
                  <a:srgbClr val="D6B03D"/>
                </a:solidFill>
                <a:latin typeface="Glacial Indifference"/>
                <a:ea typeface="Glacial Indifference"/>
                <a:cs typeface="Glacial Indifference"/>
                <a:sym typeface="Glacial Indifference"/>
              </a:rPr>
              <a:t>pa</a:t>
            </a:r>
            <a:r>
              <a:rPr lang="en-US" sz="1899" strike="noStrike" u="none">
                <a:solidFill>
                  <a:srgbClr val="D6B03D"/>
                </a:solidFill>
                <a:latin typeface="Glacial Indifference"/>
                <a:ea typeface="Glacial Indifference"/>
                <a:cs typeface="Glacial Indifference"/>
                <a:sym typeface="Glacial Indifference"/>
              </a:rPr>
              <a:t>r</a:t>
            </a:r>
            <a:r>
              <a:rPr lang="en-US" sz="1899" strike="noStrike" u="none">
                <a:solidFill>
                  <a:srgbClr val="D6B03D"/>
                </a:solidFill>
                <a:latin typeface="Glacial Indifference"/>
                <a:ea typeface="Glacial Indifference"/>
                <a:cs typeface="Glacial Indifference"/>
                <a:sym typeface="Glacial Indifference"/>
              </a:rPr>
              <a:t>t</a:t>
            </a:r>
            <a:r>
              <a:rPr lang="en-US" sz="1899" strike="noStrike" u="none">
                <a:solidFill>
                  <a:srgbClr val="D6B03D"/>
                </a:solidFill>
                <a:latin typeface="Glacial Indifference"/>
                <a:ea typeface="Glacial Indifference"/>
                <a:cs typeface="Glacial Indifference"/>
                <a:sym typeface="Glacial Indifference"/>
              </a:rPr>
              <a:t>I-</a:t>
            </a:r>
            <a:r>
              <a:rPr lang="en-US" sz="1899" strike="noStrike" u="none">
                <a:solidFill>
                  <a:srgbClr val="D6B03D"/>
                </a:solidFill>
                <a:latin typeface="Glacial Indifference"/>
                <a:ea typeface="Glacial Indifference"/>
                <a:cs typeface="Glacial Indifference"/>
                <a:sym typeface="Glacial Indifference"/>
              </a:rPr>
              <a:t>c</a:t>
            </a:r>
            <a:r>
              <a:rPr lang="en-US" sz="1899" strike="noStrike" u="none">
                <a:solidFill>
                  <a:srgbClr val="D6B03D"/>
                </a:solidFill>
                <a:latin typeface="Glacial Indifference"/>
                <a:ea typeface="Glacial Indifference"/>
                <a:cs typeface="Glacial Indifference"/>
                <a:sym typeface="Glacial Indifference"/>
              </a:rPr>
              <a:t>h</a:t>
            </a:r>
            <a:r>
              <a:rPr lang="en-US" sz="1899" strike="noStrike" u="none">
                <a:solidFill>
                  <a:srgbClr val="D6B03D"/>
                </a:solidFill>
                <a:latin typeface="Glacial Indifference"/>
                <a:ea typeface="Glacial Indifference"/>
                <a:cs typeface="Glacial Indifference"/>
                <a:sym typeface="Glacial Indifference"/>
              </a:rPr>
              <a:t>ap</a:t>
            </a:r>
            <a:r>
              <a:rPr lang="en-US" sz="1899" strike="noStrike" u="none">
                <a:solidFill>
                  <a:srgbClr val="D6B03D"/>
                </a:solidFill>
                <a:latin typeface="Glacial Indifference"/>
                <a:ea typeface="Glacial Indifference"/>
                <a:cs typeface="Glacial Indifference"/>
                <a:sym typeface="Glacial Indifference"/>
              </a:rPr>
              <a:t>5-</a:t>
            </a:r>
            <a:r>
              <a:rPr lang="en-US" sz="1899" strike="noStrike" u="none">
                <a:solidFill>
                  <a:srgbClr val="D6B03D"/>
                </a:solidFill>
                <a:latin typeface="Glacial Indifference"/>
                <a:ea typeface="Glacial Indifference"/>
                <a:cs typeface="Glacial Indifference"/>
                <a:sym typeface="Glacial Indifference"/>
              </a:rPr>
              <a:t>su</a:t>
            </a:r>
            <a:r>
              <a:rPr lang="en-US" sz="1899" strike="noStrike" u="none">
                <a:solidFill>
                  <a:srgbClr val="D6B03D"/>
                </a:solidFill>
                <a:latin typeface="Glacial Indifference"/>
                <a:ea typeface="Glacial Indifference"/>
                <a:cs typeface="Glacial Indifference"/>
                <a:sym typeface="Glacial Indifference"/>
              </a:rPr>
              <a:t>b</a:t>
            </a:r>
            <a:r>
              <a:rPr lang="en-US" sz="1899" strike="noStrike" u="none">
                <a:solidFill>
                  <a:srgbClr val="D6B03D"/>
                </a:solidFill>
                <a:latin typeface="Glacial Indifference"/>
                <a:ea typeface="Glacial Indifference"/>
                <a:cs typeface="Glacial Indifference"/>
                <a:sym typeface="Glacial Indifference"/>
              </a:rPr>
              <a:t>c</a:t>
            </a:r>
            <a:r>
              <a:rPr lang="en-US" sz="1899" strike="noStrike" u="none">
                <a:solidFill>
                  <a:srgbClr val="D6B03D"/>
                </a:solidFill>
                <a:latin typeface="Glacial Indifference"/>
                <a:ea typeface="Glacial Indifference"/>
                <a:cs typeface="Glacial Indifference"/>
                <a:sym typeface="Glacial Indifference"/>
              </a:rPr>
              <a:t>hapII-</a:t>
            </a:r>
            <a:r>
              <a:rPr lang="en-US" sz="1899" strike="noStrike" u="none">
                <a:solidFill>
                  <a:srgbClr val="D6B03D"/>
                </a:solidFill>
                <a:latin typeface="Glacial Indifference"/>
                <a:ea typeface="Glacial Indifference"/>
                <a:cs typeface="Glacial Indifference"/>
                <a:sym typeface="Glacial Indifference"/>
              </a:rPr>
              <a:t>sec</a:t>
            </a:r>
            <a:r>
              <a:rPr lang="en-US" sz="1899" strike="noStrike" u="none">
                <a:solidFill>
                  <a:srgbClr val="D6B03D"/>
                </a:solidFill>
                <a:latin typeface="Glacial Indifference"/>
                <a:ea typeface="Glacial Indifference"/>
                <a:cs typeface="Glacial Indifference"/>
                <a:sym typeface="Glacial Indifference"/>
              </a:rPr>
              <a:t>552</a:t>
            </a:r>
            <a:r>
              <a:rPr lang="en-US" sz="1899" strike="noStrike" u="none">
                <a:solidFill>
                  <a:srgbClr val="D6B03D"/>
                </a:solidFill>
                <a:latin typeface="Glacial Indifference"/>
                <a:ea typeface="Glacial Indifference"/>
                <a:cs typeface="Glacial Indifference"/>
                <a:sym typeface="Glacial Indifference"/>
              </a:rPr>
              <a:t>a.</a:t>
            </a:r>
          </a:p>
          <a:p>
            <a:pPr algn="l" marL="410208" indent="-205104" lvl="1">
              <a:lnSpc>
                <a:spcPts val="2659"/>
              </a:lnSpc>
              <a:buFont typeface="Arial"/>
              <a:buChar char="•"/>
            </a:pPr>
            <a:r>
              <a:rPr lang="en-US" sz="1899" spc="-47" strike="noStrike" u="none">
                <a:solidFill>
                  <a:srgbClr val="D6B03D"/>
                </a:solidFill>
                <a:latin typeface="Glacial Indifference"/>
                <a:ea typeface="Glacial Indifference"/>
                <a:cs typeface="Glacial Indifference"/>
                <a:sym typeface="Glacial Indifference"/>
              </a:rPr>
              <a:t>Recording Law Editorial Team, US State Privacy Laws Comparison Chart (2026), Recording Law (March 28, 2026), https://www.recordinglaw.com/us-laws/data-privacy-laws/us-state-privacy-laws-comparison/. </a:t>
            </a:r>
          </a:p>
          <a:p>
            <a:pPr algn="l" marL="410208" indent="-205104" lvl="1">
              <a:lnSpc>
                <a:spcPts val="2659"/>
              </a:lnSpc>
              <a:buFont typeface="Arial"/>
              <a:buChar char="•"/>
            </a:pPr>
            <a:r>
              <a:rPr lang="en-US" sz="1899" strike="noStrike" u="none">
                <a:solidFill>
                  <a:srgbClr val="D6B03D"/>
                </a:solidFill>
                <a:latin typeface="Glacial Indifference"/>
                <a:ea typeface="Glacial Indifference"/>
                <a:cs typeface="Glacial Indifference"/>
                <a:sym typeface="Glacial Indifference"/>
              </a:rPr>
              <a:t>Electronic Privacy Information Center, U.S. State Privacy Laws, https://epic.org/issues/privacy-laws/state-laws/.</a:t>
            </a:r>
          </a:p>
          <a:p>
            <a:pPr algn="l" marL="410208" indent="-205104" lvl="1">
              <a:lnSpc>
                <a:spcPts val="2659"/>
              </a:lnSpc>
              <a:buFont typeface="Arial"/>
              <a:buChar char="•"/>
            </a:pPr>
            <a:r>
              <a:rPr lang="en-US" sz="1899" spc="-47" strike="noStrike" u="none">
                <a:solidFill>
                  <a:srgbClr val="D6B03D"/>
                </a:solidFill>
                <a:latin typeface="Glacial Indifference"/>
                <a:ea typeface="Glacial Indifference"/>
                <a:cs typeface="Glacial Indifference"/>
                <a:sym typeface="Glacial Indifference"/>
              </a:rPr>
              <a:t>Recording Law, Data Privacy Laws by State: A Complete US Guide, https://www.recordinglaw.com/us-laws/data-privacy-laws/.</a:t>
            </a:r>
          </a:p>
          <a:p>
            <a:pPr algn="l" marL="410208" indent="-205104" lvl="1">
              <a:lnSpc>
                <a:spcPts val="2659"/>
              </a:lnSpc>
              <a:buFont typeface="Arial"/>
              <a:buChar char="•"/>
            </a:pPr>
            <a:r>
              <a:rPr lang="en-US" sz="1899" spc="-47" strike="noStrike" u="none">
                <a:solidFill>
                  <a:srgbClr val="D6B03D"/>
                </a:solidFill>
                <a:latin typeface="Glacial Indifference"/>
                <a:ea typeface="Glacial Indifference"/>
                <a:cs typeface="Glacial Indifference"/>
                <a:sym typeface="Glacial Indifference"/>
              </a:rPr>
              <a:t>Electronic Privacy Information Center, (Maryland) Curbing Harmful AI Technology Act: S.B. 827 (March 2026), https://epic.org/documents/maryland-curbing-harmful-ai-technology-act-s-b-827/.</a:t>
            </a:r>
          </a:p>
          <a:p>
            <a:pPr algn="l" marL="410208" indent="-205104" lvl="1">
              <a:lnSpc>
                <a:spcPts val="2659"/>
              </a:lnSpc>
              <a:buFont typeface="Arial"/>
              <a:buChar char="•"/>
            </a:pPr>
            <a:r>
              <a:rPr lang="en-US" sz="1899" spc="-47" strike="noStrike" u="none">
                <a:solidFill>
                  <a:srgbClr val="D6B03D"/>
                </a:solidFill>
                <a:latin typeface="Glacial Indifference"/>
                <a:ea typeface="Glacial Indifference"/>
                <a:cs typeface="Glacial Indifference"/>
                <a:sym typeface="Glacial Indifference"/>
              </a:rPr>
              <a:t>Electronic Privacy Information Center, (South Carolina) S. 896 and S. 1037: Chatbot Regulations (April 2026), https://epic.org/documents/south-carolina-s-896-and-s-1037-chatbot-regulations/.</a:t>
            </a:r>
          </a:p>
          <a:p>
            <a:pPr algn="l" marL="410208" indent="-205104" lvl="1">
              <a:lnSpc>
                <a:spcPts val="2659"/>
              </a:lnSpc>
              <a:buFont typeface="Arial"/>
              <a:buChar char="•"/>
            </a:pPr>
            <a:r>
              <a:rPr lang="en-US" sz="1899" spc="-47" strike="noStrike" u="none">
                <a:solidFill>
                  <a:srgbClr val="D6B03D"/>
                </a:solidFill>
                <a:latin typeface="Glacial Indifference"/>
                <a:ea typeface="Glacial Indifference"/>
                <a:cs typeface="Glacial Indifference"/>
                <a:sym typeface="Glacial Indifference"/>
              </a:rPr>
              <a:t>Electronic Privacy Information Center, New Jersey Bans the Sale of Sensitive Data, Creates Data Broker Registry (July 2, 2026), https://epic.org/new-jersey-bans-the-sale-of-sensitive-data-creates-data-broker-registry/.</a:t>
            </a:r>
          </a:p>
          <a:p>
            <a:pPr algn="l" marL="410208" indent="-205104" lvl="1">
              <a:lnSpc>
                <a:spcPts val="2659"/>
              </a:lnSpc>
              <a:buFont typeface="Arial"/>
              <a:buChar char="•"/>
            </a:pPr>
            <a:r>
              <a:rPr lang="en-US" sz="1899" spc="-47" strike="noStrike" u="none">
                <a:solidFill>
                  <a:srgbClr val="D6B03D"/>
                </a:solidFill>
                <a:latin typeface="Glacial Indifference"/>
                <a:ea typeface="Glacial Indifference"/>
                <a:cs typeface="Glacial Indifference"/>
                <a:sym typeface="Glacial Indifference"/>
              </a:rPr>
              <a:t>State of Rhode Island General Assembly, Legislation enacted to provide safety guidelines for AI chatbots and AI use in mental healthcare (6/23/2026), https://www.rilegislature.gov/pressrelease/_layouts/RIL.PressRelease.ListStructure/Forms/DisplayForm.aspx?List=c8baae31%2D3c10%2D431c%2D8dcd%2D9dbbe21ce3e9&amp;ID=376765&amp;Web=2bab1515%2D0dcc%2D4176%2Da2f8%2D8d4beebdf488.</a:t>
            </a:r>
          </a:p>
          <a:p>
            <a:pPr algn="l" marL="410208" indent="-205104" lvl="1">
              <a:lnSpc>
                <a:spcPts val="2659"/>
              </a:lnSpc>
              <a:buFont typeface="Arial"/>
              <a:buChar char="•"/>
            </a:pPr>
            <a:r>
              <a:rPr lang="en-US" sz="1899" spc="-47" strike="noStrike" u="none">
                <a:solidFill>
                  <a:srgbClr val="D6B03D"/>
                </a:solidFill>
                <a:latin typeface="Glacial Indifference"/>
                <a:ea typeface="Glacial Indifference"/>
                <a:cs typeface="Glacial Indifference"/>
                <a:sym typeface="Glacial Indifference"/>
              </a:rPr>
              <a:t>The 194</a:t>
            </a:r>
            <a:r>
              <a:rPr lang="en-US" sz="1899" spc="-47" strike="noStrike" u="none">
                <a:solidFill>
                  <a:srgbClr val="D6B03D"/>
                </a:solidFill>
                <a:latin typeface="Glacial Indifference"/>
                <a:ea typeface="Glacial Indifference"/>
                <a:cs typeface="Glacial Indifference"/>
                <a:sym typeface="Glacial Indifference"/>
              </a:rPr>
              <a:t>th</a:t>
            </a:r>
            <a:r>
              <a:rPr lang="en-US" sz="1899" spc="-47" strike="noStrike" u="none">
                <a:solidFill>
                  <a:srgbClr val="D6B03D"/>
                </a:solidFill>
                <a:latin typeface="Glacial Indifference"/>
                <a:ea typeface="Glacial Indifference"/>
                <a:cs typeface="Glacial Indifference"/>
                <a:sym typeface="Glacial Indifference"/>
              </a:rPr>
              <a:t> General Court of the Commonwealth of Massachusetts, House Passes Landmark Data Privacy Legislation with Strong Consumer Protections (June 4,2026), https://malegislature.gov/PressRoom/Detail?pressReleaseId=1396.</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TextBox 2" id="2"/>
          <p:cNvSpPr txBox="true"/>
          <p:nvPr/>
        </p:nvSpPr>
        <p:spPr>
          <a:xfrm rot="0">
            <a:off x="5788991" y="4553315"/>
            <a:ext cx="7465743" cy="1151795"/>
          </a:xfrm>
          <a:prstGeom prst="rect">
            <a:avLst/>
          </a:prstGeom>
        </p:spPr>
        <p:txBody>
          <a:bodyPr anchor="t" rtlCol="false" tIns="0" lIns="0" bIns="0" rIns="0">
            <a:spAutoFit/>
          </a:bodyPr>
          <a:lstStyle/>
          <a:p>
            <a:pPr algn="ctr" marL="0" indent="0" lvl="1">
              <a:lnSpc>
                <a:spcPts val="8319"/>
              </a:lnSpc>
              <a:spcBef>
                <a:spcPct val="0"/>
              </a:spcBef>
            </a:pPr>
            <a:r>
              <a:rPr lang="en-US" sz="7428" spc="37">
                <a:solidFill>
                  <a:srgbClr val="D6B03D"/>
                </a:solidFill>
                <a:latin typeface="Maharlika"/>
                <a:ea typeface="Maharlika"/>
                <a:cs typeface="Maharlika"/>
                <a:sym typeface="Maharlika"/>
              </a:rPr>
              <a:t>Thank You</a:t>
            </a:r>
          </a:p>
        </p:txBody>
      </p:sp>
      <p:sp>
        <p:nvSpPr>
          <p:cNvPr name="Freeform 3" id="3"/>
          <p:cNvSpPr/>
          <p:nvPr/>
        </p:nvSpPr>
        <p:spPr>
          <a:xfrm flipH="false" flipV="false" rot="0">
            <a:off x="8766138" y="3327766"/>
            <a:ext cx="755725" cy="755725"/>
          </a:xfrm>
          <a:custGeom>
            <a:avLst/>
            <a:gdLst/>
            <a:ahLst/>
            <a:cxnLst/>
            <a:rect r="r" b="b" t="t" l="l"/>
            <a:pathLst>
              <a:path h="755725" w="755725">
                <a:moveTo>
                  <a:pt x="0" y="0"/>
                </a:moveTo>
                <a:lnTo>
                  <a:pt x="755724" y="0"/>
                </a:lnTo>
                <a:lnTo>
                  <a:pt x="755724" y="755724"/>
                </a:lnTo>
                <a:lnTo>
                  <a:pt x="0" y="7557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DAHSNehsouI</dc:identifier>
  <dcterms:modified xsi:type="dcterms:W3CDTF">2011-08-01T06:04:30Z</dcterms:modified>
  <cp:revision>1</cp:revision>
  <dc:title>DPC Final Presentation</dc:title>
</cp:coreProperties>
</file>