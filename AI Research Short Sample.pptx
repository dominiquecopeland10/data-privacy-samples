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62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0" dt="2026-09-06T21:54:43.635"/>
    <p1510:client id="{7C049599-7749-BE56-6E97-67767C687A39}" v="1868" dt="2026-09-06T21:40:12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/>
            <a:ahLst/>
            <a:cxnLst/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344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0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FigureOut">
              <a:rPr lang="en-US" dirty="0"/>
              <a:t>9/6/2026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69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53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141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/>
            <a:ahLst/>
            <a:cxnLst/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03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/>
            <a:ahLst/>
            <a:cxnLst/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4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20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69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5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360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7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5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407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677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875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/>
            <a:ahLst/>
            <a:cxnLst/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15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endParaRPr/>
          </a:p>
        </p:txBody>
      </p:sp>
    </p:spTree>
    <p:extLst>
      <p:ext uri="{BB962C8B-B14F-4D97-AF65-F5344CB8AC3E}">
        <p14:creationId xmlns:p14="http://schemas.microsoft.com/office/powerpoint/2010/main" val="4103154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71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/>
            <a:ahLst/>
            <a:cxnLst/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4704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/>
            <a:ahLst/>
            <a:cxnLst/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03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888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29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7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10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85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82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1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6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1315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Shaping the future of ai regulations in the united states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6235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By: Dominique Copeland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8656-644C-F2C0-A059-F49FA7C2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General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891BD-114E-017E-CE8E-10E3D829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715B5-41A3-AA8E-CED7-CA0D4A706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Char char="•"/>
            </a:pPr>
            <a:r>
              <a:rPr lang="en-US" dirty="0"/>
              <a:t>AI Harms: threat to liberty, threat to educational access, discrimination, disruption to business operations, security breaches, reputational damage, system disruptions, and environmental issues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Trustworthy AI should be:</a:t>
            </a:r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valid and reliable</a:t>
            </a:r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safe</a:t>
            </a:r>
            <a:endParaRPr lang="en-US" dirty="0"/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secure and resilient</a:t>
            </a:r>
            <a:endParaRPr lang="en-US" dirty="0"/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accountable and transparent</a:t>
            </a:r>
            <a:endParaRPr lang="en-US" dirty="0"/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explainable and interpretable</a:t>
            </a:r>
            <a:endParaRPr lang="en-US" dirty="0"/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privacy-enhanced</a:t>
            </a:r>
            <a:endParaRPr lang="en-US" dirty="0"/>
          </a:p>
          <a:p>
            <a:pPr marL="788670" lvl="1" indent="-285750">
              <a:buFont typeface="Courier New"/>
              <a:buChar char="o"/>
            </a:pPr>
            <a:r>
              <a:rPr lang="en-US" i="0" dirty="0"/>
              <a:t>fair with harmful bias managed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Privacy enhancements include data minimizing methods such as de-identification and aggregation</a:t>
            </a:r>
          </a:p>
          <a:p>
            <a:pPr marL="285750" indent="-285750">
              <a:buChar char="•"/>
            </a:pPr>
            <a:r>
              <a:rPr lang="en-US" dirty="0"/>
              <a:t>NIST should: 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/>
              <a:t>enhance processes for governing, mapping, measuring, and managing AI risk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/>
              <a:t>document outcomes</a:t>
            </a:r>
            <a:endParaRPr lang="en-US" dirty="0"/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/>
              <a:t>improve awareness of the relationships and tradeoffs among trustworthiness, social factors, technical choices, and AI risks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/>
              <a:t>create policies, processes, practices, and procedures for improving organizational accountability efforts related to AI system risks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1DD5F-1664-886B-86A1-84F11E1C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232C-5FDB-463D-8CA8-47469F470F4E}" type="datetime1"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D831A-8D1C-4DEF-B82A-E3F453E7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66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CDA9-87AE-8A15-20AD-56CBE04F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NIST INITIATIVES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4B323-90C8-03BF-F815-275096AE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6BE6E-1D36-102C-6A1B-84A45B10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Creating uniform key terms and concept descriptions </a:t>
            </a:r>
          </a:p>
          <a:p>
            <a:pPr marL="285750" indent="-285750">
              <a:buChar char="•"/>
            </a:pPr>
            <a:r>
              <a:rPr lang="en-US" dirty="0"/>
              <a:t>Improving cross-section cooperation</a:t>
            </a:r>
          </a:p>
          <a:p>
            <a:pPr marL="285750" indent="-285750">
              <a:buChar char="•"/>
            </a:pPr>
            <a:r>
              <a:rPr lang="en-US" dirty="0"/>
              <a:t>Requiring attributes including deterministic behavior and fail-safe operation</a:t>
            </a:r>
          </a:p>
          <a:p>
            <a:pPr marL="285750" indent="-285750">
              <a:buChar char="•"/>
            </a:pPr>
            <a:r>
              <a:rPr lang="en-US" dirty="0"/>
              <a:t>Highlighting practical, actionable, and measurable steps that any stakeholder could undertake</a:t>
            </a:r>
          </a:p>
          <a:p>
            <a:pPr marL="285750" indent="-285750">
              <a:buChar char="•"/>
            </a:pPr>
            <a:endParaRPr lang="en-US" dirty="0"/>
          </a:p>
          <a:p>
            <a:pPr marL="285750" indent="-285750"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9385-074F-0C12-A8FF-263DF95D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177D-2AA9-4C1D-A9EC-AEE4AC1B8F5C}" type="datetime1"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79AD-EB6B-D657-0946-06F96EC8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46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3BB5-02F0-DF3C-B467-2AA30452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 AI Act General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F20C8-92AF-2034-BF5B-B653BEFF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FF809-51BB-BE4C-7592-1C8739037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Char char="•"/>
            </a:pPr>
            <a:r>
              <a:rPr lang="en-US" dirty="0"/>
              <a:t>Seeks to balance the increase of AI use with protecting fundamental rights</a:t>
            </a:r>
          </a:p>
          <a:p>
            <a:pPr marL="285750" indent="-285750">
              <a:buChar char="•"/>
            </a:pPr>
            <a:r>
              <a:rPr lang="en-US" dirty="0"/>
              <a:t>Prohibits AI systems from overwhelming a person's consciousness or purposefully manipulating them in a way that materially distorts their behavior or impairs informed decision making causing harm</a:t>
            </a:r>
          </a:p>
          <a:p>
            <a:pPr marL="285750" indent="-285750">
              <a:buChar char="•"/>
            </a:pPr>
            <a:r>
              <a:rPr lang="en-US" dirty="0"/>
              <a:t>Prohibits AI systems from 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making risk assessments of people in order to assess or predict the risk of them committing a criminal offense when based solely on the profiling or the assessment of their personality traits and characteristics</a:t>
            </a:r>
          </a:p>
          <a:p>
            <a:pPr marL="285750" indent="-285750"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Requiring risk management processes for high-risk AI systems throughout the entire lifecycle that: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>
                <a:solidFill>
                  <a:srgbClr val="000000"/>
                </a:solidFill>
                <a:ea typeface="+mn-lt"/>
                <a:cs typeface="+mn-lt"/>
              </a:rPr>
              <a:t>Identify and analyze known or reasonably foreseeable risks to fundamental rights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>
                <a:solidFill>
                  <a:srgbClr val="000000"/>
                </a:solidFill>
                <a:ea typeface="+mn-lt"/>
                <a:cs typeface="+mn-lt"/>
              </a:rPr>
              <a:t>Estimate and evaluate emerging risks when the system is used in accordance with its intended purpose or under reasonably foreseeable misuse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>
                <a:solidFill>
                  <a:srgbClr val="000000"/>
                </a:solidFill>
                <a:ea typeface="+mn-lt"/>
                <a:cs typeface="+mn-lt"/>
              </a:rPr>
              <a:t>Establish post-market monitoring systems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>
                <a:solidFill>
                  <a:srgbClr val="000000"/>
                </a:solidFill>
                <a:ea typeface="+mn-lt"/>
                <a:cs typeface="+mn-lt"/>
              </a:rPr>
              <a:t>Evaluate other potential risks based on the analysis of data gathered from the post-market monitoring systems</a:t>
            </a:r>
          </a:p>
          <a:p>
            <a:pPr marL="788670" lvl="1">
              <a:buFont typeface="Courier New" panose="020B0604020202020204" pitchFamily="34" charset="0"/>
              <a:buChar char="o"/>
            </a:pPr>
            <a:r>
              <a:rPr lang="en-US" i="0" dirty="0">
                <a:solidFill>
                  <a:srgbClr val="000000"/>
                </a:solidFill>
                <a:ea typeface="+mn-lt"/>
                <a:cs typeface="+mn-lt"/>
              </a:rPr>
              <a:t>Implement measures to carry out the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Requiring conformity assessments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Requiring automatic recording in some instances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Recommending human oversight to minimize violations of fundamental rights</a:t>
            </a:r>
            <a:endParaRPr lang="en-US" i="0" dirty="0">
              <a:solidFill>
                <a:srgbClr val="000000"/>
              </a:solidFill>
              <a:ea typeface="+mn-lt"/>
              <a:cs typeface="+mn-lt"/>
            </a:endParaRPr>
          </a:p>
          <a:p>
            <a:pPr marL="788670" lvl="1">
              <a:buFont typeface="Courier New" panose="020B0604020202020204" pitchFamily="34" charset="0"/>
              <a:buChar char="o"/>
            </a:pPr>
            <a:endParaRPr lang="en-US" i="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7535C-EBC0-8E8A-5C74-352DAD1A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E854-E3FD-40A6-94A9-338699265ACD}" type="datetime1"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64A1-3BAE-070B-C20F-E578F40C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1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75E4-CAFA-E722-A4F2-52E75744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implement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3966E-C5B7-5244-E095-4219FF85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32625-DD31-12D9-D751-54E42AB0A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Establishing a federal right of privacy</a:t>
            </a:r>
          </a:p>
          <a:p>
            <a:pPr marL="285750" indent="-285750">
              <a:buChar char="•"/>
            </a:pPr>
            <a:r>
              <a:rPr lang="en-US" dirty="0"/>
              <a:t>Establishing a statute that imposes criminal and civil liability</a:t>
            </a:r>
          </a:p>
          <a:p>
            <a:pPr marL="285750" indent="-285750">
              <a:buChar char="•"/>
            </a:pPr>
            <a:r>
              <a:rPr lang="en-US" dirty="0"/>
              <a:t>Implementing a classification system for risks </a:t>
            </a:r>
          </a:p>
          <a:p>
            <a:pPr marL="285750" indent="-285750">
              <a:buChar char="•"/>
            </a:pPr>
            <a:r>
              <a:rPr lang="en-US" dirty="0"/>
              <a:t>Requiring record-keeping</a:t>
            </a:r>
          </a:p>
          <a:p>
            <a:pPr marL="285750" indent="-285750">
              <a:buChar char="•"/>
            </a:pPr>
            <a:r>
              <a:rPr lang="en-US" dirty="0"/>
              <a:t>Requiring conformity assessments</a:t>
            </a:r>
          </a:p>
          <a:p>
            <a:pPr marL="285750" indent="-285750">
              <a:buChar char="•"/>
            </a:pPr>
            <a:r>
              <a:rPr lang="en-US" dirty="0"/>
              <a:t>Requiring human oversight </a:t>
            </a:r>
          </a:p>
          <a:p>
            <a:pPr marL="285750" indent="-285750">
              <a:buChar char="•"/>
            </a:pPr>
            <a:r>
              <a:rPr lang="en-US" dirty="0"/>
              <a:t>Prohibiting sole use of AI for automated decision-making</a:t>
            </a:r>
          </a:p>
          <a:p>
            <a:pPr marL="285750" indent="-285750">
              <a:buChar char="•"/>
            </a:pPr>
            <a:endParaRPr lang="en-US" dirty="0"/>
          </a:p>
          <a:p>
            <a:pPr marL="285750" indent="-285750"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D89FB-EAD8-DA2C-DCD5-4E875712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7BA-41BC-48A1-BADE-424B977F8521}" type="datetime1">
              <a:t>9/6/2026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5321D-E197-E29F-D62E-6DCBD6C4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74837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 panose="02020502050305020303"/>
        <a:ea typeface=""/>
        <a:cs typeface=""/>
      </a:minorFont>
    </a:fontScheme>
    <a:fmtScheme name="Archway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15BC1FC9-F32C-4048-9052-439CED41F932}" vid="{4FF12325-B8E7-401C-AF33-78C72DDA2C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Archway</vt:lpstr>
      <vt:lpstr>Shaping the future of ai regulations in the united states</vt:lpstr>
      <vt:lpstr>NIST General</vt:lpstr>
      <vt:lpstr>Upcoming NIST INITIATIVES</vt:lpstr>
      <vt:lpstr>EU AI Act General</vt:lpstr>
      <vt:lpstr>Things to implement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393</cp:revision>
  <dcterms:created xsi:type="dcterms:W3CDTF">2026-09-06T17:23:41Z</dcterms:created>
  <dcterms:modified xsi:type="dcterms:W3CDTF">2026-09-06T21:54:45Z</dcterms:modified>
</cp:coreProperties>
</file>